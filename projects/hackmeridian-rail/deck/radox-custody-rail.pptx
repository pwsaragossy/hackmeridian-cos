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61" r:id="rId23"/>
    <p:sldId id="262" r:id="rId24"/>
    <p:sldId id="263" r:id="rId25"/>
    <p:sldId id="264" r:id="rId26"/>
    <p:sldId id="265" r:id="rId27"/>
    <p:sldId id="266" r:id="rId28"/>
    <p:sldId id="267" r:id="rId29"/>
    <p:sldId id="268" r:id="rId30"/>
    <p:sldId id="269" r:id="rId31"/>
    <p:sldId id="270" r:id="rId32"/>
  </p:sldIdLst>
  <p:sldSz cy="10287000" cx="18288000"/>
  <p:notesSz cx="6858000" cy="9144000"/>
  <p:embeddedFontLst>
    <p:embeddedFont>
      <p:font typeface="Instrument Sans"/>
      <p:regular r:id="rId11"/>
      <p:bold r:id="rId12"/>
      <p:italic r:id="rId13"/>
      <p:boldItalic r:id="rId14"/>
    </p:embeddedFont>
    <p:embeddedFont>
      <p:font typeface="Inter Tight"/>
      <p:regular r:id="rId15"/>
      <p:bold r:id="rId16"/>
      <p:italic r:id="rId17"/>
      <p:boldItalic r:id="rId18"/>
    </p:embeddedFont>
    <p:embeddedFont>
      <p:font typeface="JetBrains Mon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11" Type="http://schemas.openxmlformats.org/officeDocument/2006/relationships/font" Target="fonts/InstrumentSans-regular.fntdata"/><Relationship Id="rId12" Type="http://schemas.openxmlformats.org/officeDocument/2006/relationships/font" Target="fonts/InstrumentSans-bold.fntdata"/><Relationship Id="rId13" Type="http://schemas.openxmlformats.org/officeDocument/2006/relationships/font" Target="fonts/InstrumentSans-italic.fntdata"/><Relationship Id="rId14" Type="http://schemas.openxmlformats.org/officeDocument/2006/relationships/font" Target="fonts/InstrumentSans-boldItalic.fntdata"/><Relationship Id="rId15" Type="http://schemas.openxmlformats.org/officeDocument/2006/relationships/font" Target="fonts/InterTight-regular.fntdata"/><Relationship Id="rId16" Type="http://schemas.openxmlformats.org/officeDocument/2006/relationships/font" Target="fonts/InterTight-bold.fntdata"/><Relationship Id="rId17" Type="http://schemas.openxmlformats.org/officeDocument/2006/relationships/font" Target="fonts/InterTight-italic.fntdata"/><Relationship Id="rId18" Type="http://schemas.openxmlformats.org/officeDocument/2006/relationships/font" Target="fonts/InterTight-boldItalic.fntdata"/><Relationship Id="rId19" Type="http://schemas.openxmlformats.org/officeDocument/2006/relationships/font" Target="fonts/JetBrainsMono-regular.fntdata"/><Relationship Id="rId20" Type="http://schemas.openxmlformats.org/officeDocument/2006/relationships/font" Target="fonts/JetBrainsMono-bold.fntdata"/><Relationship Id="rId21" Type="http://schemas.openxmlformats.org/officeDocument/2006/relationships/font" Target="fonts/JetBrainsMono-italic.fntdata"/><Relationship Id="rId22" Type="http://schemas.openxmlformats.org/officeDocument/2006/relationships/font" Target="fonts/JetBrainsMono-boldItalic.fntdata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Inter Tight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 b="0" i="0" sz="4400" u="none" cap="none" strike="noStrike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84" name="Google Shape;84;p13"/>
          <p:cNvSpPr txBox="1"/>
          <p:nvPr/>
        </p:nvSpPr>
        <p:spPr>
          <a:xfrm>
            <a:off x="914400" y="77724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10058400" y="7772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01 / 10</a:t>
            </a:r>
            <a:endParaRPr/>
          </a:p>
        </p:txBody>
      </p:sp>
      <p:sp>
        <p:nvSpPr>
          <p:cNvPr id="86" name="Google Shape;86;p13"/>
          <p:cNvSpPr/>
          <p:nvPr/>
        </p:nvSpPr>
        <p:spPr>
          <a:xfrm>
            <a:off x="914400" y="1600200"/>
            <a:ext cx="3429000" cy="475488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C6F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TESTNET · TEST KEYS</a:t>
            </a:r>
            <a:endParaRPr/>
          </a:p>
        </p:txBody>
      </p:sp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812280"/>
            <a:ext cx="4721192" cy="822960"/>
          </a:xfrm>
          <a:prstGeom prst="rect">
            <a:avLst/>
          </a:prstGeom>
        </p:spPr>
      </p:pic>
      <p:sp>
        <p:nvSpPr>
          <p:cNvPr id="92" name="Google Shape;92;p13"/>
          <p:cNvSpPr/>
          <p:nvPr/>
        </p:nvSpPr>
        <p:spPr>
          <a:xfrm>
            <a:off x="5989320" y="6766560"/>
            <a:ext cx="18288" cy="914400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6967728"/>
            <a:ext cx="2159633" cy="512064"/>
          </a:xfrm>
          <a:prstGeom prst="rect">
            <a:avLst/>
          </a:prstGeom>
        </p:spPr>
      </p:pic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3960" y="6903720"/>
            <a:ext cx="2483581" cy="621792"/>
          </a:xfrm>
          <a:prstGeom prst="rect">
            <a:avLst/>
          </a:prstGeom>
        </p:spPr>
      </p:pic>
      <p:sp>
        <p:nvSpPr>
          <p:cNvPr id="95" name="Google Shape;95;p13"/>
          <p:cNvSpPr/>
          <p:nvPr/>
        </p:nvSpPr>
        <p:spPr>
          <a:xfrm rot="5400000">
            <a:off x="14904720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6" name="Google Shape;96;p13"/>
          <p:cNvSpPr/>
          <p:nvPr/>
        </p:nvSpPr>
        <p:spPr>
          <a:xfrm rot="5400000">
            <a:off x="15599664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6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7" name="Google Shape;97;p13"/>
          <p:cNvSpPr/>
          <p:nvPr/>
        </p:nvSpPr>
        <p:spPr>
          <a:xfrm rot="5400000">
            <a:off x="16294608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3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8" name="Google Shape;98;p13"/>
          <p:cNvSpPr/>
          <p:nvPr/>
        </p:nvSpPr>
        <p:spPr>
          <a:xfrm>
            <a:off x="914400" y="8641080"/>
            <a:ext cx="16459200" cy="13716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9" name="Google Shape;99;p13"/>
          <p:cNvSpPr txBox="1"/>
          <p:nvPr/>
        </p:nvSpPr>
        <p:spPr>
          <a:xfrm>
            <a:off x="914400" y="896112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October 2026</a:t>
            </a:r>
            <a:endParaRPr/>
          </a:p>
        </p:txBody>
      </p:sp>
      <p:sp>
        <p:nvSpPr>
          <p:cNvPr id="100" name="Google Shape;100;p13"/>
          <p:cNvSpPr txBox="1"/>
          <p:nvPr/>
        </p:nvSpPr>
        <p:spPr>
          <a:xfrm>
            <a:off x="64008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#HackMeridian26</a:t>
            </a:r>
            <a:endParaRPr/>
          </a:p>
        </p:txBody>
      </p:sp>
      <p:sp>
        <p:nvSpPr>
          <p:cNvPr id="101" name="Google Shape;101;p13"/>
          <p:cNvSpPr txBox="1"/>
          <p:nvPr/>
        </p:nvSpPr>
        <p:spPr>
          <a:xfrm>
            <a:off x="118872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A7A7A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</a:t>
            </a:r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914400" y="2331720"/>
            <a:ext cx="11430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0000" b="1">
                <a:solidFill>
                  <a:srgbClr val="C6F24E"/>
                </a:solidFill>
                <a:latin typeface="Inter Tight"/>
              </a:rPr>
              <a:t>Radox Custody Rail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14400" y="3794760"/>
            <a:ext cx="11247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600" b="1">
                <a:solidFill>
                  <a:srgbClr val="E7E8EA"/>
                </a:solidFill>
                <a:latin typeface="Inter Tight"/>
              </a:rPr>
              <a:t>One record for the goods, from origin to delivery, that every company along the way will share.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544068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A3A8B0"/>
                </a:solidFill>
                <a:latin typeface="Instrument Sans"/>
              </a:rPr>
              <a:t>Toward a SWIFT-like standard on Stellar  ·  Pilot corridor: Rio–Miami</a:t>
            </a:r>
          </a:p>
        </p:txBody>
      </p:sp>
      <p:pic>
        <p:nvPicPr>
          <p:cNvPr id="105" name="Picture 104" descr="qr-page-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01800" y="1600200"/>
            <a:ext cx="2377440" cy="23774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3075920" y="411480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000" b="0">
                <a:solidFill>
                  <a:srgbClr val="E7E8EA"/>
                </a:solidFill>
                <a:latin typeface="Instrument Sans"/>
              </a:rPr>
              <a:t>Scan: the live shipment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rio-miami-rail.vercel.app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2801600" y="5609844"/>
            <a:ext cx="457200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2682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36428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45572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54716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63860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7254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2682728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RIO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5663672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MIAMI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02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WHAT IT COSTS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15467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PMF · THE PROBLEM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Who holds the whole chain?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783080" y="3278124"/>
            <a:ext cx="3200399" cy="27432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325880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274320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Warehouse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623559" y="3278124"/>
            <a:ext cx="3200399" cy="27432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5166359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4114799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Port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464039" y="3278124"/>
            <a:ext cx="3200399" cy="27432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9006839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955279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Carrier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3304519" y="3278124"/>
            <a:ext cx="3200399" cy="27432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2847319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11795759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Customs</a:t>
            </a:r>
          </a:p>
        </p:txBody>
      </p:sp>
      <p:sp>
        <p:nvSpPr>
          <p:cNvPr id="137" name="Oval 136"/>
          <p:cNvSpPr/>
          <p:nvPr/>
        </p:nvSpPr>
        <p:spPr>
          <a:xfrm>
            <a:off x="16687800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5636239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Recipient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14400" y="406908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556F00"/>
                </a:solidFill>
                <a:latin typeface="Instrument Sans"/>
              </a:rPr>
              <a:t>The gap: </a:t>
            </a:r>
            <a:r>
              <a:rPr sz="2200" b="0">
                <a:solidFill>
                  <a:srgbClr val="0E0F11"/>
                </a:solidFill>
                <a:latin typeface="Instrument Sans"/>
              </a:rPr>
              <a:t>each company records only its own leg, and no shared record follows the goods.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914400" y="469544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14400" y="489204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45M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603504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ocean bills of lading issued a year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14400" y="69494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DCSA, Feb 2023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492240" y="469544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492240" y="489204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~11%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492240" y="603504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of bills of lading issued electronically, 2025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92240" y="69494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DCSA, as of 2025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12070080" y="469544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2070080" y="489204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22%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2070080" y="603504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of recorded cargo thefts in 2025 involved insiders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2070080" y="69494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TT Club &amp; BSI Cargo Theft Report, Apr 2026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14400" y="7772400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1">
                <a:solidFill>
                  <a:srgbClr val="0E0F11"/>
                </a:solidFill>
                <a:latin typeface="Instrument Sans"/>
              </a:rPr>
              <a:t>Ports run legacy systems: </a:t>
            </a:r>
            <a:r>
              <a:rPr sz="1800" b="0">
                <a:solidFill>
                  <a:srgbClr val="4D5560"/>
                </a:solidFill>
                <a:latin typeface="Instrument Sans"/>
              </a:rPr>
              <a:t>over 90% of ports in low- and middle-income countries have no port community system (World Bank remark relayed by IAPH, Nov 2023); IMO guidance plans for legacy systems with proprietary formats (FAL.5/Circ.54, 2024).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Context: our explainer video on a Rio–Miami trade-corridor initiative; this project is its custody layer.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03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STANDARD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42900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PMF · WHAT IT COSTS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Cargo goes missing. A bank got fooled.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Instrument Sans"/>
              </a:rPr>
              <a:t>The gap: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a financier cannot see who holds the goods before paying.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41925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43891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R$900M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55321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est. direct loss, 8,570 cargo robberies in Brazil, 2025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14400" y="64465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NTC&amp;Logística survey, 28 Mar 2026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492240" y="41925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492240" y="43891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US$85M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492240" y="55321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HSBC's loss on forged documents for oil trades that never happened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492240" y="64465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Hin Leong case, Global Trade Review, 18 Nov 2024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2070080" y="41925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2070080" y="43891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US$2.5T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2070080" y="55321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global trade finance gap (market size)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2070080" y="64465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ADB survey of banks, Dec 2025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14400" y="7498079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These figures size the market problem the rail addresses. Sources under each number.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04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RAIL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521208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PROPOSAL · A PUBLIC STANDARD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A SWIFT-like standard: integrate once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063240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The goal is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a shared, SWIFT-like custody standard that companies along a supply chain, from origin to destination, will use. </a:t>
            </a:r>
            <a:r>
              <a:rPr sz="2400" b="1">
                <a:solidFill>
                  <a:srgbClr val="0E0F11"/>
                </a:solidFill>
                <a:latin typeface="Instrument Sans"/>
              </a:rPr>
              <a:t>We are building it on Stellar, starting with the custody rail.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2560320" y="4572000"/>
            <a:ext cx="826163" cy="60024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2560320" y="4572000"/>
            <a:ext cx="510597" cy="1571456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H="1">
            <a:off x="2049722" y="4572000"/>
            <a:ext cx="510598" cy="1571456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H="1">
            <a:off x="1734156" y="4572000"/>
            <a:ext cx="826164" cy="60024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H="1">
            <a:off x="3070917" y="5172243"/>
            <a:ext cx="315566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H="1">
            <a:off x="2049722" y="5172243"/>
            <a:ext cx="1336761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H="1">
            <a:off x="1734156" y="5172243"/>
            <a:ext cx="1652327" cy="0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H="1">
            <a:off x="2049722" y="6143456"/>
            <a:ext cx="1021195" cy="0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H="1" flipV="1">
            <a:off x="1734156" y="5172243"/>
            <a:ext cx="1336761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H="1" flipV="1">
            <a:off x="1734156" y="5172243"/>
            <a:ext cx="315566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Oval 135"/>
          <p:cNvSpPr/>
          <p:nvPr/>
        </p:nvSpPr>
        <p:spPr>
          <a:xfrm>
            <a:off x="2441448" y="4453128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3267611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2952045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930850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615284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14399" y="40690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PAIR BY PAIR · 10 LINKS</a:t>
            </a:r>
          </a:p>
        </p:txBody>
      </p:sp>
      <p:cxnSp>
        <p:nvCxnSpPr>
          <p:cNvPr id="142" name="Connector 141"/>
          <p:cNvCxnSpPr/>
          <p:nvPr/>
        </p:nvCxnSpPr>
        <p:spPr>
          <a:xfrm flipV="1">
            <a:off x="6080760" y="4572000"/>
            <a:ext cx="0" cy="868680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6080760" y="5172243"/>
            <a:ext cx="826163" cy="268437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6080760" y="5440680"/>
            <a:ext cx="510597" cy="702776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H="1">
            <a:off x="5570162" y="5440680"/>
            <a:ext cx="510598" cy="702776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H="1" flipV="1">
            <a:off x="5254596" y="5172243"/>
            <a:ext cx="826164" cy="268437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Oval 146"/>
          <p:cNvSpPr/>
          <p:nvPr/>
        </p:nvSpPr>
        <p:spPr>
          <a:xfrm>
            <a:off x="5888736" y="5248656"/>
            <a:ext cx="384048" cy="384048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5961888" y="4453128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6788051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6472485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5451290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5135724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434840" y="40690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ONE STANDARD · 5 LINKS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14400" y="658368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Example, 5 companies: 10 custom links, or 5 links to one standard.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503920" y="406908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OPEN · ANYONE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8503920" y="4539996"/>
            <a:ext cx="425196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503920" y="4709160"/>
            <a:ext cx="4343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Record format, roles and events: the custody_registry contract (Apache-2.0)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Verify any shipment, no login (slide 6)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3121640" y="406908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0E0F11"/>
                </a:solidFill>
                <a:latin typeface="JetBrains Mono"/>
              </a:rPr>
              <a:t>RADOX WILL OPERATE · CLIENT PAYS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13121640" y="4539996"/>
            <a:ext cx="4251960" cy="27432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13121640" y="4709160"/>
            <a:ext cx="4343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Onboarding, issuance controls, operation of the rail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The API and backend: closed, not self-hostable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Per-institution subscription + fee per shipment (slide 9)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914400" y="758037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14400" y="7699248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0E0F11"/>
                </a:solidFill>
                <a:latin typeface="Instrument Sans"/>
              </a:rPr>
              <a:t>Each company integrates once instead of pair by pair. Radox is in conversations with ports, airports and chambers of commerce; legacy systems will join through one adapter to the Radox API.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Radox is the rail, never the issuer. Regulation and licences stay with the client and its local counsel.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05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LIVE ON TESTNET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438912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RAIL · LIFECYCLE BUILT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One rail, origin to delivery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06324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One record will follow the goods across company boundaries; port and airport systems will connect by API, not a rewrite.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188720" y="4553712"/>
            <a:ext cx="15910559" cy="36576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033272" y="441655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5720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Open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5720" y="52303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operator</a:t>
            </a:r>
          </a:p>
        </p:txBody>
      </p:sp>
      <p:sp>
        <p:nvSpPr>
          <p:cNvPr id="130" name="Oval 129"/>
          <p:cNvSpPr/>
          <p:nvPr/>
        </p:nvSpPr>
        <p:spPr>
          <a:xfrm>
            <a:off x="3306209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318657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Warehouse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598817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33" name="Oval 132"/>
          <p:cNvSpPr/>
          <p:nvPr/>
        </p:nvSpPr>
        <p:spPr>
          <a:xfrm>
            <a:off x="5579146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4591594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Port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871754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36" name="Oval 135"/>
          <p:cNvSpPr/>
          <p:nvPr/>
        </p:nvSpPr>
        <p:spPr>
          <a:xfrm>
            <a:off x="7852083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864531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Carrier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144691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39" name="Oval 138"/>
          <p:cNvSpPr/>
          <p:nvPr/>
        </p:nvSpPr>
        <p:spPr>
          <a:xfrm>
            <a:off x="10125020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137468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Customs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417628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42" name="Oval 141"/>
          <p:cNvSpPr/>
          <p:nvPr/>
        </p:nvSpPr>
        <p:spPr>
          <a:xfrm>
            <a:off x="12397957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1410405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Recipient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2690565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45" name="Oval 144"/>
          <p:cNvSpPr/>
          <p:nvPr/>
        </p:nvSpPr>
        <p:spPr>
          <a:xfrm>
            <a:off x="14670894" y="441655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3683342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Delivered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3683342" y="52303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to the holder</a:t>
            </a:r>
          </a:p>
        </p:txBody>
      </p:sp>
      <p:sp>
        <p:nvSpPr>
          <p:cNvPr id="148" name="Oval 147"/>
          <p:cNvSpPr/>
          <p:nvPr/>
        </p:nvSpPr>
        <p:spPr>
          <a:xfrm>
            <a:off x="16943831" y="441655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5956280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Burned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5956280" y="52303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existing redeem¹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14400" y="5897880"/>
            <a:ext cx="164592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3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300" b="1">
                <a:solidFill>
                  <a:srgbClr val="0E0F11"/>
                </a:solidFill>
                <a:latin typeface="Instrument Sans"/>
              </a:rPr>
              <a:t>Rule of every link: </a:t>
            </a:r>
            <a:r>
              <a:rPr sz="2300" b="0">
                <a:solidFill>
                  <a:srgbClr val="0E0F11"/>
                </a:solidFill>
                <a:latin typeface="Instrument Sans"/>
              </a:rPr>
              <a:t>both sides sign one Stellar transaction (delivery: recipient and holder), or the call fails.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3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300" b="0">
                <a:solidFill>
                  <a:srgbClr val="0E0F11"/>
                </a:solidFill>
                <a:latin typeface="Instrument Sans"/>
              </a:rPr>
              <a:t>Each step extends the on-chain </a:t>
            </a:r>
            <a:r>
              <a:rPr sz="2300" b="0">
                <a:solidFill>
                  <a:srgbClr val="0E0F11"/>
                </a:solidFill>
                <a:latin typeface="JetBrains Mono"/>
              </a:rPr>
              <a:t>head</a:t>
            </a:r>
            <a:r>
              <a:rPr sz="2300" b="0">
                <a:solidFill>
                  <a:srgbClr val="0E0F11"/>
                </a:solidFill>
                <a:latin typeface="Instrument Sans"/>
              </a:rPr>
              <a:t>: anyone can replay the history from Horizon and check it against the head.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3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300" b="0">
                <a:solidFill>
                  <a:srgbClr val="0E0F11"/>
                </a:solidFill>
                <a:latin typeface="Instrument Sans"/>
              </a:rPr>
              <a:t>The token stays with its holder in transit; only custody moves.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14400" y="781812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1">
                <a:solidFill>
                  <a:srgbClr val="0E0F11"/>
                </a:solidFill>
                <a:latin typeface="Instrument Sans"/>
              </a:rPr>
              <a:t>Built: this lifecycle on testnet, test keys. Next: real companies on the rail, the standard, integrations.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Keyed by sha256(container | origin); sits beside the carrier's bill of lading. ¹ Radox policy, not enforced on-chain; redeem needs the holder's signature.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1315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06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WHY STELLAR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452628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PROOF · LIVE ON TESTNET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2A2F3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8B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E7E8EA"/>
                </a:solidFill>
                <a:latin typeface="Inter Tight"/>
              </a:rPr>
              <a:t>The lifecycle ran on testnet</a:t>
            </a:r>
          </a:p>
        </p:txBody>
      </p:sp>
      <p:pic>
        <p:nvPicPr>
          <p:cNvPr id="125" name="Picture 124" descr="page-handovers-ro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108960"/>
            <a:ext cx="6766560" cy="4591594"/>
          </a:xfrm>
          <a:prstGeom prst="rect">
            <a:avLst/>
          </a:prstGeom>
        </p:spPr>
      </p:pic>
      <p:sp>
        <p:nvSpPr>
          <p:cNvPr id="126" name="Rectangle 125"/>
          <p:cNvSpPr/>
          <p:nvPr/>
        </p:nvSpPr>
        <p:spPr>
          <a:xfrm>
            <a:off x="914400" y="3108960"/>
            <a:ext cx="6766560" cy="4591594"/>
          </a:xfrm>
          <a:prstGeom prst="rect">
            <a:avLst/>
          </a:prstGeom>
          <a:noFill/>
          <a:ln w="12700">
            <a:solidFill>
              <a:srgbClr val="2A2F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229600" y="30175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2b3d51f0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open · operator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29600" y="335584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635c99ac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1 · Warehouse → Port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229600" y="369417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56a0f006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2 · Port → Carrier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229600" y="4032504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ac268a49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3 · Carrier → Customs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229600" y="4370831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5199d4fb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4 · Customs → Recipient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229600" y="47091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919def8c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deliver · Recipient → Holder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229600" y="504748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864fd164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burn · existing redeem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5440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229600" y="6144768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successful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0561320" y="5440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561320" y="6144768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refused, e.g. wrong signer (simulated)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2893040" y="5440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24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2893040" y="6144768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unit tests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5224759" y="5440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MATCH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5224759" y="6144768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head check, 25 Oct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229600" y="6858000"/>
            <a:ext cx="91440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0">
                <a:solidFill>
                  <a:srgbClr val="A3A8B0"/>
                </a:solidFill>
                <a:latin typeface="JetBrains Mono"/>
              </a:rPr>
              <a:t>custody_registry </a:t>
            </a:r>
            <a:r>
              <a:rPr sz="1800" b="0">
                <a:solidFill>
                  <a:srgbClr val="E7E8EA"/>
                </a:solidFill>
                <a:latin typeface="JetBrains Mono"/>
              </a:rPr>
              <a:t>CCBJVXMJYWPHTDJHDFPRGKPGXGEP24JOPJAMUS5C3BMZJTRTWR2H4LII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Also on testnet: handovers signed from separate computers (proofs/three-machine.json); two test companies' chains on one registry, sharing stops, each dual-signed (proofs/multi-chain.json).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1">
                <a:solidFill>
                  <a:srgbClr val="E7E8EA"/>
                </a:solidFill>
                <a:latin typeface="Instrument Sans"/>
              </a:rPr>
              <a:t>Testnet, test keys.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07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BUILT THIS WEEKEND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9776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ECOSYSTEM · WHY STELLAR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Stellar: all signers, one call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14400" y="31272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3192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828800" y="32461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Multi-party auth in one call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863840" y="3264408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Soroban authorises both companies of a link inside one contract invocation: the handover is atomic.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14400" y="44988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14400" y="46908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28800" y="46177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History from Horizon, checked by an on-chain head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863840" y="46360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RPC keeps contract events about 7 days, so we replay each shipment's transactions from Horizon and check them against the head stored in the contract.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14400" y="58704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14400" y="60624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59893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Any Stellar asset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863840" y="60076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The record stores a token address and never calls the token, so any tokenized Stellar asset can carry a custody record.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14400" y="72420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14400" y="7360920"/>
            <a:ext cx="16459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900" b="1">
                <a:solidFill>
                  <a:srgbClr val="0E0F11"/>
                </a:solidFill>
                <a:latin typeface="Instrument Sans"/>
              </a:rPr>
              <a:t>Stellar holds about US$4B in tokenized assets </a:t>
            </a:r>
            <a:r>
              <a:rPr sz="1900" b="0">
                <a:solidFill>
                  <a:srgbClr val="4D5560"/>
                </a:solidFill>
                <a:latin typeface="Instrument Sans"/>
              </a:rPr>
              <a:t>(SDF, as of 1 Sep 2026). </a:t>
            </a:r>
            <a:r>
              <a:rPr sz="1900" b="1">
                <a:solidFill>
                  <a:srgbClr val="0E0F11"/>
                </a:solidFill>
                <a:latin typeface="Instrument Sans"/>
              </a:rPr>
              <a:t>Nearest neighbours </a:t>
            </a:r>
            <a:r>
              <a:rPr sz="1900" b="0">
                <a:solidFill>
                  <a:srgbClr val="4D5560"/>
                </a:solidFill>
                <a:latin typeface="Instrument Sans"/>
              </a:rPr>
              <a:t>(LumenLoop, SCF, Scout, 24–25 Oct): </a:t>
            </a:r>
            <a:r>
              <a:rPr sz="1900" b="0">
                <a:solidFill>
                  <a:srgbClr val="0E0F11"/>
                </a:solidFill>
                <a:latin typeface="Instrument Sans"/>
              </a:rPr>
              <a:t>Kutana and Trustless Work release escrow on trade milestones; Pipeline finances commodity trade. None records a handover signed by two custodians; no SEP.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900" b="1">
                <a:solidFill>
                  <a:srgbClr val="556F00"/>
                </a:solidFill>
                <a:latin typeface="Instrument Sans"/>
              </a:rPr>
              <a:t>Open source, Apache-2.0: </a:t>
            </a:r>
            <a:r>
              <a:rPr sz="1900" b="0">
                <a:solidFill>
                  <a:srgbClr val="0E0F11"/>
                </a:solidFill>
                <a:latin typeface="Instrument Sans"/>
              </a:rPr>
              <a:t>a custody primitive any Stellar tokenized-asset issuer can reuse. Radox will open API access to them, end to end.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08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MARKET AND ASK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2918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HACKATHON PROGRESS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Built this weekend, on disclosed prior work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PRIOR WORK · BEFORE SUN 25 OCT 09:00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3717036"/>
            <a:ext cx="7955279" cy="27432"/>
          </a:xfrm>
          <a:prstGeom prst="rect">
            <a:avLst/>
          </a:prstGeom>
          <a:solidFill>
            <a:srgbClr val="4D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platform (closed backend); its 3 Soroban contracts are on Stellar mainnet, public since 2026-08-19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transfer_agent and its redeem (new testnet instance from the existing wasm)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Architecture notes (20 Oct), planning files (24–25 Oct), the explainer video, our agent tooling (from 22 Oct)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No contract code before then: first repo commit 25 Oct 09:00 UTC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41832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BUILT AT HACKMERIDIAN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418320" y="3717036"/>
            <a:ext cx="7955279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41832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custody_registry contract, 24 unit tests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Lifecycle harness: 7 testnet transactions, 9 refused calls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verify-head script, the public shipment page, this deck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API custody route reads the registry, read-only: same head (testnet)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914400" y="7315200"/>
            <a:ext cx="1645920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234440" y="7424927"/>
            <a:ext cx="158191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attribution 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Code, tests, scripts, the shipment page, docs and this deck were made with AI coding agents (Claude Code); the team decided scope and what ships. Per-file record in AI_USAGE.md. The video narration is an AI voice generated from Pedro's voice.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09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TEAM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411480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MARKET · MODEL · THE ASK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One rail, every corridor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017520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MARKET · SOURCED FIGURES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3442715"/>
            <a:ext cx="9692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361188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800" b="1">
                <a:solidFill>
                  <a:srgbClr val="0E0F11"/>
                </a:solidFill>
                <a:latin typeface="Inter Tight"/>
              </a:rPr>
              <a:t>US$94.2B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438912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Instrument Sans"/>
              </a:rPr>
              <a:t>US–Brazil goods trade, 2025¹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852160" y="361188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800" b="1">
                <a:solidFill>
                  <a:srgbClr val="0E0F11"/>
                </a:solidFill>
                <a:latin typeface="Inter Tight"/>
              </a:rPr>
              <a:t>US$6.1B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852160" y="438912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Instrument Sans"/>
              </a:rPr>
              <a:t>Florida's goods exports to Brazil, its #1 market, 2025²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14400" y="5230368"/>
            <a:ext cx="9692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Instrument Sans"/>
              </a:rPr>
              <a:t>Global: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US$26.26T world merchandise exports, 2025³; ~80% of goods trade by volume goes by sea⁴; ~45M ocean bills of lading a year⁵.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60" y="30175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0E0F11"/>
                </a:solidFill>
                <a:latin typeface="JetBrains Mono"/>
              </a:rPr>
              <a:t>MODEL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11338560" y="3442715"/>
            <a:ext cx="6035040" cy="27432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1338560" y="3611880"/>
            <a:ext cx="6035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0E0F11"/>
                </a:solidFill>
                <a:latin typeface="Inter Tight"/>
              </a:rPr>
              <a:t>Subscription per connected institution + a fee per shipment.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8560" y="4800600"/>
            <a:ext cx="6035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Borrows the shape of Swift's billing rules: entry, annual, per-message usage⁶. Not affiliated with Swift.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14400" y="6035040"/>
            <a:ext cx="1645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Now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running on testnet, test keys.  </a:t>
            </a:r>
            <a:r>
              <a:rPr sz="2000" b="1">
                <a:solidFill>
                  <a:srgbClr val="556F00"/>
                </a:solidFill>
                <a:latin typeface="JetBrains Mono"/>
              </a:rPr>
              <a:t>Next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the Rio–Miami pilot shipment, SCF Build, audit, mainnet, API for other Stellar assets.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14400" y="6510528"/>
            <a:ext cx="1645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¹ US Census Bureau, Trade in Goods with Brazil, 2025 (exports + imports, sum ours)  ² USTR, Florida trade data, 2025  ³ WTO, Mar 2026  ⁴ UNCTAD, Review of Maritime Transport (undated page, opened 25 Oct 2026)  ⁵ DCSA, Feb 2023  ⁶ swift.com billing rules, accessed 25 Oct 2026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914400" y="7223760"/>
            <a:ext cx="16459200" cy="1234440"/>
          </a:xfrm>
          <a:prstGeom prst="roundRect">
            <a:avLst>
              <a:gd name="adj" fmla="val 11851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325880" y="7223760"/>
            <a:ext cx="1563624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JetBrains Mono"/>
              </a:rPr>
              <a:t>Our ask  </a:t>
            </a:r>
            <a:r>
              <a:rPr sz="2400" b="1">
                <a:solidFill>
                  <a:srgbClr val="0E0F11"/>
                </a:solidFill>
                <a:latin typeface="Instrument Sans"/>
              </a:rPr>
              <a:t>Introductions to one financial institution and one port, airport or logistics operator for a first pilot shipment, and a Stellar engineer's review of the design.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10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FINAL STOP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192024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TEAM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us: a founder already on Stellar mainnet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Pedro Wakigawa Saragossy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Founder, captain. Built Radox: 3 Soroban contracts on Stellar mainnet.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14400" y="4251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Leo Schlanger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Developer: custody_registry, the testnet harness and the proofs.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5394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Vhendala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QA and product review: reads every deliverable as a judge would.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6537960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Leo and Vhendala joined for the hackathon.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1338560" y="3108960"/>
            <a:ext cx="6035040" cy="36576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4D556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1338560" y="3108960"/>
            <a:ext cx="6035040" cy="365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4D5560"/>
                </a:solidFill>
                <a:latin typeface="Instrument Sans"/>
              </a:rPr>
              <a:t>Team photo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14400" y="699516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556F00"/>
                </a:solidFill>
                <a:latin typeface="Inter Tight"/>
              </a:rPr>
              <a:t>Rio–Miami first. Our goal: one rail for goods, every corridor.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14400" y="762609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14400" y="7726679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Live page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rio-miami-rail.vercel.app</a:t>
            </a:r>
            <a:r>
              <a:rPr sz="1800" b="1">
                <a:solidFill>
                  <a:srgbClr val="556F00"/>
                </a:solidFill>
                <a:latin typeface="JetBrains Mono"/>
              </a:rPr>
              <a:t>     Code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github.com/pwsaragossy/rio-miami-rail (Apache-2.0)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 </a:t>
            </a:r>
            <a:r>
              <a:rPr sz="1800" b="0">
                <a:solidFill>
                  <a:srgbClr val="0E0F11"/>
                </a:solidFill>
                <a:latin typeface="Instrument Sans"/>
              </a:rPr>
              <a:t>Code, page, docs and deck made with AI coding agents (Claude Code). Narration: an AI voice from Pedro's voice. No AI-generated images in this 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
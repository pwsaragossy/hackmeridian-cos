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1" r:id="rId23"/>
    <p:sldId id="262" r:id="rId24"/>
    <p:sldId id="263" r:id="rId25"/>
    <p:sldId id="264" r:id="rId26"/>
    <p:sldId id="260" r:id="rId10"/>
  </p:sldIdLst>
  <p:sldSz cy="10287000" cx="18288000"/>
  <p:notesSz cx="6858000" cy="9144000"/>
  <p:embeddedFontLst>
    <p:embeddedFont>
      <p:font typeface="Instrument Sans"/>
      <p:regular r:id="rId11"/>
      <p:bold r:id="rId12"/>
      <p:italic r:id="rId13"/>
      <p:boldItalic r:id="rId14"/>
    </p:embeddedFont>
    <p:embeddedFont>
      <p:font typeface="Inter Tight"/>
      <p:regular r:id="rId15"/>
      <p:bold r:id="rId16"/>
      <p:italic r:id="rId17"/>
      <p:boldItalic r:id="rId18"/>
    </p:embeddedFont>
    <p:embeddedFont>
      <p:font typeface="JetBrains Mon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font" Target="fonts/InstrumentSans-regular.fntdata"/><Relationship Id="rId12" Type="http://schemas.openxmlformats.org/officeDocument/2006/relationships/font" Target="fonts/InstrumentSans-bold.fntdata"/><Relationship Id="rId13" Type="http://schemas.openxmlformats.org/officeDocument/2006/relationships/font" Target="fonts/InstrumentSans-italic.fntdata"/><Relationship Id="rId14" Type="http://schemas.openxmlformats.org/officeDocument/2006/relationships/font" Target="fonts/InstrumentSans-boldItalic.fntdata"/><Relationship Id="rId15" Type="http://schemas.openxmlformats.org/officeDocument/2006/relationships/font" Target="fonts/InterTight-regular.fntdata"/><Relationship Id="rId16" Type="http://schemas.openxmlformats.org/officeDocument/2006/relationships/font" Target="fonts/InterTight-bold.fntdata"/><Relationship Id="rId17" Type="http://schemas.openxmlformats.org/officeDocument/2006/relationships/font" Target="fonts/InterTight-italic.fntdata"/><Relationship Id="rId18" Type="http://schemas.openxmlformats.org/officeDocument/2006/relationships/font" Target="fonts/InterTight-boldItalic.fntdata"/><Relationship Id="rId19" Type="http://schemas.openxmlformats.org/officeDocument/2006/relationships/font" Target="fonts/JetBrainsMono-regular.fntdata"/><Relationship Id="rId20" Type="http://schemas.openxmlformats.org/officeDocument/2006/relationships/font" Target="fonts/JetBrainsMono-bold.fntdata"/><Relationship Id="rId21" Type="http://schemas.openxmlformats.org/officeDocument/2006/relationships/font" Target="fonts/JetBrainsMono-italic.fntdata"/><Relationship Id="rId22" Type="http://schemas.openxmlformats.org/officeDocument/2006/relationships/font" Target="fonts/JetBrainsMono-boldItalic.fntdata"/><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title: "Radox Custody Rail: dual-signed custody for goods in transit, on Stellar". We built a public record of who holds a shipment, signed by both sides of every handover. Everything shown ran on Stellar testnet this weekend.</a:t>
            </a: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custodians must authorise one call, or it fails. The record keeps a hash chain, head. The burn is the existing redeem. The operator runs it only after the registry shows Delivered. That is Radox platform policy, not enforced on-chain by the registry, and redeem still needs the holder's signature. We found none in the directories searched 2026-10-25.</a:t>
            </a:r>
          </a:p>
        </p:txBody>
      </p:sp>
      <p:sp>
        <p:nvSpPr>
          <p:cNvPr id="104" name="Google Shape;104;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No customers yet, and no financier has told us this pain is real. It is a hypothesis we are testing with mentors. Today each handover is recorded on paper or inside one operator's own system. This build records each handover in one public place. The US$2.5 trillion figure sizes trade finance generally. It does not prove this problem.</a:t>
            </a:r>
          </a:p>
        </p:txBody>
      </p:sp>
      <p:sp>
        <p:nvSpPr>
          <p:cNvPr id="126" name="Google Shape;126;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Six actors, all test keys held by one harness: this proves the mechanism, not independent custodians. Nine refusals (wrong custodian, wrong signer, early delivery and six more) were checked as simulations. Events last about seven days on the RPC, so head, a hash chain on the contract, lets anyone recompute the history. Holder balance after the burn is zero.</a:t>
            </a:r>
          </a:p>
        </p:txBody>
      </p:sp>
      <p:sp>
        <p:nvSpPr>
          <p:cNvPr id="148" name="Google Shape;14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Pedro built Radox and its three mainnet contracts. Leo and Vhendala joined this weekend. The video narration is an AI voice generated from Pedro's voice, not a person reading live. Code, tests and scripts were written with AI coding agents; humans decided scope and checked the proofs. Radox has no users or revenue yet.</a:t>
            </a:r>
          </a:p>
        </p:txBody>
      </p:sp>
      <p:sp>
        <p:nvSpPr>
          <p:cNvPr id="170" name="Google Shape;170;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Radox's three mainnet contracts, public since 2026-08-19, and transfer_agent are prior work, disclosed. No contract code existed before Sunday 09:00; planning files dated 24 and 25 October did. The burn is the existing redeem, not new work. Code, tests and scripts were written by Claude Code agents. AI_USAGE.md lists who read what.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customers, exporters or pilot exist yet. These are the roles the contract models. The page is read-only and public: anyone with a container number sees the chain and can press Verify head. A custody record keyed to the container number; in production it would sit beside the carrier's bill of lading, not integrated 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Radox is the rail, never the issuer; the client is a financial institution. Regulation and licences belong to the client and local counsel. Go-to-market is one corridor, Rio to Miami, and one pilot shipment with one producer; nobody has agreed yet. We would approach a financial institution and a logistics operator. No endorsement or letter from any body exists.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Mainnet is not this weekend. Physical-asset offers stay blocked outside testnet until the test matrix passes. No audit has happened; an SCF audit would start only after an award. We plan to apply to SCF; nothing is filed and we claim no eligibility. The USD leg is future tense: nothing is built or under contract.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Inter Tight"/>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Inter Tigh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Inter Tight"/>
              <a:buNone/>
              <a:defRPr b="0" i="0" sz="4400" u="none" cap="none" strike="noStrike">
                <a:solidFill>
                  <a:schemeClr val="dk1"/>
                </a:solidFill>
                <a:latin typeface="Inter Tight"/>
                <a:ea typeface="Inter Tight"/>
                <a:cs typeface="Inter Tight"/>
                <a:sym typeface="Inter T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Instrument Sans"/>
                <a:ea typeface="Instrument Sans"/>
                <a:cs typeface="Instrument Sans"/>
                <a:sym typeface="Instrument Sans"/>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Instrument Sans"/>
                <a:ea typeface="Instrument Sans"/>
                <a:cs typeface="Instrument Sans"/>
                <a:sym typeface="Instrument Sans"/>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Instrument Sans"/>
                <a:ea typeface="Instrument Sans"/>
                <a:cs typeface="Instrument Sans"/>
                <a:sym typeface="Instrument Sans"/>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1pPr>
            <a:lvl2pPr indent="0" lvl="1"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2pPr>
            <a:lvl3pPr indent="0" lvl="2"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3pPr>
            <a:lvl4pPr indent="0" lvl="3"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4pPr>
            <a:lvl5pPr indent="0" lvl="4"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5pPr>
            <a:lvl6pPr indent="0" lvl="5"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6pPr>
            <a:lvl7pPr indent="0" lvl="6"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7pPr>
            <a:lvl8pPr indent="0" lvl="7"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8pPr>
            <a:lvl9pPr indent="0" lvl="8"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0F0F"/>
        </a:solidFill>
      </p:bgPr>
    </p:bg>
    <p:spTree>
      <p:nvGrpSpPr>
        <p:cNvPr id="83" name="Shape 83"/>
        <p:cNvGrpSpPr/>
        <p:nvPr/>
      </p:nvGrpSpPr>
      <p:grpSpPr>
        <a:xfrm>
          <a:off x="0" y="0"/>
          <a:ext cx="0" cy="0"/>
          <a:chOff x="0" y="0"/>
          <a:chExt cx="0" cy="0"/>
        </a:xfrm>
      </p:grpSpPr>
      <p:sp>
        <p:nvSpPr>
          <p:cNvPr id="84" name="Google Shape;84;p13"/>
          <p:cNvSpPr txBox="1"/>
          <p:nvPr/>
        </p:nvSpPr>
        <p:spPr>
          <a:xfrm>
            <a:off x="914400" y="777240"/>
            <a:ext cx="82296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HACKMERIDIAN 2026 · LISBON</a:t>
            </a:r>
            <a:endParaRPr/>
          </a:p>
        </p:txBody>
      </p:sp>
      <p:sp>
        <p:nvSpPr>
          <p:cNvPr id="85" name="Google Shape;85;p13"/>
          <p:cNvSpPr txBox="1"/>
          <p:nvPr/>
        </p:nvSpPr>
        <p:spPr>
          <a:xfrm>
            <a:off x="10058400" y="777240"/>
            <a:ext cx="7315200" cy="32004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PLATFORM 01 / 09</a:t>
            </a:r>
            <a:endParaRPr/>
          </a:p>
        </p:txBody>
      </p:sp>
      <p:sp>
        <p:nvSpPr>
          <p:cNvPr id="86" name="Google Shape;86;p13"/>
          <p:cNvSpPr/>
          <p:nvPr/>
        </p:nvSpPr>
        <p:spPr>
          <a:xfrm>
            <a:off x="914400" y="1600200"/>
            <a:ext cx="7400000" cy="475488"/>
          </a:xfrm>
          <a:prstGeom prst="roundRect">
            <a:avLst>
              <a:gd fmla="val 50000" name="adj"/>
            </a:avLst>
          </a:prstGeom>
          <a:noFill/>
          <a:ln cap="flat" cmpd="sng" w="19050">
            <a:solidFill>
              <a:srgbClr val="C6F24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TESTNET - TEST KEYS - NOT REAL CUSTODIANS</a:t>
            </a:r>
            <a:endParaRPr/>
          </a:p>
        </p:txBody>
      </p:sp>
      <p:pic>
        <p:nvPicPr>
          <p:cNvPr descr="hm-white.png" id="91" name="Google Shape;91;p13"/>
          <p:cNvPicPr preferRelativeResize="0"/>
          <p:nvPr/>
        </p:nvPicPr>
        <p:blipFill rotWithShape="1">
          <a:blip r:embed="rId3">
            <a:alphaModFix/>
          </a:blip>
          <a:srcRect b="0" l="0" r="0" t="0"/>
          <a:stretch/>
        </p:blipFill>
        <p:spPr>
          <a:xfrm>
            <a:off x="914400" y="6812280"/>
            <a:ext cx="4721192" cy="822960"/>
          </a:xfrm>
          <a:prstGeom prst="rect">
            <a:avLst/>
          </a:prstGeom>
          <a:noFill/>
          <a:ln>
            <a:noFill/>
          </a:ln>
        </p:spPr>
      </p:pic>
      <p:sp>
        <p:nvSpPr>
          <p:cNvPr id="92" name="Google Shape;92;p13"/>
          <p:cNvSpPr/>
          <p:nvPr/>
        </p:nvSpPr>
        <p:spPr>
          <a:xfrm>
            <a:off x="5989320" y="6766560"/>
            <a:ext cx="18288" cy="914400"/>
          </a:xfrm>
          <a:prstGeom prst="rect">
            <a:avLst/>
          </a:prstGeom>
          <a:solidFill>
            <a:srgbClr val="4A4A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pic>
        <p:nvPicPr>
          <p:cNvPr descr="guava-white.png" id="93" name="Google Shape;93;p13"/>
          <p:cNvPicPr preferRelativeResize="0"/>
          <p:nvPr/>
        </p:nvPicPr>
        <p:blipFill rotWithShape="1">
          <a:blip r:embed="rId4">
            <a:alphaModFix/>
          </a:blip>
          <a:srcRect b="0" l="0" r="0" t="0"/>
          <a:stretch/>
        </p:blipFill>
        <p:spPr>
          <a:xfrm>
            <a:off x="6355080" y="6967728"/>
            <a:ext cx="2159633" cy="512064"/>
          </a:xfrm>
          <a:prstGeom prst="rect">
            <a:avLst/>
          </a:prstGeom>
          <a:noFill/>
          <a:ln>
            <a:noFill/>
          </a:ln>
        </p:spPr>
      </p:pic>
      <p:pic>
        <p:nvPicPr>
          <p:cNvPr descr="stellar-white.png" id="94" name="Google Shape;94;p13"/>
          <p:cNvPicPr preferRelativeResize="0"/>
          <p:nvPr/>
        </p:nvPicPr>
        <p:blipFill rotWithShape="1">
          <a:blip r:embed="rId5">
            <a:alphaModFix/>
          </a:blip>
          <a:srcRect b="0" l="0" r="0" t="0"/>
          <a:stretch/>
        </p:blipFill>
        <p:spPr>
          <a:xfrm>
            <a:off x="8823960" y="6903720"/>
            <a:ext cx="2483581" cy="621792"/>
          </a:xfrm>
          <a:prstGeom prst="rect">
            <a:avLst/>
          </a:prstGeom>
          <a:noFill/>
          <a:ln>
            <a:noFill/>
          </a:ln>
        </p:spPr>
      </p:pic>
      <p:sp>
        <p:nvSpPr>
          <p:cNvPr id="95" name="Google Shape;95;p13"/>
          <p:cNvSpPr/>
          <p:nvPr/>
        </p:nvSpPr>
        <p:spPr>
          <a:xfrm rot="5400000">
            <a:off x="14904720" y="6858000"/>
            <a:ext cx="731520" cy="731520"/>
          </a:xfrm>
          <a:prstGeom prst="triangle">
            <a:avLst>
              <a:gd fmla="val 50000" name="adj"/>
            </a:avLst>
          </a:prstGeom>
          <a:solidFill>
            <a:srgbClr val="C6F24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6" name="Google Shape;96;p13"/>
          <p:cNvSpPr/>
          <p:nvPr/>
        </p:nvSpPr>
        <p:spPr>
          <a:xfrm rot="5400000">
            <a:off x="15599664" y="6858000"/>
            <a:ext cx="731520" cy="731520"/>
          </a:xfrm>
          <a:prstGeom prst="triangle">
            <a:avLst>
              <a:gd fmla="val 50000" name="adj"/>
            </a:avLst>
          </a:prstGeom>
          <a:solidFill>
            <a:srgbClr val="C6F24E">
              <a:alpha val="6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7" name="Google Shape;97;p13"/>
          <p:cNvSpPr/>
          <p:nvPr/>
        </p:nvSpPr>
        <p:spPr>
          <a:xfrm rot="5400000">
            <a:off x="16294608" y="6858000"/>
            <a:ext cx="731520" cy="731520"/>
          </a:xfrm>
          <a:prstGeom prst="triangle">
            <a:avLst>
              <a:gd fmla="val 50000" name="adj"/>
            </a:avLst>
          </a:prstGeom>
          <a:solidFill>
            <a:srgbClr val="C6F24E">
              <a:alpha val="3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8" name="Google Shape;98;p13"/>
          <p:cNvSpPr/>
          <p:nvPr/>
        </p:nvSpPr>
        <p:spPr>
          <a:xfrm>
            <a:off x="914400" y="8641080"/>
            <a:ext cx="16459200" cy="13716"/>
          </a:xfrm>
          <a:prstGeom prst="rect">
            <a:avLst/>
          </a:prstGeom>
          <a:solidFill>
            <a:srgbClr val="3A3A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9" name="Google Shape;99;p13"/>
          <p:cNvSpPr txBox="1"/>
          <p:nvPr/>
        </p:nvSpPr>
        <p:spPr>
          <a:xfrm>
            <a:off x="914400" y="8961120"/>
            <a:ext cx="4572000" cy="36576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FFFFFF"/>
                </a:solidFill>
                <a:latin typeface="JetBrains Mono"/>
                <a:ea typeface="JetBrains Mono"/>
                <a:cs typeface="JetBrains Mono"/>
                <a:sym typeface="JetBrains Mono"/>
              </a:rPr>
              <a:t>October 2026</a:t>
            </a:r>
            <a:endParaRPr/>
          </a:p>
        </p:txBody>
      </p:sp>
      <p:sp>
        <p:nvSpPr>
          <p:cNvPr id="100" name="Google Shape;100;p13"/>
          <p:cNvSpPr txBox="1"/>
          <p:nvPr/>
        </p:nvSpPr>
        <p:spPr>
          <a:xfrm>
            <a:off x="6400800" y="8961120"/>
            <a:ext cx="5486400" cy="3657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#HackMeridian26</a:t>
            </a:r>
            <a:endParaRPr/>
          </a:p>
        </p:txBody>
      </p:sp>
      <p:sp>
        <p:nvSpPr>
          <p:cNvPr id="101" name="Google Shape;101;p13"/>
          <p:cNvSpPr txBox="1"/>
          <p:nvPr/>
        </p:nvSpPr>
        <p:spPr>
          <a:xfrm>
            <a:off x="11887200" y="8961120"/>
            <a:ext cx="5486400" cy="36576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0" i="0" lang="en-US" sz="1400" u="none" cap="none" strike="noStrike">
                <a:solidFill>
                  <a:srgbClr val="A7A7A7"/>
                </a:solidFill>
                <a:latin typeface="JetBrains Mono"/>
                <a:ea typeface="JetBrains Mono"/>
                <a:cs typeface="JetBrains Mono"/>
                <a:sym typeface="JetBrains Mono"/>
              </a:rPr>
              <a:t>© 2026 HackMeridian · Lisbon</a:t>
            </a:r>
            <a:endParaRPr/>
          </a:p>
        </p:txBody>
      </p:sp>
      <p:sp>
        <p:nvSpPr>
          <p:cNvPr id="102" name="TextBox 101"/>
          <p:cNvSpPr txBox="1"/>
          <p:nvPr/>
        </p:nvSpPr>
        <p:spPr>
          <a:xfrm>
            <a:off x="914400" y="2400000"/>
            <a:ext cx="10300000" cy="3300000"/>
          </a:xfrm>
          <a:prstGeom prst="rect">
            <a:avLst/>
          </a:prstGeom>
          <a:noFill/>
        </p:spPr>
        <p:txBody>
          <a:bodyPr wrap="square" lIns="0" rIns="0" tIns="0" bIns="0" anchor="t">
            <a:spAutoFit/>
          </a:bodyPr>
          <a:lstStyle/>
          <a:p>
            <a:pPr algn="l"/>
            <a:r>
              <a:rPr sz="6600" b="1">
                <a:solidFill>
                  <a:srgbClr val="C6F24E"/>
                </a:solidFill>
                <a:latin typeface="Inter Tight"/>
              </a:rPr>
              <a:t>Radox Custody Rail: dual-signed custody, on Stellar</a:t>
            </a:r>
          </a:p>
        </p:txBody>
      </p:sp>
      <p:sp>
        <p:nvSpPr>
          <p:cNvPr id="103" name="TextBox 102"/>
          <p:cNvSpPr txBox="1"/>
          <p:nvPr/>
        </p:nvSpPr>
        <p:spPr>
          <a:xfrm>
            <a:off x="914400" y="5850000"/>
            <a:ext cx="16459200" cy="500000"/>
          </a:xfrm>
          <a:prstGeom prst="rect">
            <a:avLst/>
          </a:prstGeom>
          <a:noFill/>
        </p:spPr>
        <p:txBody>
          <a:bodyPr wrap="square" lIns="0" rIns="0" tIns="0" bIns="0" anchor="t">
            <a:spAutoFit/>
          </a:bodyPr>
          <a:lstStyle/>
          <a:p>
            <a:pPr algn="l"/>
            <a:r>
              <a:rPr sz="2800" b="0">
                <a:solidFill>
                  <a:srgbClr val="E7E8EA"/>
                </a:solidFill>
                <a:latin typeface="Instrument Sans"/>
              </a:rPr>
              <a:t>First corridor: Rio–Miami. HackMeridian 2026, Scale track. Testnet build, test keys.</a:t>
            </a:r>
          </a:p>
        </p:txBody>
      </p:sp>
      <p:sp>
        <p:nvSpPr>
          <p:cNvPr id="104" name="Rectangle 103"/>
          <p:cNvSpPr/>
          <p:nvPr/>
        </p:nvSpPr>
        <p:spPr>
          <a:xfrm>
            <a:off x="12300000" y="3500000"/>
            <a:ext cx="5000000" cy="19050"/>
          </a:xfrm>
          <a:prstGeom prst="rect">
            <a:avLst/>
          </a:prstGeom>
          <a:solidFill>
            <a:srgbClr val="C6F24E"/>
          </a:solidFill>
          <a:ln>
            <a:noFill/>
          </a:ln>
        </p:spPr>
        <p:txBody>
          <a:bodyPr rtlCol="0" anchor="ctr"/>
          <a:lstStyle/>
          <a:p>
            <a:pPr algn="ctr"/>
          </a:p>
        </p:txBody>
      </p:sp>
      <p:sp>
        <p:nvSpPr>
          <p:cNvPr id="105" name="Oval 104"/>
          <p:cNvSpPr/>
          <p:nvPr/>
        </p:nvSpPr>
        <p:spPr>
          <a:xfrm>
            <a:off x="13205000" y="3414525"/>
            <a:ext cx="190000" cy="190000"/>
          </a:xfrm>
          <a:prstGeom prst="ellipse">
            <a:avLst/>
          </a:prstGeom>
          <a:solidFill>
            <a:srgbClr val="C6F24E"/>
          </a:solidFill>
          <a:ln>
            <a:noFill/>
          </a:ln>
        </p:spPr>
        <p:txBody>
          <a:bodyPr rtlCol="0" anchor="ctr"/>
          <a:lstStyle/>
          <a:p>
            <a:pPr algn="ctr"/>
          </a:p>
        </p:txBody>
      </p:sp>
      <p:sp>
        <p:nvSpPr>
          <p:cNvPr id="106" name="Oval 105"/>
          <p:cNvSpPr/>
          <p:nvPr/>
        </p:nvSpPr>
        <p:spPr>
          <a:xfrm>
            <a:off x="14205000" y="3414525"/>
            <a:ext cx="190000" cy="190000"/>
          </a:xfrm>
          <a:prstGeom prst="ellipse">
            <a:avLst/>
          </a:prstGeom>
          <a:solidFill>
            <a:srgbClr val="C6F24E"/>
          </a:solidFill>
          <a:ln>
            <a:noFill/>
          </a:ln>
        </p:spPr>
        <p:txBody>
          <a:bodyPr rtlCol="0" anchor="ctr"/>
          <a:lstStyle/>
          <a:p>
            <a:pPr algn="ctr"/>
          </a:p>
        </p:txBody>
      </p:sp>
      <p:sp>
        <p:nvSpPr>
          <p:cNvPr id="107" name="Oval 106"/>
          <p:cNvSpPr/>
          <p:nvPr/>
        </p:nvSpPr>
        <p:spPr>
          <a:xfrm>
            <a:off x="15205000" y="3414525"/>
            <a:ext cx="190000" cy="190000"/>
          </a:xfrm>
          <a:prstGeom prst="ellipse">
            <a:avLst/>
          </a:prstGeom>
          <a:solidFill>
            <a:srgbClr val="C6F24E"/>
          </a:solidFill>
          <a:ln>
            <a:noFill/>
          </a:ln>
        </p:spPr>
        <p:txBody>
          <a:bodyPr rtlCol="0" anchor="ctr"/>
          <a:lstStyle/>
          <a:p>
            <a:pPr algn="ctr"/>
          </a:p>
        </p:txBody>
      </p:sp>
      <p:sp>
        <p:nvSpPr>
          <p:cNvPr id="108" name="Oval 107"/>
          <p:cNvSpPr/>
          <p:nvPr/>
        </p:nvSpPr>
        <p:spPr>
          <a:xfrm>
            <a:off x="16205000" y="3414525"/>
            <a:ext cx="190000" cy="190000"/>
          </a:xfrm>
          <a:prstGeom prst="ellipse">
            <a:avLst/>
          </a:prstGeom>
          <a:solidFill>
            <a:srgbClr val="C6F24E"/>
          </a:solidFill>
          <a:ln>
            <a:noFill/>
          </a:ln>
        </p:spPr>
        <p:txBody>
          <a:bodyPr rtlCol="0" anchor="ctr"/>
          <a:lstStyle/>
          <a:p>
            <a:pPr algn="ctr"/>
          </a:p>
        </p:txBody>
      </p:sp>
      <p:sp>
        <p:nvSpPr>
          <p:cNvPr id="109" name="Oval 108"/>
          <p:cNvSpPr/>
          <p:nvPr/>
        </p:nvSpPr>
        <p:spPr>
          <a:xfrm>
            <a:off x="12150000" y="3359525"/>
            <a:ext cx="300000" cy="300000"/>
          </a:xfrm>
          <a:prstGeom prst="ellipse">
            <a:avLst/>
          </a:prstGeom>
          <a:solidFill>
            <a:srgbClr val="C6F24E"/>
          </a:solidFill>
          <a:ln>
            <a:noFill/>
          </a:ln>
        </p:spPr>
        <p:txBody>
          <a:bodyPr rtlCol="0" anchor="ctr"/>
          <a:lstStyle/>
          <a:p>
            <a:pPr algn="ctr"/>
          </a:p>
        </p:txBody>
      </p:sp>
      <p:sp>
        <p:nvSpPr>
          <p:cNvPr id="110" name="Oval 109"/>
          <p:cNvSpPr/>
          <p:nvPr/>
        </p:nvSpPr>
        <p:spPr>
          <a:xfrm>
            <a:off x="17150000" y="3359525"/>
            <a:ext cx="300000" cy="300000"/>
          </a:xfrm>
          <a:prstGeom prst="ellipse">
            <a:avLst/>
          </a:prstGeom>
          <a:solidFill>
            <a:srgbClr val="C6F24E"/>
          </a:solidFill>
          <a:ln>
            <a:noFill/>
          </a:ln>
        </p:spPr>
        <p:txBody>
          <a:bodyPr rtlCol="0" anchor="ctr"/>
          <a:lstStyle/>
          <a:p>
            <a:pPr algn="ctr"/>
          </a:p>
        </p:txBody>
      </p:sp>
      <p:sp>
        <p:nvSpPr>
          <p:cNvPr id="111" name="TextBox 110"/>
          <p:cNvSpPr txBox="1"/>
          <p:nvPr/>
        </p:nvSpPr>
        <p:spPr>
          <a:xfrm>
            <a:off x="12300000" y="3750000"/>
            <a:ext cx="2400000" cy="330000"/>
          </a:xfrm>
          <a:prstGeom prst="rect">
            <a:avLst/>
          </a:prstGeom>
          <a:noFill/>
        </p:spPr>
        <p:txBody>
          <a:bodyPr wrap="square" lIns="0" rIns="0" tIns="0" bIns="0" anchor="t">
            <a:spAutoFit/>
          </a:bodyPr>
          <a:lstStyle/>
          <a:p>
            <a:pPr algn="l"/>
            <a:r>
              <a:rPr sz="2200" b="1">
                <a:solidFill>
                  <a:srgbClr val="A3A8B0"/>
                </a:solidFill>
                <a:latin typeface="JetBrains Mono"/>
              </a:rPr>
              <a:t>RIO</a:t>
            </a:r>
          </a:p>
        </p:txBody>
      </p:sp>
      <p:sp>
        <p:nvSpPr>
          <p:cNvPr id="112" name="TextBox 111"/>
          <p:cNvSpPr txBox="1"/>
          <p:nvPr/>
        </p:nvSpPr>
        <p:spPr>
          <a:xfrm>
            <a:off x="14900000" y="3750000"/>
            <a:ext cx="2400000" cy="330000"/>
          </a:xfrm>
          <a:prstGeom prst="rect">
            <a:avLst/>
          </a:prstGeom>
          <a:noFill/>
        </p:spPr>
        <p:txBody>
          <a:bodyPr wrap="square" lIns="0" rIns="0" tIns="0" bIns="0" anchor="t">
            <a:spAutoFit/>
          </a:bodyPr>
          <a:lstStyle/>
          <a:p>
            <a:pPr algn="r"/>
            <a:r>
              <a:rPr sz="2200" b="1">
                <a:solidFill>
                  <a:srgbClr val="A3A8B0"/>
                </a:solidFill>
                <a:latin typeface="JetBrains Mono"/>
              </a:rPr>
              <a:t>MIAMI</a:t>
            </a:r>
          </a:p>
        </p:txBody>
      </p:sp>
      <p:sp>
        <p:nvSpPr>
          <p:cNvPr id="113" name="TextBox 112"/>
          <p:cNvSpPr txBox="1"/>
          <p:nvPr/>
        </p:nvSpPr>
        <p:spPr>
          <a:xfrm>
            <a:off x="12300000" y="4350000"/>
            <a:ext cx="5073600" cy="900000"/>
          </a:xfrm>
          <a:prstGeom prst="rect">
            <a:avLst/>
          </a:prstGeom>
          <a:noFill/>
        </p:spPr>
        <p:txBody>
          <a:bodyPr wrap="square" lIns="0" rIns="0" tIns="0" bIns="0" anchor="t">
            <a:spAutoFit/>
          </a:bodyPr>
          <a:lstStyle/>
          <a:p>
            <a:pPr algn="l"/>
            <a:r>
              <a:rPr sz="2200" b="0">
                <a:solidFill>
                  <a:srgbClr val="A3A8B0"/>
                </a:solidFill>
                <a:latin typeface="JetBrains Mono"/>
              </a:rPr>
              <a:t>github.com/</a:t>
            </a:r>
          </a:p>
          <a:p>
            <a:pPr algn="l"/>
            <a:r>
              <a:rPr sz="2200" b="0">
                <a:solidFill>
                  <a:srgbClr val="A3A8B0"/>
                </a:solidFill>
                <a:latin typeface="JetBrains Mono"/>
              </a:rPr>
              <a:t>pwsaragossy/rio-miami-rail</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105" name="Shape 105"/>
        <p:cNvGrpSpPr/>
        <p:nvPr/>
      </p:nvGrpSpPr>
      <p:grpSpPr>
        <a:xfrm>
          <a:off x="0" y="0"/>
          <a:ext cx="0" cy="0"/>
          <a:chOff x="0" y="0"/>
          <a:chExt cx="0" cy="0"/>
        </a:xfrm>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PLATFORM 02 / 09</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NEXT ▸ PMF</a:t>
            </a:r>
            <a:endParaRPr/>
          </a:p>
        </p:txBody>
      </p:sp>
      <p:sp>
        <p:nvSpPr>
          <p:cNvPr id="110" name="Google Shape;110;p14"/>
          <p:cNvSpPr/>
          <p:nvPr/>
        </p:nvSpPr>
        <p:spPr>
          <a:xfrm>
            <a:off x="914400" y="1417320"/>
            <a:ext cx="3500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F0F0F"/>
                </a:solidFill>
                <a:latin typeface="JetBrains Mono"/>
                <a:ea typeface="JetBrains Mono"/>
                <a:cs typeface="JetBrains Mono"/>
                <a:sym typeface="JetBrains Mono"/>
              </a:rPr>
              <a:t>PITCH STEP 01 / 04</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descr="hm-black.png" id="123" name="Google Shape;123;p14"/>
          <p:cNvPicPr preferRelativeResize="0"/>
          <p:nvPr/>
        </p:nvPicPr>
        <p:blipFill rotWithShape="1">
          <a:blip r:embed="rId3">
            <a:alphaModFix/>
          </a:blip>
          <a:srcRect b="0" l="0" r="0" t="0"/>
          <a:stretch/>
        </p:blipFill>
        <p:spPr>
          <a:xfrm>
            <a:off x="14859000" y="9171432"/>
            <a:ext cx="2517969" cy="438912"/>
          </a:xfrm>
          <a:prstGeom prst="rect">
            <a:avLst/>
          </a:prstGeom>
          <a:noFill/>
          <a:ln>
            <a:noFill/>
          </a:ln>
        </p:spPr>
      </p:pic>
      <p:sp>
        <p:nvSpPr>
          <p:cNvPr id="124" name="TextBox 123"/>
          <p:cNvSpPr txBox="1"/>
          <p:nvPr/>
        </p:nvSpPr>
        <p:spPr>
          <a:xfrm>
            <a:off x="914400" y="2103120"/>
            <a:ext cx="16459200" cy="900000"/>
          </a:xfrm>
          <a:prstGeom prst="rect">
            <a:avLst/>
          </a:prstGeom>
          <a:noFill/>
        </p:spPr>
        <p:txBody>
          <a:bodyPr wrap="square" lIns="0" rIns="0" tIns="0" bIns="0" anchor="t">
            <a:spAutoFit/>
          </a:bodyPr>
          <a:lstStyle/>
          <a:p>
            <a:pPr algn="l"/>
            <a:r>
              <a:rPr sz="5800" b="1">
                <a:solidFill>
                  <a:srgbClr val="0E0F11"/>
                </a:solidFill>
                <a:latin typeface="Inter Tight"/>
              </a:rPr>
              <a:t>Every handover, signed by both hands</a:t>
            </a:r>
          </a:p>
        </p:txBody>
      </p:sp>
      <p:sp>
        <p:nvSpPr>
          <p:cNvPr id="125" name="TextBox 124"/>
          <p:cNvSpPr txBox="1"/>
          <p:nvPr/>
        </p:nvSpPr>
        <p:spPr>
          <a:xfrm>
            <a:off x="914400" y="3500000"/>
            <a:ext cx="8300000" cy="2700000"/>
          </a:xfrm>
          <a:prstGeom prst="rect">
            <a:avLst/>
          </a:prstGeom>
          <a:noFill/>
        </p:spPr>
        <p:txBody>
          <a:bodyPr wrap="square" lIns="0" rIns="0" tIns="0" bIns="0" anchor="t">
            <a:spAutoFit/>
          </a:bodyPr>
          <a:lstStyle/>
          <a:p>
            <a:pPr algn="l"/>
            <a:r>
              <a:rPr sz="3000" b="1">
                <a:solidFill>
                  <a:srgbClr val="556F00"/>
                </a:solidFill>
                <a:latin typeface="JetBrains Mono"/>
              </a:rPr>
              <a:t>custody_registry</a:t>
            </a:r>
            <a:r>
              <a:rPr sz="3200" b="0">
                <a:solidFill>
                  <a:srgbClr val="0E0F11"/>
                </a:solidFill>
                <a:latin typeface="Instrument Sans"/>
              </a:rPr>
              <a:t>: outgoing and incoming custodian sign the same transaction.</a:t>
            </a:r>
          </a:p>
          <a:p>
            <a:pPr algn="l">
              <a:spcBef>
                <a:spcPts val="1400"/>
              </a:spcBef>
            </a:pPr>
            <a:r>
              <a:rPr sz="3200" b="0">
                <a:solidFill>
                  <a:srgbClr val="0E0F11"/>
                </a:solidFill>
                <a:latin typeface="Instrument Sans"/>
              </a:rPr>
              <a:t>The token stays with its holder in transit.</a:t>
            </a:r>
          </a:p>
          <a:p>
            <a:pPr algn="l">
              <a:spcBef>
                <a:spcPts val="1400"/>
              </a:spcBef>
            </a:pPr>
            <a:r>
              <a:rPr sz="3200" b="0">
                <a:solidFill>
                  <a:srgbClr val="0E0F11"/>
                </a:solidFill>
                <a:latin typeface="Instrument Sans"/>
              </a:rPr>
              <a:t>After Delivered, the operator burns it.</a:t>
            </a:r>
          </a:p>
        </p:txBody>
      </p:sp>
      <p:pic>
        <p:nvPicPr>
          <p:cNvPr id="126" name="Picture 125" descr="shot-handover-expert.png"/>
          <p:cNvPicPr>
            <a:picLocks noChangeAspect="1"/>
          </p:cNvPicPr>
          <p:nvPr/>
        </p:nvPicPr>
        <p:blipFill>
          <a:blip r:embed="rId4"/>
          <a:stretch>
            <a:fillRect/>
          </a:stretch>
        </p:blipFill>
        <p:spPr>
          <a:xfrm>
            <a:off x="9500000" y="3500000"/>
            <a:ext cx="7873600" cy="3012508"/>
          </a:xfrm>
          <a:prstGeom prst="rect">
            <a:avLst/>
          </a:prstGeom>
        </p:spPr>
      </p:pic>
      <p:sp>
        <p:nvSpPr>
          <p:cNvPr id="127" name="TextBox 126"/>
          <p:cNvSpPr txBox="1"/>
          <p:nvPr/>
        </p:nvSpPr>
        <p:spPr>
          <a:xfrm>
            <a:off x="9500000" y="6720000"/>
            <a:ext cx="7873600" cy="330000"/>
          </a:xfrm>
          <a:prstGeom prst="rect">
            <a:avLst/>
          </a:prstGeom>
          <a:noFill/>
        </p:spPr>
        <p:txBody>
          <a:bodyPr wrap="square" lIns="0" rIns="0" tIns="0" bIns="0" anchor="t">
            <a:spAutoFit/>
          </a:bodyPr>
          <a:lstStyle/>
          <a:p>
            <a:pPr algn="l"/>
            <a:r>
              <a:rPr sz="2000" b="0">
                <a:solidFill>
                  <a:srgbClr val="4D5560"/>
                </a:solidFill>
                <a:latin typeface="JetBrains Mono"/>
              </a:rPr>
              <a:t>Handover 1 on stellar.expert (testnet), hash 635c99ac…0bd38</a:t>
            </a:r>
          </a:p>
        </p:txBody>
      </p:sp>
      <p:sp>
        <p:nvSpPr>
          <p:cNvPr id="128" name="Rounded Rectangle 127"/>
          <p:cNvSpPr/>
          <p:nvPr/>
        </p:nvSpPr>
        <p:spPr>
          <a:xfrm>
            <a:off x="914400" y="7550000"/>
            <a:ext cx="4700000" cy="900000"/>
          </a:xfrm>
          <a:prstGeom prst="roundRect">
            <a:avLst>
              <a:gd name="adj" fmla="val 20000"/>
            </a:avLst>
          </a:prstGeom>
          <a:solidFill>
            <a:srgbClr val="FFFFFF"/>
          </a:solidFill>
          <a:ln w="19050">
            <a:solidFill>
              <a:srgbClr val="DFDDD6"/>
            </a:solidFill>
          </a:ln>
        </p:spPr>
        <p:txBody>
          <a:bodyPr rtlCol="0" anchor="ctr"/>
          <a:lstStyle/>
          <a:p>
            <a:pPr algn="ctr"/>
          </a:p>
        </p:txBody>
      </p:sp>
      <p:sp>
        <p:nvSpPr>
          <p:cNvPr id="129" name="TextBox 128"/>
          <p:cNvSpPr txBox="1"/>
          <p:nvPr/>
        </p:nvSpPr>
        <p:spPr>
          <a:xfrm>
            <a:off x="914400" y="7550000"/>
            <a:ext cx="4700000" cy="900000"/>
          </a:xfrm>
          <a:prstGeom prst="rect">
            <a:avLst/>
          </a:prstGeom>
          <a:noFill/>
        </p:spPr>
        <p:txBody>
          <a:bodyPr wrap="square" lIns="0" rIns="0" tIns="0" bIns="0" anchor="ctr">
            <a:spAutoFit/>
          </a:bodyPr>
          <a:lstStyle/>
          <a:p>
            <a:pPr algn="ctr"/>
            <a:r>
              <a:rPr sz="3000" b="1">
                <a:solidFill>
                  <a:srgbClr val="0E0F11"/>
                </a:solidFill>
                <a:latin typeface="Instrument Sans"/>
              </a:rPr>
              <a:t>Outgoing signs</a:t>
            </a:r>
          </a:p>
        </p:txBody>
      </p:sp>
      <p:sp>
        <p:nvSpPr>
          <p:cNvPr id="130" name="Rounded Rectangle 129"/>
          <p:cNvSpPr/>
          <p:nvPr/>
        </p:nvSpPr>
        <p:spPr>
          <a:xfrm>
            <a:off x="12673600" y="7550000"/>
            <a:ext cx="4700000" cy="900000"/>
          </a:xfrm>
          <a:prstGeom prst="roundRect">
            <a:avLst>
              <a:gd name="adj" fmla="val 20000"/>
            </a:avLst>
          </a:prstGeom>
          <a:solidFill>
            <a:srgbClr val="FFFFFF"/>
          </a:solidFill>
          <a:ln w="19050">
            <a:solidFill>
              <a:srgbClr val="DFDDD6"/>
            </a:solidFill>
          </a:ln>
        </p:spPr>
        <p:txBody>
          <a:bodyPr rtlCol="0" anchor="ctr"/>
          <a:lstStyle/>
          <a:p>
            <a:pPr algn="ctr"/>
          </a:p>
        </p:txBody>
      </p:sp>
      <p:sp>
        <p:nvSpPr>
          <p:cNvPr id="131" name="TextBox 130"/>
          <p:cNvSpPr txBox="1"/>
          <p:nvPr/>
        </p:nvSpPr>
        <p:spPr>
          <a:xfrm>
            <a:off x="12673600" y="7550000"/>
            <a:ext cx="4700000" cy="900000"/>
          </a:xfrm>
          <a:prstGeom prst="rect">
            <a:avLst/>
          </a:prstGeom>
          <a:noFill/>
        </p:spPr>
        <p:txBody>
          <a:bodyPr wrap="square" lIns="0" rIns="0" tIns="0" bIns="0" anchor="ctr">
            <a:spAutoFit/>
          </a:bodyPr>
          <a:lstStyle/>
          <a:p>
            <a:pPr algn="ctr"/>
            <a:r>
              <a:rPr sz="3000" b="1">
                <a:solidFill>
                  <a:srgbClr val="0E0F11"/>
                </a:solidFill>
                <a:latin typeface="Instrument Sans"/>
              </a:rPr>
              <a:t>Incoming signs</a:t>
            </a:r>
          </a:p>
        </p:txBody>
      </p:sp>
      <p:sp>
        <p:nvSpPr>
          <p:cNvPr id="132" name="Rounded Rectangle 131"/>
          <p:cNvSpPr/>
          <p:nvPr/>
        </p:nvSpPr>
        <p:spPr>
          <a:xfrm>
            <a:off x="5964400" y="7550000"/>
            <a:ext cx="6359200" cy="900000"/>
          </a:xfrm>
          <a:prstGeom prst="roundRect">
            <a:avLst>
              <a:gd name="adj" fmla="val 20000"/>
            </a:avLst>
          </a:prstGeom>
          <a:solidFill>
            <a:srgbClr val="C6F24E"/>
          </a:solidFill>
          <a:ln>
            <a:noFill/>
          </a:ln>
        </p:spPr>
        <p:txBody>
          <a:bodyPr rtlCol="0" anchor="ctr"/>
          <a:lstStyle/>
          <a:p>
            <a:pPr algn="ctr"/>
          </a:p>
        </p:txBody>
      </p:sp>
      <p:sp>
        <p:nvSpPr>
          <p:cNvPr id="133" name="TextBox 132"/>
          <p:cNvSpPr txBox="1"/>
          <p:nvPr/>
        </p:nvSpPr>
        <p:spPr>
          <a:xfrm>
            <a:off x="5964400" y="7550000"/>
            <a:ext cx="6359200" cy="900000"/>
          </a:xfrm>
          <a:prstGeom prst="rect">
            <a:avLst/>
          </a:prstGeom>
          <a:noFill/>
        </p:spPr>
        <p:txBody>
          <a:bodyPr wrap="square" lIns="0" rIns="0" tIns="0" bIns="0" anchor="ctr">
            <a:spAutoFit/>
          </a:bodyPr>
          <a:lstStyle/>
          <a:p>
            <a:pPr algn="ctr"/>
            <a:r>
              <a:rPr sz="3000" b="1">
                <a:solidFill>
                  <a:srgbClr val="0E0F11"/>
                </a:solidFill>
                <a:latin typeface="Instrument Sans"/>
              </a:rPr>
              <a:t>One transaction</a:t>
            </a:r>
          </a:p>
        </p:txBody>
      </p:sp>
      <p:sp>
        <p:nvSpPr>
          <p:cNvPr id="134" name="Rectangle 133"/>
          <p:cNvSpPr/>
          <p:nvPr/>
        </p:nvSpPr>
        <p:spPr>
          <a:xfrm>
            <a:off x="5614400" y="8000000"/>
            <a:ext cx="350000" cy="38100"/>
          </a:xfrm>
          <a:prstGeom prst="rect">
            <a:avLst/>
          </a:prstGeom>
          <a:solidFill>
            <a:srgbClr val="556F00"/>
          </a:solidFill>
          <a:ln>
            <a:noFill/>
          </a:ln>
        </p:spPr>
        <p:txBody>
          <a:bodyPr rtlCol="0" anchor="ctr"/>
          <a:lstStyle/>
          <a:p>
            <a:pPr algn="ctr"/>
          </a:p>
        </p:txBody>
      </p:sp>
      <p:sp>
        <p:nvSpPr>
          <p:cNvPr id="135" name="Rectangle 134"/>
          <p:cNvSpPr/>
          <p:nvPr/>
        </p:nvSpPr>
        <p:spPr>
          <a:xfrm>
            <a:off x="12323600" y="8000000"/>
            <a:ext cx="350000" cy="38100"/>
          </a:xfrm>
          <a:prstGeom prst="rect">
            <a:avLst/>
          </a:prstGeom>
          <a:solidFill>
            <a:srgbClr val="556F00"/>
          </a:solidFill>
          <a:ln>
            <a:noFill/>
          </a:ln>
        </p:spPr>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127" name="Shape 127"/>
        <p:cNvGrpSpPr/>
        <p:nvPr/>
      </p:nvGrpSpPr>
      <p:grpSpPr>
        <a:xfrm>
          <a:off x="0" y="0"/>
          <a:ext cx="0" cy="0"/>
          <a:chOff x="0" y="0"/>
          <a:chExt cx="0" cy="0"/>
        </a:xfrm>
      </p:grpSpPr>
      <p:sp>
        <p:nvSpPr>
          <p:cNvPr id="128" name="Google Shape;128;p15"/>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9" name="Google Shape;129;p15"/>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PLATFORM 03 / 09</a:t>
            </a:r>
            <a:endParaRPr/>
          </a:p>
        </p:txBody>
      </p:sp>
      <p:sp>
        <p:nvSpPr>
          <p:cNvPr id="130" name="Google Shape;130;p15"/>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HACKMERIDIAN 2026 · LISBON</a:t>
            </a:r>
            <a:endParaRPr/>
          </a:p>
        </p:txBody>
      </p:sp>
      <p:sp>
        <p:nvSpPr>
          <p:cNvPr id="131" name="Google Shape;131;p15"/>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NEXT ▸ TECHNICAL WORKFLOW</a:t>
            </a:r>
            <a:endParaRPr/>
          </a:p>
        </p:txBody>
      </p:sp>
      <p:sp>
        <p:nvSpPr>
          <p:cNvPr id="132" name="Google Shape;132;p15"/>
          <p:cNvSpPr/>
          <p:nvPr/>
        </p:nvSpPr>
        <p:spPr>
          <a:xfrm>
            <a:off x="914400" y="1417320"/>
            <a:ext cx="3500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F0F0F"/>
                </a:solidFill>
                <a:latin typeface="JetBrains Mono"/>
                <a:ea typeface="JetBrains Mono"/>
                <a:cs typeface="JetBrains Mono"/>
                <a:sym typeface="JetBrains Mono"/>
              </a:rPr>
              <a:t>PITCH STEP 02 / 04</a:t>
            </a:r>
            <a:endParaRPr/>
          </a:p>
        </p:txBody>
      </p:sp>
      <p:sp>
        <p:nvSpPr>
          <p:cNvPr id="143" name="Google Shape;143;p15"/>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44" name="Google Shape;144;p15"/>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descr="hm-black.png" id="145" name="Google Shape;145;p15"/>
          <p:cNvPicPr preferRelativeResize="0"/>
          <p:nvPr/>
        </p:nvPicPr>
        <p:blipFill rotWithShape="1">
          <a:blip r:embed="rId3">
            <a:alphaModFix/>
          </a:blip>
          <a:srcRect b="0" l="0" r="0" t="0"/>
          <a:stretch/>
        </p:blipFill>
        <p:spPr>
          <a:xfrm>
            <a:off x="14859000" y="9171432"/>
            <a:ext cx="2517969" cy="438912"/>
          </a:xfrm>
          <a:prstGeom prst="rect">
            <a:avLst/>
          </a:prstGeom>
          <a:noFill/>
          <a:ln>
            <a:noFill/>
          </a:ln>
        </p:spPr>
      </p:pic>
      <p:sp>
        <p:nvSpPr>
          <p:cNvPr id="146" name="TextBox 145"/>
          <p:cNvSpPr txBox="1"/>
          <p:nvPr/>
        </p:nvSpPr>
        <p:spPr>
          <a:xfrm>
            <a:off x="914400" y="2103120"/>
            <a:ext cx="16459200" cy="900000"/>
          </a:xfrm>
          <a:prstGeom prst="rect">
            <a:avLst/>
          </a:prstGeom>
          <a:noFill/>
        </p:spPr>
        <p:txBody>
          <a:bodyPr wrap="square" lIns="0" rIns="0" tIns="0" bIns="0" anchor="t">
            <a:spAutoFit/>
          </a:bodyPr>
          <a:lstStyle/>
          <a:p>
            <a:pPr algn="l"/>
            <a:r>
              <a:rPr sz="5800" b="1">
                <a:solidFill>
                  <a:srgbClr val="0E0F11"/>
                </a:solidFill>
                <a:latin typeface="Inter Tight"/>
              </a:rPr>
              <a:t>Who holds the cargo right now?</a:t>
            </a:r>
          </a:p>
        </p:txBody>
      </p:sp>
      <p:sp>
        <p:nvSpPr>
          <p:cNvPr id="147" name="TextBox 146"/>
          <p:cNvSpPr txBox="1"/>
          <p:nvPr/>
        </p:nvSpPr>
        <p:spPr>
          <a:xfrm>
            <a:off x="914400" y="3500000"/>
            <a:ext cx="15500000" cy="2400000"/>
          </a:xfrm>
          <a:prstGeom prst="rect">
            <a:avLst/>
          </a:prstGeom>
          <a:noFill/>
        </p:spPr>
        <p:txBody>
          <a:bodyPr wrap="square" lIns="0" rIns="0" tIns="0" bIns="0" anchor="t">
            <a:spAutoFit/>
          </a:bodyPr>
          <a:lstStyle/>
          <a:p>
            <a:pPr algn="l"/>
            <a:r>
              <a:rPr sz="3400" b="0">
                <a:solidFill>
                  <a:srgbClr val="0E0F11"/>
                </a:solidFill>
                <a:latin typeface="Instrument Sans"/>
              </a:rPr>
              <a:t>A shipment changes hands several times: warehouse, port, carrier, customs.</a:t>
            </a:r>
          </a:p>
          <a:p>
            <a:pPr algn="l">
              <a:spcBef>
                <a:spcPts val="1600"/>
              </a:spcBef>
            </a:pPr>
            <a:r>
              <a:rPr sz="3400" b="0">
                <a:solidFill>
                  <a:srgbClr val="0E0F11"/>
                </a:solidFill>
                <a:latin typeface="Instrument Sans"/>
              </a:rPr>
              <a:t>Handovers are mostly paper or sit in one operator’s system.</a:t>
            </a:r>
          </a:p>
          <a:p>
            <a:pPr algn="l">
              <a:spcBef>
                <a:spcPts val="1600"/>
              </a:spcBef>
            </a:pPr>
            <a:r>
              <a:rPr sz="3400" b="0">
                <a:solidFill>
                  <a:srgbClr val="0E0F11"/>
                </a:solidFill>
                <a:latin typeface="Instrument Sans"/>
              </a:rPr>
              <a:t>Our hypothesis: a financier cannot easily see who holds it.</a:t>
            </a:r>
          </a:p>
        </p:txBody>
      </p:sp>
      <p:sp>
        <p:nvSpPr>
          <p:cNvPr id="148" name="Rectangle 147"/>
          <p:cNvSpPr/>
          <p:nvPr/>
        </p:nvSpPr>
        <p:spPr>
          <a:xfrm>
            <a:off x="1214400" y="6700000"/>
            <a:ext cx="15859200" cy="25400"/>
          </a:xfrm>
          <a:prstGeom prst="rect">
            <a:avLst/>
          </a:prstGeom>
          <a:solidFill>
            <a:srgbClr val="556F00"/>
          </a:solidFill>
          <a:ln>
            <a:noFill/>
          </a:ln>
        </p:spPr>
        <p:txBody>
          <a:bodyPr rtlCol="0" anchor="ctr"/>
          <a:lstStyle/>
          <a:p>
            <a:pPr algn="ctr"/>
          </a:p>
        </p:txBody>
      </p:sp>
      <p:sp>
        <p:nvSpPr>
          <p:cNvPr id="149" name="Oval 148"/>
          <p:cNvSpPr/>
          <p:nvPr/>
        </p:nvSpPr>
        <p:spPr>
          <a:xfrm>
            <a:off x="3046800" y="6562700"/>
            <a:ext cx="300000" cy="300000"/>
          </a:xfrm>
          <a:prstGeom prst="ellipse">
            <a:avLst/>
          </a:prstGeom>
          <a:solidFill>
            <a:srgbClr val="556F00"/>
          </a:solidFill>
          <a:ln>
            <a:noFill/>
          </a:ln>
        </p:spPr>
        <p:txBody>
          <a:bodyPr rtlCol="0" anchor="ctr"/>
          <a:lstStyle/>
          <a:p>
            <a:pPr algn="ctr"/>
          </a:p>
        </p:txBody>
      </p:sp>
      <p:sp>
        <p:nvSpPr>
          <p:cNvPr id="150" name="TextBox 149"/>
          <p:cNvSpPr txBox="1"/>
          <p:nvPr/>
        </p:nvSpPr>
        <p:spPr>
          <a:xfrm>
            <a:off x="1496800" y="6960000"/>
            <a:ext cx="3400000" cy="360000"/>
          </a:xfrm>
          <a:prstGeom prst="rect">
            <a:avLst/>
          </a:prstGeom>
          <a:noFill/>
        </p:spPr>
        <p:txBody>
          <a:bodyPr wrap="square" lIns="0" rIns="0" tIns="0" bIns="0" anchor="t">
            <a:spAutoFit/>
          </a:bodyPr>
          <a:lstStyle/>
          <a:p>
            <a:pPr algn="ctr"/>
            <a:r>
              <a:rPr sz="2600" b="1">
                <a:solidFill>
                  <a:srgbClr val="0E0F11"/>
                </a:solidFill>
                <a:latin typeface="JetBrains Mono"/>
              </a:rPr>
              <a:t>Warehouse</a:t>
            </a:r>
          </a:p>
        </p:txBody>
      </p:sp>
      <p:sp>
        <p:nvSpPr>
          <p:cNvPr id="151" name="Oval 150"/>
          <p:cNvSpPr/>
          <p:nvPr/>
        </p:nvSpPr>
        <p:spPr>
          <a:xfrm>
            <a:off x="7011600" y="6562700"/>
            <a:ext cx="300000" cy="300000"/>
          </a:xfrm>
          <a:prstGeom prst="ellipse">
            <a:avLst/>
          </a:prstGeom>
          <a:solidFill>
            <a:srgbClr val="556F00"/>
          </a:solidFill>
          <a:ln>
            <a:noFill/>
          </a:ln>
        </p:spPr>
        <p:txBody>
          <a:bodyPr rtlCol="0" anchor="ctr"/>
          <a:lstStyle/>
          <a:p>
            <a:pPr algn="ctr"/>
          </a:p>
        </p:txBody>
      </p:sp>
      <p:sp>
        <p:nvSpPr>
          <p:cNvPr id="152" name="TextBox 151"/>
          <p:cNvSpPr txBox="1"/>
          <p:nvPr/>
        </p:nvSpPr>
        <p:spPr>
          <a:xfrm>
            <a:off x="5461600" y="6960000"/>
            <a:ext cx="3400000" cy="360000"/>
          </a:xfrm>
          <a:prstGeom prst="rect">
            <a:avLst/>
          </a:prstGeom>
          <a:noFill/>
        </p:spPr>
        <p:txBody>
          <a:bodyPr wrap="square" lIns="0" rIns="0" tIns="0" bIns="0" anchor="t">
            <a:spAutoFit/>
          </a:bodyPr>
          <a:lstStyle/>
          <a:p>
            <a:pPr algn="ctr"/>
            <a:r>
              <a:rPr sz="2600" b="1">
                <a:solidFill>
                  <a:srgbClr val="0E0F11"/>
                </a:solidFill>
                <a:latin typeface="JetBrains Mono"/>
              </a:rPr>
              <a:t>Port</a:t>
            </a:r>
          </a:p>
        </p:txBody>
      </p:sp>
      <p:sp>
        <p:nvSpPr>
          <p:cNvPr id="153" name="Oval 152"/>
          <p:cNvSpPr/>
          <p:nvPr/>
        </p:nvSpPr>
        <p:spPr>
          <a:xfrm>
            <a:off x="10976400" y="6562700"/>
            <a:ext cx="300000" cy="300000"/>
          </a:xfrm>
          <a:prstGeom prst="ellipse">
            <a:avLst/>
          </a:prstGeom>
          <a:solidFill>
            <a:srgbClr val="556F00"/>
          </a:solidFill>
          <a:ln>
            <a:noFill/>
          </a:ln>
        </p:spPr>
        <p:txBody>
          <a:bodyPr rtlCol="0" anchor="ctr"/>
          <a:lstStyle/>
          <a:p>
            <a:pPr algn="ctr"/>
          </a:p>
        </p:txBody>
      </p:sp>
      <p:sp>
        <p:nvSpPr>
          <p:cNvPr id="154" name="TextBox 153"/>
          <p:cNvSpPr txBox="1"/>
          <p:nvPr/>
        </p:nvSpPr>
        <p:spPr>
          <a:xfrm>
            <a:off x="9426400" y="6960000"/>
            <a:ext cx="3400000" cy="360000"/>
          </a:xfrm>
          <a:prstGeom prst="rect">
            <a:avLst/>
          </a:prstGeom>
          <a:noFill/>
        </p:spPr>
        <p:txBody>
          <a:bodyPr wrap="square" lIns="0" rIns="0" tIns="0" bIns="0" anchor="t">
            <a:spAutoFit/>
          </a:bodyPr>
          <a:lstStyle/>
          <a:p>
            <a:pPr algn="ctr"/>
            <a:r>
              <a:rPr sz="2600" b="1">
                <a:solidFill>
                  <a:srgbClr val="0E0F11"/>
                </a:solidFill>
                <a:latin typeface="JetBrains Mono"/>
              </a:rPr>
              <a:t>Carrier</a:t>
            </a:r>
          </a:p>
        </p:txBody>
      </p:sp>
      <p:sp>
        <p:nvSpPr>
          <p:cNvPr id="155" name="Oval 154"/>
          <p:cNvSpPr/>
          <p:nvPr/>
        </p:nvSpPr>
        <p:spPr>
          <a:xfrm>
            <a:off x="14941200" y="6562700"/>
            <a:ext cx="300000" cy="300000"/>
          </a:xfrm>
          <a:prstGeom prst="ellipse">
            <a:avLst/>
          </a:prstGeom>
          <a:solidFill>
            <a:srgbClr val="556F00"/>
          </a:solidFill>
          <a:ln>
            <a:noFill/>
          </a:ln>
        </p:spPr>
        <p:txBody>
          <a:bodyPr rtlCol="0" anchor="ctr"/>
          <a:lstStyle/>
          <a:p>
            <a:pPr algn="ctr"/>
          </a:p>
        </p:txBody>
      </p:sp>
      <p:sp>
        <p:nvSpPr>
          <p:cNvPr id="156" name="TextBox 155"/>
          <p:cNvSpPr txBox="1"/>
          <p:nvPr/>
        </p:nvSpPr>
        <p:spPr>
          <a:xfrm>
            <a:off x="13391200" y="6960000"/>
            <a:ext cx="3400000" cy="360000"/>
          </a:xfrm>
          <a:prstGeom prst="rect">
            <a:avLst/>
          </a:prstGeom>
          <a:noFill/>
        </p:spPr>
        <p:txBody>
          <a:bodyPr wrap="square" lIns="0" rIns="0" tIns="0" bIns="0" anchor="t">
            <a:spAutoFit/>
          </a:bodyPr>
          <a:lstStyle/>
          <a:p>
            <a:pPr algn="ctr"/>
            <a:r>
              <a:rPr sz="2600" b="1">
                <a:solidFill>
                  <a:srgbClr val="0E0F11"/>
                </a:solidFill>
                <a:latin typeface="JetBrains Mono"/>
              </a:rPr>
              <a:t>Customs</a:t>
            </a:r>
          </a:p>
        </p:txBody>
      </p:sp>
      <p:sp>
        <p:nvSpPr>
          <p:cNvPr id="157" name="TextBox 156"/>
          <p:cNvSpPr txBox="1"/>
          <p:nvPr/>
        </p:nvSpPr>
        <p:spPr>
          <a:xfrm>
            <a:off x="914400" y="8050000"/>
            <a:ext cx="16459200" cy="700000"/>
          </a:xfrm>
          <a:prstGeom prst="rect">
            <a:avLst/>
          </a:prstGeom>
          <a:noFill/>
        </p:spPr>
        <p:txBody>
          <a:bodyPr wrap="square" lIns="0" rIns="0" tIns="0" bIns="0" anchor="t">
            <a:spAutoFit/>
          </a:bodyPr>
          <a:lstStyle/>
          <a:p>
            <a:pPr algn="l"/>
            <a:r>
              <a:rPr sz="2000" b="0">
                <a:solidFill>
                  <a:srgbClr val="4D5560"/>
                </a:solidFill>
                <a:latin typeface="Instrument Sans"/>
              </a:rPr>
              <a:t>Context only: global trade finance gap US$2.5T (ADB Global Trade Finance Gap Survey, Dec 2025). Sizes the financing gap; not evidence of the custody pain.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0F11"/>
        </a:solidFill>
      </p:bgPr>
    </p:bg>
    <p:spTree>
      <p:nvGrpSpPr>
        <p:cNvPr id="149" name="Shape 149"/>
        <p:cNvGrpSpPr/>
        <p:nvPr/>
      </p:nvGrpSpPr>
      <p:grpSpPr>
        <a:xfrm>
          <a:off x="0" y="0"/>
          <a:ext cx="0" cy="0"/>
          <a:chOff x="0" y="0"/>
          <a:chExt cx="0" cy="0"/>
        </a:xfrm>
      </p:grpSpPr>
      <p:sp>
        <p:nvSpPr>
          <p:cNvPr id="150" name="Google Shape;150;p16"/>
          <p:cNvSpPr/>
          <p:nvPr/>
        </p:nvSpPr>
        <p:spPr>
          <a:xfrm>
            <a:off x="0" y="0"/>
            <a:ext cx="18288000" cy="731520"/>
          </a:xfrm>
          <a:prstGeom prst="rect">
            <a:avLst/>
          </a:prstGeom>
          <a:solidFill>
            <a:srgbClr val="13151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51" name="Google Shape;151;p16"/>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PLATFORM 04 / 09</a:t>
            </a:r>
            <a:endParaRPr/>
          </a:p>
        </p:txBody>
      </p:sp>
      <p:sp>
        <p:nvSpPr>
          <p:cNvPr id="152" name="Google Shape;152;p16"/>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HACKMERIDIAN 2026 · LISBON</a:t>
            </a:r>
            <a:endParaRPr/>
          </a:p>
        </p:txBody>
      </p:sp>
      <p:sp>
        <p:nvSpPr>
          <p:cNvPr id="153" name="Google Shape;153;p16"/>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NEXT ▸ PRIOR WORK</a:t>
            </a:r>
            <a:endParaRPr/>
          </a:p>
        </p:txBody>
      </p:sp>
      <p:sp>
        <p:nvSpPr>
          <p:cNvPr id="154" name="Google Shape;154;p16"/>
          <p:cNvSpPr/>
          <p:nvPr/>
        </p:nvSpPr>
        <p:spPr>
          <a:xfrm>
            <a:off x="914400" y="1417320"/>
            <a:ext cx="3500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F0F0F"/>
                </a:solidFill>
                <a:latin typeface="JetBrains Mono"/>
                <a:ea typeface="JetBrains Mono"/>
                <a:cs typeface="JetBrains Mono"/>
                <a:sym typeface="JetBrains Mono"/>
              </a:rPr>
              <a:t>PITCH STEP 03 / 04</a:t>
            </a:r>
            <a:endParaRPr/>
          </a:p>
        </p:txBody>
      </p:sp>
      <p:sp>
        <p:nvSpPr>
          <p:cNvPr id="165" name="Google Shape;165;p16"/>
          <p:cNvSpPr/>
          <p:nvPr/>
        </p:nvSpPr>
        <p:spPr>
          <a:xfrm>
            <a:off x="914400" y="8915400"/>
            <a:ext cx="16459200" cy="13716"/>
          </a:xfrm>
          <a:prstGeom prst="rect">
            <a:avLst/>
          </a:prstGeom>
          <a:solidFill>
            <a:srgbClr val="1F232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66" name="Google Shape;166;p16"/>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A3A8B0"/>
                </a:solidFill>
                <a:latin typeface="JetBrains Mono"/>
                <a:ea typeface="JetBrains Mono"/>
                <a:cs typeface="JetBrains Mono"/>
                <a:sym typeface="JetBrains Mono"/>
              </a:rPr>
              <a:t>© 2026 HackMeridian · Lisbon  ·  #HackMeridian26</a:t>
            </a:r>
            <a:endParaRPr/>
          </a:p>
        </p:txBody>
      </p:sp>
      <p:pic>
        <p:nvPicPr>
          <p:cNvPr descr="hm-black.png" id="167" name="Google Shape;167;p16"/>
          <p:cNvPicPr preferRelativeResize="0"/>
          <p:nvPr/>
        </p:nvPicPr>
        <p:blipFill rotWithShape="1">
          <a:blip r:embed="rId4">
            <a:alphaModFix/>
          </a:blip>
          <a:srcRect b="0" l="0" r="0" t="0"/>
          <a:stretch/>
        </p:blipFill>
        <p:spPr>
          <a:xfrm>
            <a:off x="14859000" y="9171432"/>
            <a:ext cx="2517969" cy="438912"/>
          </a:xfrm>
          <a:prstGeom prst="rect">
            <a:avLst/>
          </a:prstGeom>
          <a:noFill/>
          <a:ln>
            <a:noFill/>
          </a:ln>
        </p:spPr>
      </p:pic>
      <p:sp>
        <p:nvSpPr>
          <p:cNvPr id="168" name="TextBox 167"/>
          <p:cNvSpPr txBox="1"/>
          <p:nvPr/>
        </p:nvSpPr>
        <p:spPr>
          <a:xfrm>
            <a:off x="914400" y="2103120"/>
            <a:ext cx="16459200" cy="900000"/>
          </a:xfrm>
          <a:prstGeom prst="rect">
            <a:avLst/>
          </a:prstGeom>
          <a:noFill/>
        </p:spPr>
        <p:txBody>
          <a:bodyPr wrap="square" lIns="0" rIns="0" tIns="0" bIns="0" anchor="t">
            <a:spAutoFit/>
          </a:bodyPr>
          <a:lstStyle/>
          <a:p>
            <a:pPr algn="l"/>
            <a:r>
              <a:rPr sz="5800" b="1">
                <a:solidFill>
                  <a:srgbClr val="E7E8EA"/>
                </a:solidFill>
                <a:latin typeface="Inter Tight"/>
              </a:rPr>
              <a:t>How it runs on Stellar</a:t>
            </a:r>
          </a:p>
        </p:txBody>
      </p:sp>
      <p:sp>
        <p:nvSpPr>
          <p:cNvPr id="169" name="Rectangle 168"/>
          <p:cNvSpPr/>
          <p:nvPr/>
        </p:nvSpPr>
        <p:spPr>
          <a:xfrm>
            <a:off x="914400" y="4125000"/>
            <a:ext cx="16459200" cy="25400"/>
          </a:xfrm>
          <a:prstGeom prst="rect">
            <a:avLst/>
          </a:prstGeom>
          <a:solidFill>
            <a:srgbClr val="1F2329"/>
          </a:solidFill>
          <a:ln>
            <a:noFill/>
          </a:ln>
        </p:spPr>
        <p:txBody>
          <a:bodyPr rtlCol="0" anchor="ctr"/>
          <a:lstStyle/>
          <a:p>
            <a:pPr algn="ctr"/>
          </a:p>
        </p:txBody>
      </p:sp>
      <p:sp>
        <p:nvSpPr>
          <p:cNvPr id="170" name="Rounded Rectangle 169"/>
          <p:cNvSpPr/>
          <p:nvPr/>
        </p:nvSpPr>
        <p:spPr>
          <a:xfrm>
            <a:off x="914400" y="3500000"/>
            <a:ext cx="2150000" cy="1250000"/>
          </a:xfrm>
          <a:prstGeom prst="roundRect">
            <a:avLst>
              <a:gd name="adj" fmla="val 12000"/>
            </a:avLst>
          </a:prstGeom>
          <a:solidFill>
            <a:srgbClr val="131517"/>
          </a:solidFill>
          <a:ln w="25400">
            <a:solidFill>
              <a:srgbClr val="C6F24E"/>
            </a:solidFill>
          </a:ln>
        </p:spPr>
        <p:txBody>
          <a:bodyPr rtlCol="0" anchor="ctr"/>
          <a:lstStyle/>
          <a:p>
            <a:pPr algn="ctr"/>
          </a:p>
        </p:txBody>
      </p:sp>
      <p:sp>
        <p:nvSpPr>
          <p:cNvPr id="171" name="TextBox 170"/>
          <p:cNvSpPr txBox="1"/>
          <p:nvPr/>
        </p:nvSpPr>
        <p:spPr>
          <a:xfrm>
            <a:off x="914400" y="3670000"/>
            <a:ext cx="2150000" cy="420000"/>
          </a:xfrm>
          <a:prstGeom prst="rect">
            <a:avLst/>
          </a:prstGeom>
          <a:noFill/>
        </p:spPr>
        <p:txBody>
          <a:bodyPr wrap="square" lIns="0" rIns="0" tIns="0" bIns="0" anchor="t">
            <a:spAutoFit/>
          </a:bodyPr>
          <a:lstStyle/>
          <a:p>
            <a:pPr algn="ctr"/>
            <a:r>
              <a:rPr sz="2400" b="1">
                <a:solidFill>
                  <a:srgbClr val="E7E8EA"/>
                </a:solidFill>
                <a:latin typeface="Instrument Sans"/>
              </a:rPr>
              <a:t>open</a:t>
            </a:r>
          </a:p>
        </p:txBody>
      </p:sp>
      <p:sp>
        <p:nvSpPr>
          <p:cNvPr id="172" name="TextBox 171"/>
          <p:cNvSpPr txBox="1"/>
          <p:nvPr/>
        </p:nvSpPr>
        <p:spPr>
          <a:xfrm>
            <a:off x="914400" y="4200000"/>
            <a:ext cx="2150000" cy="380000"/>
          </a:xfrm>
          <a:prstGeom prst="rect">
            <a:avLst/>
          </a:prstGeom>
          <a:noFill/>
        </p:spPr>
        <p:txBody>
          <a:bodyPr wrap="square" lIns="0" rIns="0" tIns="0" bIns="0" anchor="t">
            <a:spAutoFit/>
          </a:bodyPr>
          <a:lstStyle/>
          <a:p>
            <a:pPr algn="ctr"/>
            <a:r>
              <a:rPr sz="2200" b="0">
                <a:solidFill>
                  <a:srgbClr val="C6F24E"/>
                </a:solidFill>
                <a:latin typeface="JetBrains Mono"/>
              </a:rPr>
              <a:t>2b3d51f0</a:t>
            </a:r>
          </a:p>
        </p:txBody>
      </p:sp>
      <p:sp>
        <p:nvSpPr>
          <p:cNvPr id="173" name="Rounded Rectangle 172"/>
          <p:cNvSpPr/>
          <p:nvPr/>
        </p:nvSpPr>
        <p:spPr>
          <a:xfrm>
            <a:off x="3299266" y="3500000"/>
            <a:ext cx="2150000" cy="1250000"/>
          </a:xfrm>
          <a:prstGeom prst="roundRect">
            <a:avLst>
              <a:gd name="adj" fmla="val 12000"/>
            </a:avLst>
          </a:prstGeom>
          <a:solidFill>
            <a:srgbClr val="131517"/>
          </a:solidFill>
          <a:ln w="19050">
            <a:solidFill>
              <a:srgbClr val="1F2329"/>
            </a:solidFill>
          </a:ln>
        </p:spPr>
        <p:txBody>
          <a:bodyPr rtlCol="0" anchor="ctr"/>
          <a:lstStyle/>
          <a:p>
            <a:pPr algn="ctr"/>
          </a:p>
        </p:txBody>
      </p:sp>
      <p:sp>
        <p:nvSpPr>
          <p:cNvPr id="174" name="TextBox 173"/>
          <p:cNvSpPr txBox="1"/>
          <p:nvPr/>
        </p:nvSpPr>
        <p:spPr>
          <a:xfrm>
            <a:off x="3299266" y="3670000"/>
            <a:ext cx="2150000" cy="420000"/>
          </a:xfrm>
          <a:prstGeom prst="rect">
            <a:avLst/>
          </a:prstGeom>
          <a:noFill/>
        </p:spPr>
        <p:txBody>
          <a:bodyPr wrap="square" lIns="0" rIns="0" tIns="0" bIns="0" anchor="t">
            <a:spAutoFit/>
          </a:bodyPr>
          <a:lstStyle/>
          <a:p>
            <a:pPr algn="ctr"/>
            <a:r>
              <a:rPr sz="2400" b="1">
                <a:solidFill>
                  <a:srgbClr val="E7E8EA"/>
                </a:solidFill>
                <a:latin typeface="Instrument Sans"/>
              </a:rPr>
              <a:t>handover 1</a:t>
            </a:r>
          </a:p>
        </p:txBody>
      </p:sp>
      <p:sp>
        <p:nvSpPr>
          <p:cNvPr id="175" name="TextBox 174"/>
          <p:cNvSpPr txBox="1"/>
          <p:nvPr/>
        </p:nvSpPr>
        <p:spPr>
          <a:xfrm>
            <a:off x="3299266" y="4200000"/>
            <a:ext cx="2150000" cy="380000"/>
          </a:xfrm>
          <a:prstGeom prst="rect">
            <a:avLst/>
          </a:prstGeom>
          <a:noFill/>
        </p:spPr>
        <p:txBody>
          <a:bodyPr wrap="square" lIns="0" rIns="0" tIns="0" bIns="0" anchor="t">
            <a:spAutoFit/>
          </a:bodyPr>
          <a:lstStyle/>
          <a:p>
            <a:pPr algn="ctr"/>
            <a:r>
              <a:rPr sz="2200" b="0">
                <a:solidFill>
                  <a:srgbClr val="C6F24E"/>
                </a:solidFill>
                <a:latin typeface="JetBrains Mono"/>
              </a:rPr>
              <a:t>635c99ac</a:t>
            </a:r>
          </a:p>
        </p:txBody>
      </p:sp>
      <p:sp>
        <p:nvSpPr>
          <p:cNvPr id="176" name="Rounded Rectangle 175"/>
          <p:cNvSpPr/>
          <p:nvPr/>
        </p:nvSpPr>
        <p:spPr>
          <a:xfrm>
            <a:off x="5684132" y="3500000"/>
            <a:ext cx="2150000" cy="1250000"/>
          </a:xfrm>
          <a:prstGeom prst="roundRect">
            <a:avLst>
              <a:gd name="adj" fmla="val 12000"/>
            </a:avLst>
          </a:prstGeom>
          <a:solidFill>
            <a:srgbClr val="131517"/>
          </a:solidFill>
          <a:ln w="19050">
            <a:solidFill>
              <a:srgbClr val="1F2329"/>
            </a:solidFill>
          </a:ln>
        </p:spPr>
        <p:txBody>
          <a:bodyPr rtlCol="0" anchor="ctr"/>
          <a:lstStyle/>
          <a:p>
            <a:pPr algn="ctr"/>
          </a:p>
        </p:txBody>
      </p:sp>
      <p:sp>
        <p:nvSpPr>
          <p:cNvPr id="177" name="TextBox 176"/>
          <p:cNvSpPr txBox="1"/>
          <p:nvPr/>
        </p:nvSpPr>
        <p:spPr>
          <a:xfrm>
            <a:off x="5684132" y="3670000"/>
            <a:ext cx="2150000" cy="420000"/>
          </a:xfrm>
          <a:prstGeom prst="rect">
            <a:avLst/>
          </a:prstGeom>
          <a:noFill/>
        </p:spPr>
        <p:txBody>
          <a:bodyPr wrap="square" lIns="0" rIns="0" tIns="0" bIns="0" anchor="t">
            <a:spAutoFit/>
          </a:bodyPr>
          <a:lstStyle/>
          <a:p>
            <a:pPr algn="ctr"/>
            <a:r>
              <a:rPr sz="2400" b="1">
                <a:solidFill>
                  <a:srgbClr val="E7E8EA"/>
                </a:solidFill>
                <a:latin typeface="Instrument Sans"/>
              </a:rPr>
              <a:t>handover 2</a:t>
            </a:r>
          </a:p>
        </p:txBody>
      </p:sp>
      <p:sp>
        <p:nvSpPr>
          <p:cNvPr id="178" name="TextBox 177"/>
          <p:cNvSpPr txBox="1"/>
          <p:nvPr/>
        </p:nvSpPr>
        <p:spPr>
          <a:xfrm>
            <a:off x="5684132" y="4200000"/>
            <a:ext cx="2150000" cy="380000"/>
          </a:xfrm>
          <a:prstGeom prst="rect">
            <a:avLst/>
          </a:prstGeom>
          <a:noFill/>
        </p:spPr>
        <p:txBody>
          <a:bodyPr wrap="square" lIns="0" rIns="0" tIns="0" bIns="0" anchor="t">
            <a:spAutoFit/>
          </a:bodyPr>
          <a:lstStyle/>
          <a:p>
            <a:pPr algn="ctr"/>
            <a:r>
              <a:rPr sz="2200" b="0">
                <a:solidFill>
                  <a:srgbClr val="C6F24E"/>
                </a:solidFill>
                <a:latin typeface="JetBrains Mono"/>
              </a:rPr>
              <a:t>56a0f006</a:t>
            </a:r>
          </a:p>
        </p:txBody>
      </p:sp>
      <p:sp>
        <p:nvSpPr>
          <p:cNvPr id="179" name="Rounded Rectangle 178"/>
          <p:cNvSpPr/>
          <p:nvPr/>
        </p:nvSpPr>
        <p:spPr>
          <a:xfrm>
            <a:off x="8068998" y="3500000"/>
            <a:ext cx="2150000" cy="1250000"/>
          </a:xfrm>
          <a:prstGeom prst="roundRect">
            <a:avLst>
              <a:gd name="adj" fmla="val 12000"/>
            </a:avLst>
          </a:prstGeom>
          <a:solidFill>
            <a:srgbClr val="131517"/>
          </a:solidFill>
          <a:ln w="19050">
            <a:solidFill>
              <a:srgbClr val="1F2329"/>
            </a:solidFill>
          </a:ln>
        </p:spPr>
        <p:txBody>
          <a:bodyPr rtlCol="0" anchor="ctr"/>
          <a:lstStyle/>
          <a:p>
            <a:pPr algn="ctr"/>
          </a:p>
        </p:txBody>
      </p:sp>
      <p:sp>
        <p:nvSpPr>
          <p:cNvPr id="180" name="TextBox 179"/>
          <p:cNvSpPr txBox="1"/>
          <p:nvPr/>
        </p:nvSpPr>
        <p:spPr>
          <a:xfrm>
            <a:off x="8068998" y="3670000"/>
            <a:ext cx="2150000" cy="420000"/>
          </a:xfrm>
          <a:prstGeom prst="rect">
            <a:avLst/>
          </a:prstGeom>
          <a:noFill/>
        </p:spPr>
        <p:txBody>
          <a:bodyPr wrap="square" lIns="0" rIns="0" tIns="0" bIns="0" anchor="t">
            <a:spAutoFit/>
          </a:bodyPr>
          <a:lstStyle/>
          <a:p>
            <a:pPr algn="ctr"/>
            <a:r>
              <a:rPr sz="2400" b="1">
                <a:solidFill>
                  <a:srgbClr val="E7E8EA"/>
                </a:solidFill>
                <a:latin typeface="Instrument Sans"/>
              </a:rPr>
              <a:t>handover 3</a:t>
            </a:r>
          </a:p>
        </p:txBody>
      </p:sp>
      <p:sp>
        <p:nvSpPr>
          <p:cNvPr id="181" name="TextBox 180"/>
          <p:cNvSpPr txBox="1"/>
          <p:nvPr/>
        </p:nvSpPr>
        <p:spPr>
          <a:xfrm>
            <a:off x="8068998" y="4200000"/>
            <a:ext cx="2150000" cy="380000"/>
          </a:xfrm>
          <a:prstGeom prst="rect">
            <a:avLst/>
          </a:prstGeom>
          <a:noFill/>
        </p:spPr>
        <p:txBody>
          <a:bodyPr wrap="square" lIns="0" rIns="0" tIns="0" bIns="0" anchor="t">
            <a:spAutoFit/>
          </a:bodyPr>
          <a:lstStyle/>
          <a:p>
            <a:pPr algn="ctr"/>
            <a:r>
              <a:rPr sz="2200" b="0">
                <a:solidFill>
                  <a:srgbClr val="C6F24E"/>
                </a:solidFill>
                <a:latin typeface="JetBrains Mono"/>
              </a:rPr>
              <a:t>ac268a49</a:t>
            </a:r>
          </a:p>
        </p:txBody>
      </p:sp>
      <p:sp>
        <p:nvSpPr>
          <p:cNvPr id="182" name="Rounded Rectangle 181"/>
          <p:cNvSpPr/>
          <p:nvPr/>
        </p:nvSpPr>
        <p:spPr>
          <a:xfrm>
            <a:off x="10453864" y="3500000"/>
            <a:ext cx="2150000" cy="1250000"/>
          </a:xfrm>
          <a:prstGeom prst="roundRect">
            <a:avLst>
              <a:gd name="adj" fmla="val 12000"/>
            </a:avLst>
          </a:prstGeom>
          <a:solidFill>
            <a:srgbClr val="131517"/>
          </a:solidFill>
          <a:ln w="19050">
            <a:solidFill>
              <a:srgbClr val="1F2329"/>
            </a:solidFill>
          </a:ln>
        </p:spPr>
        <p:txBody>
          <a:bodyPr rtlCol="0" anchor="ctr"/>
          <a:lstStyle/>
          <a:p>
            <a:pPr algn="ctr"/>
          </a:p>
        </p:txBody>
      </p:sp>
      <p:sp>
        <p:nvSpPr>
          <p:cNvPr id="183" name="TextBox 182"/>
          <p:cNvSpPr txBox="1"/>
          <p:nvPr/>
        </p:nvSpPr>
        <p:spPr>
          <a:xfrm>
            <a:off x="10453864" y="3670000"/>
            <a:ext cx="2150000" cy="420000"/>
          </a:xfrm>
          <a:prstGeom prst="rect">
            <a:avLst/>
          </a:prstGeom>
          <a:noFill/>
        </p:spPr>
        <p:txBody>
          <a:bodyPr wrap="square" lIns="0" rIns="0" tIns="0" bIns="0" anchor="t">
            <a:spAutoFit/>
          </a:bodyPr>
          <a:lstStyle/>
          <a:p>
            <a:pPr algn="ctr"/>
            <a:r>
              <a:rPr sz="2400" b="1">
                <a:solidFill>
                  <a:srgbClr val="E7E8EA"/>
                </a:solidFill>
                <a:latin typeface="Instrument Sans"/>
              </a:rPr>
              <a:t>handover 4</a:t>
            </a:r>
          </a:p>
        </p:txBody>
      </p:sp>
      <p:sp>
        <p:nvSpPr>
          <p:cNvPr id="184" name="TextBox 183"/>
          <p:cNvSpPr txBox="1"/>
          <p:nvPr/>
        </p:nvSpPr>
        <p:spPr>
          <a:xfrm>
            <a:off x="10453864" y="4200000"/>
            <a:ext cx="2150000" cy="380000"/>
          </a:xfrm>
          <a:prstGeom prst="rect">
            <a:avLst/>
          </a:prstGeom>
          <a:noFill/>
        </p:spPr>
        <p:txBody>
          <a:bodyPr wrap="square" lIns="0" rIns="0" tIns="0" bIns="0" anchor="t">
            <a:spAutoFit/>
          </a:bodyPr>
          <a:lstStyle/>
          <a:p>
            <a:pPr algn="ctr"/>
            <a:r>
              <a:rPr sz="2200" b="0">
                <a:solidFill>
                  <a:srgbClr val="C6F24E"/>
                </a:solidFill>
                <a:latin typeface="JetBrains Mono"/>
              </a:rPr>
              <a:t>5199d4fb</a:t>
            </a:r>
          </a:p>
        </p:txBody>
      </p:sp>
      <p:sp>
        <p:nvSpPr>
          <p:cNvPr id="185" name="Rounded Rectangle 184"/>
          <p:cNvSpPr/>
          <p:nvPr/>
        </p:nvSpPr>
        <p:spPr>
          <a:xfrm>
            <a:off x="12838730" y="3500000"/>
            <a:ext cx="2150000" cy="1250000"/>
          </a:xfrm>
          <a:prstGeom prst="roundRect">
            <a:avLst>
              <a:gd name="adj" fmla="val 12000"/>
            </a:avLst>
          </a:prstGeom>
          <a:solidFill>
            <a:srgbClr val="131517"/>
          </a:solidFill>
          <a:ln w="19050">
            <a:solidFill>
              <a:srgbClr val="1F2329"/>
            </a:solidFill>
          </a:ln>
        </p:spPr>
        <p:txBody>
          <a:bodyPr rtlCol="0" anchor="ctr"/>
          <a:lstStyle/>
          <a:p>
            <a:pPr algn="ctr"/>
          </a:p>
        </p:txBody>
      </p:sp>
      <p:sp>
        <p:nvSpPr>
          <p:cNvPr id="186" name="TextBox 185"/>
          <p:cNvSpPr txBox="1"/>
          <p:nvPr/>
        </p:nvSpPr>
        <p:spPr>
          <a:xfrm>
            <a:off x="12838730" y="3670000"/>
            <a:ext cx="2150000" cy="420000"/>
          </a:xfrm>
          <a:prstGeom prst="rect">
            <a:avLst/>
          </a:prstGeom>
          <a:noFill/>
        </p:spPr>
        <p:txBody>
          <a:bodyPr wrap="square" lIns="0" rIns="0" tIns="0" bIns="0" anchor="t">
            <a:spAutoFit/>
          </a:bodyPr>
          <a:lstStyle/>
          <a:p>
            <a:pPr algn="ctr"/>
            <a:r>
              <a:rPr sz="2400" b="1">
                <a:solidFill>
                  <a:srgbClr val="E7E8EA"/>
                </a:solidFill>
                <a:latin typeface="Instrument Sans"/>
              </a:rPr>
              <a:t>deliver</a:t>
            </a:r>
          </a:p>
        </p:txBody>
      </p:sp>
      <p:sp>
        <p:nvSpPr>
          <p:cNvPr id="187" name="TextBox 186"/>
          <p:cNvSpPr txBox="1"/>
          <p:nvPr/>
        </p:nvSpPr>
        <p:spPr>
          <a:xfrm>
            <a:off x="12838730" y="4200000"/>
            <a:ext cx="2150000" cy="380000"/>
          </a:xfrm>
          <a:prstGeom prst="rect">
            <a:avLst/>
          </a:prstGeom>
          <a:noFill/>
        </p:spPr>
        <p:txBody>
          <a:bodyPr wrap="square" lIns="0" rIns="0" tIns="0" bIns="0" anchor="t">
            <a:spAutoFit/>
          </a:bodyPr>
          <a:lstStyle/>
          <a:p>
            <a:pPr algn="ctr"/>
            <a:r>
              <a:rPr sz="2200" b="0">
                <a:solidFill>
                  <a:srgbClr val="C6F24E"/>
                </a:solidFill>
                <a:latin typeface="JetBrains Mono"/>
              </a:rPr>
              <a:t>919def8c</a:t>
            </a:r>
          </a:p>
        </p:txBody>
      </p:sp>
      <p:sp>
        <p:nvSpPr>
          <p:cNvPr id="188" name="Rounded Rectangle 187"/>
          <p:cNvSpPr/>
          <p:nvPr/>
        </p:nvSpPr>
        <p:spPr>
          <a:xfrm>
            <a:off x="15223596" y="3500000"/>
            <a:ext cx="2150000" cy="1250000"/>
          </a:xfrm>
          <a:prstGeom prst="roundRect">
            <a:avLst>
              <a:gd name="adj" fmla="val 12000"/>
            </a:avLst>
          </a:prstGeom>
          <a:solidFill>
            <a:srgbClr val="131517"/>
          </a:solidFill>
          <a:ln w="25400">
            <a:solidFill>
              <a:srgbClr val="C6F24E"/>
            </a:solidFill>
          </a:ln>
        </p:spPr>
        <p:txBody>
          <a:bodyPr rtlCol="0" anchor="ctr"/>
          <a:lstStyle/>
          <a:p>
            <a:pPr algn="ctr"/>
          </a:p>
        </p:txBody>
      </p:sp>
      <p:sp>
        <p:nvSpPr>
          <p:cNvPr id="189" name="TextBox 188"/>
          <p:cNvSpPr txBox="1"/>
          <p:nvPr/>
        </p:nvSpPr>
        <p:spPr>
          <a:xfrm>
            <a:off x="15223596" y="3670000"/>
            <a:ext cx="2150000" cy="420000"/>
          </a:xfrm>
          <a:prstGeom prst="rect">
            <a:avLst/>
          </a:prstGeom>
          <a:noFill/>
        </p:spPr>
        <p:txBody>
          <a:bodyPr wrap="square" lIns="0" rIns="0" tIns="0" bIns="0" anchor="t">
            <a:spAutoFit/>
          </a:bodyPr>
          <a:lstStyle/>
          <a:p>
            <a:pPr algn="ctr"/>
            <a:r>
              <a:rPr sz="2400" b="1">
                <a:solidFill>
                  <a:srgbClr val="E7E8EA"/>
                </a:solidFill>
                <a:latin typeface="Instrument Sans"/>
              </a:rPr>
              <a:t>burn</a:t>
            </a:r>
          </a:p>
        </p:txBody>
      </p:sp>
      <p:sp>
        <p:nvSpPr>
          <p:cNvPr id="190" name="TextBox 189"/>
          <p:cNvSpPr txBox="1"/>
          <p:nvPr/>
        </p:nvSpPr>
        <p:spPr>
          <a:xfrm>
            <a:off x="15223596" y="4200000"/>
            <a:ext cx="2150000" cy="380000"/>
          </a:xfrm>
          <a:prstGeom prst="rect">
            <a:avLst/>
          </a:prstGeom>
          <a:noFill/>
        </p:spPr>
        <p:txBody>
          <a:bodyPr wrap="square" lIns="0" rIns="0" tIns="0" bIns="0" anchor="t">
            <a:spAutoFit/>
          </a:bodyPr>
          <a:lstStyle/>
          <a:p>
            <a:pPr algn="ctr"/>
            <a:r>
              <a:rPr sz="2200" b="0">
                <a:solidFill>
                  <a:srgbClr val="C6F24E"/>
                </a:solidFill>
                <a:latin typeface="JetBrains Mono"/>
              </a:rPr>
              <a:t>864fd164</a:t>
            </a:r>
          </a:p>
        </p:txBody>
      </p:sp>
      <p:sp>
        <p:nvSpPr>
          <p:cNvPr id="191" name="TextBox 190"/>
          <p:cNvSpPr txBox="1"/>
          <p:nvPr/>
        </p:nvSpPr>
        <p:spPr>
          <a:xfrm>
            <a:off x="914400" y="5350000"/>
            <a:ext cx="3764800" cy="950000"/>
          </a:xfrm>
          <a:prstGeom prst="rect">
            <a:avLst/>
          </a:prstGeom>
          <a:noFill/>
        </p:spPr>
        <p:txBody>
          <a:bodyPr wrap="square" lIns="0" rIns="0" tIns="0" bIns="0" anchor="ctr">
            <a:spAutoFit/>
          </a:bodyPr>
          <a:lstStyle/>
          <a:p>
            <a:pPr algn="l"/>
            <a:r>
              <a:rPr sz="7200" b="1">
                <a:solidFill>
                  <a:srgbClr val="C6F24E"/>
                </a:solidFill>
                <a:latin typeface="Inter Tight"/>
              </a:rPr>
              <a:t>7</a:t>
            </a:r>
          </a:p>
        </p:txBody>
      </p:sp>
      <p:sp>
        <p:nvSpPr>
          <p:cNvPr id="192" name="TextBox 191"/>
          <p:cNvSpPr txBox="1"/>
          <p:nvPr/>
        </p:nvSpPr>
        <p:spPr>
          <a:xfrm>
            <a:off x="914400" y="6350000"/>
            <a:ext cx="3764800" cy="950000"/>
          </a:xfrm>
          <a:prstGeom prst="rect">
            <a:avLst/>
          </a:prstGeom>
          <a:noFill/>
        </p:spPr>
        <p:txBody>
          <a:bodyPr wrap="square" lIns="0" rIns="0" tIns="0" bIns="0" anchor="t">
            <a:spAutoFit/>
          </a:bodyPr>
          <a:lstStyle/>
          <a:p>
            <a:pPr algn="l"/>
            <a:r>
              <a:rPr sz="2600" b="0">
                <a:solidFill>
                  <a:srgbClr val="E7E8EA"/>
                </a:solidFill>
                <a:latin typeface="Instrument Sans"/>
              </a:rPr>
              <a:t>successful testnet transactions</a:t>
            </a:r>
          </a:p>
        </p:txBody>
      </p:sp>
      <p:sp>
        <p:nvSpPr>
          <p:cNvPr id="193" name="Rectangle 192"/>
          <p:cNvSpPr/>
          <p:nvPr/>
        </p:nvSpPr>
        <p:spPr>
          <a:xfrm>
            <a:off x="4879200" y="5450000"/>
            <a:ext cx="12700" cy="1900000"/>
          </a:xfrm>
          <a:prstGeom prst="rect">
            <a:avLst/>
          </a:prstGeom>
          <a:solidFill>
            <a:srgbClr val="1F2329"/>
          </a:solidFill>
          <a:ln>
            <a:noFill/>
          </a:ln>
        </p:spPr>
        <p:txBody>
          <a:bodyPr rtlCol="0" anchor="ctr"/>
          <a:lstStyle/>
          <a:p>
            <a:pPr algn="ctr"/>
          </a:p>
        </p:txBody>
      </p:sp>
      <p:sp>
        <p:nvSpPr>
          <p:cNvPr id="194" name="TextBox 193"/>
          <p:cNvSpPr txBox="1"/>
          <p:nvPr/>
        </p:nvSpPr>
        <p:spPr>
          <a:xfrm>
            <a:off x="5029200" y="5350000"/>
            <a:ext cx="3764800" cy="950000"/>
          </a:xfrm>
          <a:prstGeom prst="rect">
            <a:avLst/>
          </a:prstGeom>
          <a:noFill/>
        </p:spPr>
        <p:txBody>
          <a:bodyPr wrap="square" lIns="0" rIns="0" tIns="0" bIns="0" anchor="ctr">
            <a:spAutoFit/>
          </a:bodyPr>
          <a:lstStyle/>
          <a:p>
            <a:pPr algn="l"/>
            <a:r>
              <a:rPr sz="7200" b="1">
                <a:solidFill>
                  <a:srgbClr val="C6F24E"/>
                </a:solidFill>
                <a:latin typeface="Inter Tight"/>
              </a:rPr>
              <a:t>9</a:t>
            </a:r>
          </a:p>
        </p:txBody>
      </p:sp>
      <p:sp>
        <p:nvSpPr>
          <p:cNvPr id="195" name="TextBox 194"/>
          <p:cNvSpPr txBox="1"/>
          <p:nvPr/>
        </p:nvSpPr>
        <p:spPr>
          <a:xfrm>
            <a:off x="5029200" y="6350000"/>
            <a:ext cx="3764800" cy="950000"/>
          </a:xfrm>
          <a:prstGeom prst="rect">
            <a:avLst/>
          </a:prstGeom>
          <a:noFill/>
        </p:spPr>
        <p:txBody>
          <a:bodyPr wrap="square" lIns="0" rIns="0" tIns="0" bIns="0" anchor="t">
            <a:spAutoFit/>
          </a:bodyPr>
          <a:lstStyle/>
          <a:p>
            <a:pPr algn="l"/>
            <a:r>
              <a:rPr sz="2600" b="0">
                <a:solidFill>
                  <a:srgbClr val="E7E8EA"/>
                </a:solidFill>
                <a:latin typeface="Instrument Sans"/>
              </a:rPr>
              <a:t>invalid cases refused</a:t>
            </a:r>
          </a:p>
        </p:txBody>
      </p:sp>
      <p:sp>
        <p:nvSpPr>
          <p:cNvPr id="196" name="Rectangle 195"/>
          <p:cNvSpPr/>
          <p:nvPr/>
        </p:nvSpPr>
        <p:spPr>
          <a:xfrm>
            <a:off x="8994000" y="5450000"/>
            <a:ext cx="12700" cy="1900000"/>
          </a:xfrm>
          <a:prstGeom prst="rect">
            <a:avLst/>
          </a:prstGeom>
          <a:solidFill>
            <a:srgbClr val="1F2329"/>
          </a:solidFill>
          <a:ln>
            <a:noFill/>
          </a:ln>
        </p:spPr>
        <p:txBody>
          <a:bodyPr rtlCol="0" anchor="ctr"/>
          <a:lstStyle/>
          <a:p>
            <a:pPr algn="ctr"/>
          </a:p>
        </p:txBody>
      </p:sp>
      <p:sp>
        <p:nvSpPr>
          <p:cNvPr id="197" name="TextBox 196"/>
          <p:cNvSpPr txBox="1"/>
          <p:nvPr/>
        </p:nvSpPr>
        <p:spPr>
          <a:xfrm>
            <a:off x="9144000" y="5350000"/>
            <a:ext cx="3764800" cy="950000"/>
          </a:xfrm>
          <a:prstGeom prst="rect">
            <a:avLst/>
          </a:prstGeom>
          <a:noFill/>
        </p:spPr>
        <p:txBody>
          <a:bodyPr wrap="square" lIns="0" rIns="0" tIns="0" bIns="0" anchor="ctr">
            <a:spAutoFit/>
          </a:bodyPr>
          <a:lstStyle/>
          <a:p>
            <a:pPr algn="l"/>
            <a:r>
              <a:rPr sz="7200" b="1">
                <a:solidFill>
                  <a:srgbClr val="C6F24E"/>
                </a:solidFill>
                <a:latin typeface="Inter Tight"/>
              </a:rPr>
              <a:t>24</a:t>
            </a:r>
          </a:p>
        </p:txBody>
      </p:sp>
      <p:sp>
        <p:nvSpPr>
          <p:cNvPr id="198" name="TextBox 197"/>
          <p:cNvSpPr txBox="1"/>
          <p:nvPr/>
        </p:nvSpPr>
        <p:spPr>
          <a:xfrm>
            <a:off x="9144000" y="6350000"/>
            <a:ext cx="3764800" cy="950000"/>
          </a:xfrm>
          <a:prstGeom prst="rect">
            <a:avLst/>
          </a:prstGeom>
          <a:noFill/>
        </p:spPr>
        <p:txBody>
          <a:bodyPr wrap="square" lIns="0" rIns="0" tIns="0" bIns="0" anchor="t">
            <a:spAutoFit/>
          </a:bodyPr>
          <a:lstStyle/>
          <a:p>
            <a:pPr algn="l"/>
            <a:r>
              <a:rPr sz="2600" b="0">
                <a:solidFill>
                  <a:srgbClr val="E7E8EA"/>
                </a:solidFill>
                <a:latin typeface="Instrument Sans"/>
              </a:rPr>
              <a:t>contract tests pass</a:t>
            </a:r>
          </a:p>
        </p:txBody>
      </p:sp>
      <p:sp>
        <p:nvSpPr>
          <p:cNvPr id="199" name="Rectangle 198"/>
          <p:cNvSpPr/>
          <p:nvPr/>
        </p:nvSpPr>
        <p:spPr>
          <a:xfrm>
            <a:off x="13108800" y="5450000"/>
            <a:ext cx="12700" cy="1900000"/>
          </a:xfrm>
          <a:prstGeom prst="rect">
            <a:avLst/>
          </a:prstGeom>
          <a:solidFill>
            <a:srgbClr val="1F2329"/>
          </a:solidFill>
          <a:ln>
            <a:noFill/>
          </a:ln>
        </p:spPr>
        <p:txBody>
          <a:bodyPr rtlCol="0" anchor="ctr"/>
          <a:lstStyle/>
          <a:p>
            <a:pPr algn="ctr"/>
          </a:p>
        </p:txBody>
      </p:sp>
      <p:sp>
        <p:nvSpPr>
          <p:cNvPr id="200" name="TextBox 199"/>
          <p:cNvSpPr txBox="1"/>
          <p:nvPr/>
        </p:nvSpPr>
        <p:spPr>
          <a:xfrm>
            <a:off x="13258800" y="5350000"/>
            <a:ext cx="3764800" cy="950000"/>
          </a:xfrm>
          <a:prstGeom prst="rect">
            <a:avLst/>
          </a:prstGeom>
          <a:noFill/>
        </p:spPr>
        <p:txBody>
          <a:bodyPr wrap="square" lIns="0" rIns="0" tIns="0" bIns="0" anchor="ctr">
            <a:spAutoFit/>
          </a:bodyPr>
          <a:lstStyle/>
          <a:p>
            <a:pPr algn="l"/>
            <a:r>
              <a:rPr sz="6000" b="1">
                <a:solidFill>
                  <a:srgbClr val="C6F24E"/>
                </a:solidFill>
                <a:latin typeface="Inter Tight"/>
              </a:rPr>
              <a:t>MATCH</a:t>
            </a:r>
          </a:p>
        </p:txBody>
      </p:sp>
      <p:sp>
        <p:nvSpPr>
          <p:cNvPr id="201" name="TextBox 200"/>
          <p:cNvSpPr txBox="1"/>
          <p:nvPr/>
        </p:nvSpPr>
        <p:spPr>
          <a:xfrm>
            <a:off x="13258800" y="6350000"/>
            <a:ext cx="3764800" cy="950000"/>
          </a:xfrm>
          <a:prstGeom prst="rect">
            <a:avLst/>
          </a:prstGeom>
          <a:noFill/>
        </p:spPr>
        <p:txBody>
          <a:bodyPr wrap="square" lIns="0" rIns="0" tIns="0" bIns="0" anchor="t">
            <a:spAutoFit/>
          </a:bodyPr>
          <a:lstStyle/>
          <a:p>
            <a:pPr algn="l"/>
            <a:r>
              <a:rPr sz="2600" b="0">
                <a:solidFill>
                  <a:srgbClr val="E7E8EA"/>
                </a:solidFill>
                <a:latin typeface="Instrument Sans"/>
              </a:rPr>
              <a:t>verify-head recomputes the chain</a:t>
            </a:r>
          </a:p>
        </p:txBody>
      </p:sp>
      <p:sp>
        <p:nvSpPr>
          <p:cNvPr id="202" name="TextBox 201"/>
          <p:cNvSpPr txBox="1"/>
          <p:nvPr/>
        </p:nvSpPr>
        <p:spPr>
          <a:xfrm>
            <a:off x="914400" y="7750000"/>
            <a:ext cx="16459200" cy="400000"/>
          </a:xfrm>
          <a:prstGeom prst="rect">
            <a:avLst/>
          </a:prstGeom>
          <a:noFill/>
        </p:spPr>
        <p:txBody>
          <a:bodyPr wrap="square" lIns="0" rIns="0" tIns="0" bIns="0" anchor="t">
            <a:spAutoFit/>
          </a:bodyPr>
          <a:lstStyle/>
          <a:p>
            <a:pPr algn="l"/>
            <a:r>
              <a:rPr sz="2600" b="0">
                <a:solidFill>
                  <a:srgbClr val="A3A8B0"/>
                </a:solidFill>
                <a:latin typeface="JetBrains Mono"/>
              </a:rPr>
              <a:t>custody_registry (testnet) </a:t>
            </a:r>
            <a:r>
              <a:rPr sz="2600" b="0">
                <a:solidFill>
                  <a:srgbClr val="E7E8EA"/>
                </a:solidFill>
                <a:latin typeface="JetBrains Mono"/>
              </a:rPr>
              <a:t>CCBJVXMJ…H4LII</a:t>
            </a:r>
            <a:r>
              <a:rPr sz="2600" b="0">
                <a:solidFill>
                  <a:srgbClr val="A3A8B0"/>
                </a:solidFill>
                <a:latin typeface="JetBrains Mono"/>
              </a:rPr>
              <a:t>     head </a:t>
            </a:r>
            <a:r>
              <a:rPr sz="2600" b="0">
                <a:solidFill>
                  <a:srgbClr val="E7E8EA"/>
                </a:solidFill>
                <a:latin typeface="JetBrains Mono"/>
              </a:rPr>
              <a:t>2d74fec0…5414</a:t>
            </a:r>
          </a:p>
        </p:txBody>
      </p:sp>
      <p:sp>
        <p:nvSpPr>
          <p:cNvPr id="203" name="TextBox 202"/>
          <p:cNvSpPr txBox="1"/>
          <p:nvPr/>
        </p:nvSpPr>
        <p:spPr>
          <a:xfrm>
            <a:off x="914400" y="8250000"/>
            <a:ext cx="16459200" cy="380000"/>
          </a:xfrm>
          <a:prstGeom prst="rect">
            <a:avLst/>
          </a:prstGeom>
          <a:noFill/>
        </p:spPr>
        <p:txBody>
          <a:bodyPr wrap="square" lIns="0" rIns="0" tIns="0" bIns="0" anchor="t">
            <a:spAutoFit/>
          </a:bodyPr>
          <a:lstStyle/>
          <a:p>
            <a:pPr algn="l"/>
            <a:r>
              <a:rPr sz="2200" b="0">
                <a:solidFill>
                  <a:srgbClr val="A3A8B0"/>
                </a:solidFill>
                <a:latin typeface="JetBrains Mono"/>
              </a:rPr>
              <a:t>Testnet - test keys - not real custodians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171" name="Shape 171"/>
        <p:cNvGrpSpPr/>
        <p:nvPr/>
      </p:nvGrpSpPr>
      <p:grpSpPr>
        <a:xfrm>
          <a:off x="0" y="0"/>
          <a:ext cx="0" cy="0"/>
          <a:chOff x="0" y="0"/>
          <a:chExt cx="0" cy="0"/>
        </a:xfrm>
      </p:grpSpPr>
      <p:sp>
        <p:nvSpPr>
          <p:cNvPr id="172" name="Google Shape;172;p17"/>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73" name="Google Shape;173;p17"/>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PLATFORM 09 / 09</a:t>
            </a:r>
            <a:endParaRPr/>
          </a:p>
        </p:txBody>
      </p:sp>
      <p:sp>
        <p:nvSpPr>
          <p:cNvPr id="174" name="Google Shape;174;p17"/>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HACKMERIDIAN 2026 · LISBON</a:t>
            </a:r>
            <a:endParaRPr/>
          </a:p>
        </p:txBody>
      </p:sp>
      <p:sp>
        <p:nvSpPr>
          <p:cNvPr id="175" name="Google Shape;175;p17"/>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FINAL STOP</a:t>
            </a:r>
            <a:endParaRPr/>
          </a:p>
        </p:txBody>
      </p:sp>
      <p:sp>
        <p:nvSpPr>
          <p:cNvPr id="176" name="Google Shape;176;p17"/>
          <p:cNvSpPr/>
          <p:nvPr/>
        </p:nvSpPr>
        <p:spPr>
          <a:xfrm>
            <a:off x="914400" y="1417320"/>
            <a:ext cx="3500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F0F0F"/>
                </a:solidFill>
                <a:latin typeface="JetBrains Mono"/>
                <a:ea typeface="JetBrains Mono"/>
                <a:cs typeface="JetBrains Mono"/>
                <a:sym typeface="JetBrains Mono"/>
              </a:rPr>
              <a:t>PITCH STEP 04 / 04</a:t>
            </a:r>
            <a:endParaRPr/>
          </a:p>
        </p:txBody>
      </p:sp>
      <p:sp>
        <p:nvSpPr>
          <p:cNvPr id="187" name="Google Shape;187;p17"/>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88" name="Google Shape;188;p17"/>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descr="hm-black.png" id="189" name="Google Shape;189;p17"/>
          <p:cNvPicPr preferRelativeResize="0"/>
          <p:nvPr/>
        </p:nvPicPr>
        <p:blipFill rotWithShape="1">
          <a:blip r:embed="rId3">
            <a:alphaModFix/>
          </a:blip>
          <a:srcRect b="0" l="0" r="0" t="0"/>
          <a:stretch/>
        </p:blipFill>
        <p:spPr>
          <a:xfrm>
            <a:off x="14859000" y="9171432"/>
            <a:ext cx="2517969" cy="438912"/>
          </a:xfrm>
          <a:prstGeom prst="rect">
            <a:avLst/>
          </a:prstGeom>
          <a:noFill/>
          <a:ln>
            <a:noFill/>
          </a:ln>
        </p:spPr>
      </p:pic>
      <p:sp>
        <p:nvSpPr>
          <p:cNvPr id="190" name="TextBox 189"/>
          <p:cNvSpPr txBox="1"/>
          <p:nvPr/>
        </p:nvSpPr>
        <p:spPr>
          <a:xfrm>
            <a:off x="914400" y="2103120"/>
            <a:ext cx="16459200" cy="900000"/>
          </a:xfrm>
          <a:prstGeom prst="rect">
            <a:avLst/>
          </a:prstGeom>
          <a:noFill/>
        </p:spPr>
        <p:txBody>
          <a:bodyPr wrap="square" lIns="0" rIns="0" tIns="0" bIns="0" anchor="t">
            <a:spAutoFit/>
          </a:bodyPr>
          <a:lstStyle/>
          <a:p>
            <a:pPr algn="l"/>
            <a:r>
              <a:rPr sz="5800" b="1">
                <a:solidFill>
                  <a:srgbClr val="0E0F11"/>
                </a:solidFill>
                <a:latin typeface="Inter Tight"/>
              </a:rPr>
              <a:t>Why us</a:t>
            </a:r>
          </a:p>
        </p:txBody>
      </p:sp>
      <p:sp>
        <p:nvSpPr>
          <p:cNvPr id="191" name="TextBox 190"/>
          <p:cNvSpPr txBox="1"/>
          <p:nvPr/>
        </p:nvSpPr>
        <p:spPr>
          <a:xfrm>
            <a:off x="914400" y="3500000"/>
            <a:ext cx="9800000" cy="500000"/>
          </a:xfrm>
          <a:prstGeom prst="rect">
            <a:avLst/>
          </a:prstGeom>
          <a:noFill/>
        </p:spPr>
        <p:txBody>
          <a:bodyPr wrap="square" lIns="0" rIns="0" tIns="0" bIns="0" anchor="t">
            <a:spAutoFit/>
          </a:bodyPr>
          <a:lstStyle/>
          <a:p>
            <a:pPr algn="l"/>
            <a:r>
              <a:rPr sz="3600" b="1">
                <a:solidFill>
                  <a:srgbClr val="0E0F11"/>
                </a:solidFill>
                <a:latin typeface="Instrument Sans"/>
              </a:rPr>
              <a:t>Pedro Saragossy</a:t>
            </a:r>
            <a:r>
              <a:rPr sz="3000" b="0">
                <a:solidFill>
                  <a:srgbClr val="4D5560"/>
                </a:solidFill>
                <a:latin typeface="Instrument Sans"/>
              </a:rPr>
              <a:t>  founder, captain</a:t>
            </a:r>
          </a:p>
        </p:txBody>
      </p:sp>
      <p:sp>
        <p:nvSpPr>
          <p:cNvPr id="192" name="TextBox 191"/>
          <p:cNvSpPr txBox="1"/>
          <p:nvPr/>
        </p:nvSpPr>
        <p:spPr>
          <a:xfrm>
            <a:off x="914400" y="4450000"/>
            <a:ext cx="9800000" cy="500000"/>
          </a:xfrm>
          <a:prstGeom prst="rect">
            <a:avLst/>
          </a:prstGeom>
          <a:noFill/>
        </p:spPr>
        <p:txBody>
          <a:bodyPr wrap="square" lIns="0" rIns="0" tIns="0" bIns="0" anchor="t">
            <a:spAutoFit/>
          </a:bodyPr>
          <a:lstStyle/>
          <a:p>
            <a:pPr algn="l"/>
            <a:r>
              <a:rPr sz="3600" b="1">
                <a:solidFill>
                  <a:srgbClr val="0E0F11"/>
                </a:solidFill>
                <a:latin typeface="Instrument Sans"/>
              </a:rPr>
              <a:t>Leo Schlanger</a:t>
            </a:r>
            <a:r>
              <a:rPr sz="3000" b="0">
                <a:solidFill>
                  <a:srgbClr val="4D5560"/>
                </a:solidFill>
                <a:latin typeface="Instrument Sans"/>
              </a:rPr>
              <a:t>  developer</a:t>
            </a:r>
          </a:p>
        </p:txBody>
      </p:sp>
      <p:sp>
        <p:nvSpPr>
          <p:cNvPr id="193" name="TextBox 192"/>
          <p:cNvSpPr txBox="1"/>
          <p:nvPr/>
        </p:nvSpPr>
        <p:spPr>
          <a:xfrm>
            <a:off x="914400" y="5400000"/>
            <a:ext cx="9800000" cy="500000"/>
          </a:xfrm>
          <a:prstGeom prst="rect">
            <a:avLst/>
          </a:prstGeom>
          <a:noFill/>
        </p:spPr>
        <p:txBody>
          <a:bodyPr wrap="square" lIns="0" rIns="0" tIns="0" bIns="0" anchor="t">
            <a:spAutoFit/>
          </a:bodyPr>
          <a:lstStyle/>
          <a:p>
            <a:pPr algn="l"/>
            <a:r>
              <a:rPr sz="3600" b="1">
                <a:solidFill>
                  <a:srgbClr val="0E0F11"/>
                </a:solidFill>
                <a:latin typeface="Instrument Sans"/>
              </a:rPr>
              <a:t>Vhendala</a:t>
            </a:r>
            <a:r>
              <a:rPr sz="3000" b="0">
                <a:solidFill>
                  <a:srgbClr val="4D5560"/>
                </a:solidFill>
                <a:latin typeface="Instrument Sans"/>
              </a:rPr>
              <a:t>  supervision, product review</a:t>
            </a:r>
          </a:p>
        </p:txBody>
      </p:sp>
      <p:sp>
        <p:nvSpPr>
          <p:cNvPr id="194" name="TextBox 193"/>
          <p:cNvSpPr txBox="1"/>
          <p:nvPr/>
        </p:nvSpPr>
        <p:spPr>
          <a:xfrm>
            <a:off x="914400" y="6450000"/>
            <a:ext cx="9800000" cy="1300000"/>
          </a:xfrm>
          <a:prstGeom prst="rect">
            <a:avLst/>
          </a:prstGeom>
          <a:noFill/>
        </p:spPr>
        <p:txBody>
          <a:bodyPr wrap="square" lIns="0" rIns="0" tIns="0" bIns="0" anchor="t">
            <a:spAutoFit/>
          </a:bodyPr>
          <a:lstStyle/>
          <a:p>
            <a:pPr algn="l"/>
            <a:r>
              <a:rPr sz="3000" b="0">
                <a:solidFill>
                  <a:srgbClr val="0E0F11"/>
                </a:solidFill>
                <a:latin typeface="Instrument Sans"/>
              </a:rPr>
              <a:t>Leo and Vhendala joined for the hackathon.</a:t>
            </a:r>
          </a:p>
          <a:p>
            <a:pPr algn="l">
              <a:spcBef>
                <a:spcPts val="800"/>
              </a:spcBef>
            </a:pPr>
            <a:r>
              <a:rPr sz="3000" b="0">
                <a:solidFill>
                  <a:srgbClr val="0E0F11"/>
                </a:solidFill>
                <a:latin typeface="Instrument Sans"/>
              </a:rPr>
              <a:t>Narration is an AI voice generated from Pedro’s voice.</a:t>
            </a:r>
          </a:p>
        </p:txBody>
      </p:sp>
      <p:sp>
        <p:nvSpPr>
          <p:cNvPr id="195" name="Rectangle 194"/>
          <p:cNvSpPr/>
          <p:nvPr/>
        </p:nvSpPr>
        <p:spPr>
          <a:xfrm>
            <a:off x="11300000" y="3500000"/>
            <a:ext cx="6073600" cy="3900000"/>
          </a:xfrm>
          <a:prstGeom prst="rect">
            <a:avLst/>
          </a:prstGeom>
          <a:solidFill>
            <a:srgbClr val="FFFFFF"/>
          </a:solidFill>
          <a:ln w="25400">
            <a:solidFill>
              <a:srgbClr val="4D5560"/>
            </a:solidFill>
            <a:prstDash val="dash"/>
          </a:ln>
        </p:spPr>
        <p:txBody>
          <a:bodyPr rtlCol="0" anchor="ctr"/>
          <a:lstStyle/>
          <a:p>
            <a:pPr algn="ctr"/>
          </a:p>
        </p:txBody>
      </p:sp>
      <p:sp>
        <p:nvSpPr>
          <p:cNvPr id="196" name="TextBox 195"/>
          <p:cNvSpPr txBox="1"/>
          <p:nvPr/>
        </p:nvSpPr>
        <p:spPr>
          <a:xfrm>
            <a:off x="11550000" y="3500000"/>
            <a:ext cx="5573600" cy="3900000"/>
          </a:xfrm>
          <a:prstGeom prst="rect">
            <a:avLst/>
          </a:prstGeom>
          <a:noFill/>
        </p:spPr>
        <p:txBody>
          <a:bodyPr wrap="square" lIns="0" rIns="0" tIns="0" bIns="0" anchor="ctr">
            <a:spAutoFit/>
          </a:bodyPr>
          <a:lstStyle/>
          <a:p>
            <a:pPr algn="ctr"/>
            <a:r>
              <a:rPr sz="2800" b="0">
                <a:solidFill>
                  <a:srgbClr val="4D5560"/>
                </a:solidFill>
                <a:latin typeface="Instrument Sans"/>
              </a:rPr>
              <a:t>Team photo</a:t>
            </a:r>
          </a:p>
          <a:p>
            <a:pPr algn="ctr"/>
            <a:r>
              <a:rPr sz="2800" b="0">
                <a:solidFill>
                  <a:srgbClr val="4D5560"/>
                </a:solidFill>
                <a:latin typeface="Instrument Sans"/>
              </a:rPr>
              <a:t>(Vhendala, at check-in)</a:t>
            </a:r>
          </a:p>
        </p:txBody>
      </p:sp>
      <p:sp>
        <p:nvSpPr>
          <p:cNvPr id="197" name="TextBox 196"/>
          <p:cNvSpPr txBox="1"/>
          <p:nvPr/>
        </p:nvSpPr>
        <p:spPr>
          <a:xfrm>
            <a:off x="914400" y="7850000"/>
            <a:ext cx="16459200" cy="400000"/>
          </a:xfrm>
          <a:prstGeom prst="rect">
            <a:avLst/>
          </a:prstGeom>
          <a:noFill/>
        </p:spPr>
        <p:txBody>
          <a:bodyPr wrap="square" lIns="0" rIns="0" tIns="0" bIns="0" anchor="t">
            <a:spAutoFit/>
          </a:bodyPr>
          <a:lstStyle/>
          <a:p>
            <a:pPr algn="l"/>
            <a:r>
              <a:rPr sz="2200" b="1">
                <a:solidFill>
                  <a:srgbClr val="556F00"/>
                </a:solidFill>
                <a:latin typeface="JetBrains Mono"/>
              </a:rPr>
              <a:t>Radox: 3 Soroban contracts on Stellar mainnet (public repo, created 2026-08-19)</a:t>
            </a:r>
          </a:p>
        </p:txBody>
      </p:sp>
      <p:sp>
        <p:nvSpPr>
          <p:cNvPr id="198" name="TextBox 197"/>
          <p:cNvSpPr txBox="1"/>
          <p:nvPr/>
        </p:nvSpPr>
        <p:spPr>
          <a:xfrm>
            <a:off x="914400" y="8350000"/>
            <a:ext cx="16459200" cy="400000"/>
          </a:xfrm>
          <a:prstGeom prst="rect">
            <a:avLst/>
          </a:prstGeom>
          <a:noFill/>
        </p:spPr>
        <p:txBody>
          <a:bodyPr wrap="square" lIns="0" rIns="0" tIns="0" bIns="0" anchor="t">
            <a:spAutoFit/>
          </a:bodyPr>
          <a:lstStyle/>
          <a:p>
            <a:pPr algn="l"/>
            <a:r>
              <a:rPr sz="2200" b="0">
                <a:solidFill>
                  <a:srgbClr val="4D5560"/>
                </a:solidFill>
                <a:latin typeface="JetBrains Mono"/>
              </a:rPr>
              <a:t>Code written with AI coding agents; see AI_USAGE.md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28" name="Google Shape;128;p15"/>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9" name="Google Shape;129;p15"/>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PLATFORM 05 / 09</a:t>
            </a:r>
            <a:endParaRPr/>
          </a:p>
        </p:txBody>
      </p:sp>
      <p:sp>
        <p:nvSpPr>
          <p:cNvPr id="130" name="Google Shape;130;p15"/>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HACKMERIDIAN 2026 · LISBON</a:t>
            </a:r>
            <a:endParaRPr/>
          </a:p>
        </p:txBody>
      </p:sp>
      <p:sp>
        <p:nvSpPr>
          <p:cNvPr id="131" name="Google Shape;131;p15"/>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NEXT ▸ USERS</a:t>
            </a:r>
            <a:endParaRPr/>
          </a:p>
        </p:txBody>
      </p:sp>
      <p:sp>
        <p:nvSpPr>
          <p:cNvPr id="132" name="Google Shape;132;p15"/>
          <p:cNvSpPr/>
          <p:nvPr/>
        </p:nvSpPr>
        <p:spPr>
          <a:xfrm>
            <a:off x="914400" y="1417320"/>
            <a:ext cx="3500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F0F0F"/>
                </a:solidFill>
                <a:latin typeface="JetBrains Mono"/>
                <a:ea typeface="JetBrains Mono"/>
                <a:cs typeface="JetBrains Mono"/>
                <a:sym typeface="JetBrains Mono"/>
              </a:rPr>
              <a:t>PRIOR WORK</a:t>
            </a:r>
            <a:endParaRPr/>
          </a:p>
        </p:txBody>
      </p:sp>
      <p:sp>
        <p:nvSpPr>
          <p:cNvPr id="143" name="Google Shape;143;p15"/>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44" name="Google Shape;144;p15"/>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descr="hm-black.png" id="145" name="Google Shape;145;p15"/>
          <p:cNvPicPr preferRelativeResize="0"/>
          <p:nvPr/>
        </p:nvPicPr>
        <p:blipFill rotWithShape="1">
          <a:blip r:embed="rId2">
            <a:alphaModFix/>
          </a:blip>
          <a:srcRect b="0" l="0" r="0" t="0"/>
          <a:stretch/>
        </p:blipFill>
        <p:spPr>
          <a:xfrm>
            <a:off x="14859000" y="9171432"/>
            <a:ext cx="2517969" cy="438912"/>
          </a:xfrm>
          <a:prstGeom prst="rect">
            <a:avLst/>
          </a:prstGeom>
          <a:noFill/>
          <a:ln>
            <a:noFill/>
          </a:ln>
        </p:spPr>
      </p:pic>
      <p:sp>
        <p:nvSpPr>
          <p:cNvPr id="146" name="TextBox 145"/>
          <p:cNvSpPr txBox="1"/>
          <p:nvPr/>
        </p:nvSpPr>
        <p:spPr>
          <a:xfrm>
            <a:off x="914400" y="2103120"/>
            <a:ext cx="16459200" cy="900000"/>
          </a:xfrm>
          <a:prstGeom prst="rect">
            <a:avLst/>
          </a:prstGeom>
          <a:noFill/>
        </p:spPr>
        <p:txBody>
          <a:bodyPr wrap="square" lIns="0" rIns="0" tIns="0" bIns="0" anchor="t">
            <a:spAutoFit/>
          </a:bodyPr>
          <a:lstStyle/>
          <a:p>
            <a:pPr algn="l"/>
            <a:r>
              <a:rPr sz="5800" b="1">
                <a:solidFill>
                  <a:srgbClr val="0E0F11"/>
                </a:solidFill>
                <a:latin typeface="Inter Tight"/>
              </a:rPr>
              <a:t>Prior work versus this weekend</a:t>
            </a:r>
          </a:p>
        </p:txBody>
      </p:sp>
      <p:sp>
        <p:nvSpPr>
          <p:cNvPr id="147" name="TextBox 146"/>
          <p:cNvSpPr txBox="1"/>
          <p:nvPr/>
        </p:nvSpPr>
        <p:spPr>
          <a:xfrm>
            <a:off x="914400" y="3500000"/>
            <a:ext cx="7600000" cy="420000"/>
          </a:xfrm>
          <a:prstGeom prst="rect">
            <a:avLst/>
          </a:prstGeom>
          <a:noFill/>
        </p:spPr>
        <p:txBody>
          <a:bodyPr wrap="square" lIns="0" rIns="0" tIns="0" bIns="0" anchor="t">
            <a:spAutoFit/>
          </a:bodyPr>
          <a:lstStyle/>
          <a:p>
            <a:pPr algn="l"/>
            <a:r>
              <a:rPr sz="2600" b="1">
                <a:solidFill>
                  <a:srgbClr val="4D5560"/>
                </a:solidFill>
                <a:latin typeface="JetBrains Mono"/>
              </a:rPr>
              <a:t>EXISTED</a:t>
            </a:r>
          </a:p>
        </p:txBody>
      </p:sp>
      <p:sp>
        <p:nvSpPr>
          <p:cNvPr id="148" name="Rectangle 147"/>
          <p:cNvSpPr/>
          <p:nvPr/>
        </p:nvSpPr>
        <p:spPr>
          <a:xfrm>
            <a:off x="914400" y="4020000"/>
            <a:ext cx="7600000" cy="25400"/>
          </a:xfrm>
          <a:prstGeom prst="rect">
            <a:avLst/>
          </a:prstGeom>
          <a:solidFill>
            <a:srgbClr val="DFDDD6"/>
          </a:solidFill>
          <a:ln>
            <a:noFill/>
          </a:ln>
        </p:spPr>
        <p:txBody>
          <a:bodyPr rtlCol="0" anchor="ctr"/>
          <a:lstStyle/>
          <a:p>
            <a:pPr algn="ctr"/>
          </a:p>
        </p:txBody>
      </p:sp>
      <p:sp>
        <p:nvSpPr>
          <p:cNvPr id="149" name="TextBox 148"/>
          <p:cNvSpPr txBox="1"/>
          <p:nvPr/>
        </p:nvSpPr>
        <p:spPr>
          <a:xfrm>
            <a:off x="914400" y="4220000"/>
            <a:ext cx="7600000" cy="3000000"/>
          </a:xfrm>
          <a:prstGeom prst="rect">
            <a:avLst/>
          </a:prstGeom>
          <a:noFill/>
        </p:spPr>
        <p:txBody>
          <a:bodyPr wrap="square" lIns="0" rIns="0" tIns="0" bIns="0" anchor="t">
            <a:spAutoFit/>
          </a:bodyPr>
          <a:lstStyle/>
          <a:p>
            <a:pPr algn="l"/>
            <a:r>
              <a:rPr sz="3400" b="0">
                <a:solidFill>
                  <a:srgbClr val="0E0F11"/>
                </a:solidFill>
                <a:latin typeface="Instrument Sans"/>
              </a:rPr>
              <a:t>Radox platform</a:t>
            </a:r>
          </a:p>
          <a:p>
            <a:pPr algn="l">
              <a:spcBef>
                <a:spcPts val="1200"/>
              </a:spcBef>
            </a:pPr>
            <a:r>
              <a:rPr sz="3400" b="0">
                <a:solidFill>
                  <a:srgbClr val="0E0F11"/>
                </a:solidFill>
                <a:latin typeface="Instrument Sans"/>
              </a:rPr>
              <a:t>3 Soroban contracts on mainnet</a:t>
            </a:r>
          </a:p>
          <a:p>
            <a:pPr algn="l">
              <a:spcBef>
                <a:spcPts val="1200"/>
              </a:spcBef>
            </a:pPr>
            <a:r>
              <a:rPr sz="3400" b="0">
                <a:solidFill>
                  <a:srgbClr val="0E0F11"/>
                </a:solidFill>
                <a:latin typeface="Instrument Sans"/>
              </a:rPr>
              <a:t>transfer_agent</a:t>
            </a:r>
          </a:p>
        </p:txBody>
      </p:sp>
      <p:sp>
        <p:nvSpPr>
          <p:cNvPr id="150" name="TextBox 149"/>
          <p:cNvSpPr txBox="1"/>
          <p:nvPr/>
        </p:nvSpPr>
        <p:spPr>
          <a:xfrm>
            <a:off x="9773600" y="3500000"/>
            <a:ext cx="7600000" cy="420000"/>
          </a:xfrm>
          <a:prstGeom prst="rect">
            <a:avLst/>
          </a:prstGeom>
          <a:noFill/>
        </p:spPr>
        <p:txBody>
          <a:bodyPr wrap="square" lIns="0" rIns="0" tIns="0" bIns="0" anchor="t">
            <a:spAutoFit/>
          </a:bodyPr>
          <a:lstStyle/>
          <a:p>
            <a:pPr algn="l"/>
            <a:r>
              <a:rPr sz="2600" b="1">
                <a:solidFill>
                  <a:srgbClr val="556F00"/>
                </a:solidFill>
                <a:latin typeface="JetBrains Mono"/>
              </a:rPr>
              <a:t>BUILT HERE</a:t>
            </a:r>
          </a:p>
        </p:txBody>
      </p:sp>
      <p:sp>
        <p:nvSpPr>
          <p:cNvPr id="151" name="Rectangle 150"/>
          <p:cNvSpPr/>
          <p:nvPr/>
        </p:nvSpPr>
        <p:spPr>
          <a:xfrm>
            <a:off x="9773600" y="4020000"/>
            <a:ext cx="7600000" cy="25400"/>
          </a:xfrm>
          <a:prstGeom prst="rect">
            <a:avLst/>
          </a:prstGeom>
          <a:solidFill>
            <a:srgbClr val="556F00"/>
          </a:solidFill>
          <a:ln>
            <a:noFill/>
          </a:ln>
        </p:spPr>
        <p:txBody>
          <a:bodyPr rtlCol="0" anchor="ctr"/>
          <a:lstStyle/>
          <a:p>
            <a:pPr algn="ctr"/>
          </a:p>
        </p:txBody>
      </p:sp>
      <p:sp>
        <p:nvSpPr>
          <p:cNvPr id="152" name="TextBox 151"/>
          <p:cNvSpPr txBox="1"/>
          <p:nvPr/>
        </p:nvSpPr>
        <p:spPr>
          <a:xfrm>
            <a:off x="9773600" y="4220000"/>
            <a:ext cx="7600000" cy="3000000"/>
          </a:xfrm>
          <a:prstGeom prst="rect">
            <a:avLst/>
          </a:prstGeom>
          <a:noFill/>
        </p:spPr>
        <p:txBody>
          <a:bodyPr wrap="square" lIns="0" rIns="0" tIns="0" bIns="0" anchor="t">
            <a:spAutoFit/>
          </a:bodyPr>
          <a:lstStyle/>
          <a:p>
            <a:pPr algn="l"/>
            <a:r>
              <a:rPr sz="3400" b="1">
                <a:solidFill>
                  <a:srgbClr val="0E0F11"/>
                </a:solidFill>
                <a:latin typeface="Instrument Sans"/>
              </a:rPr>
              <a:t>custody_registry</a:t>
            </a:r>
          </a:p>
          <a:p>
            <a:pPr algn="l">
              <a:spcBef>
                <a:spcPts val="1200"/>
              </a:spcBef>
            </a:pPr>
            <a:r>
              <a:rPr sz="3400" b="1">
                <a:solidFill>
                  <a:srgbClr val="0E0F11"/>
                </a:solidFill>
                <a:latin typeface="Instrument Sans"/>
              </a:rPr>
              <a:t>test harness</a:t>
            </a:r>
          </a:p>
          <a:p>
            <a:pPr algn="l">
              <a:spcBef>
                <a:spcPts val="1200"/>
              </a:spcBef>
            </a:pPr>
            <a:r>
              <a:rPr sz="3400" b="1">
                <a:solidFill>
                  <a:srgbClr val="0E0F11"/>
                </a:solidFill>
                <a:latin typeface="Instrument Sans"/>
              </a:rPr>
              <a:t>verify-head</a:t>
            </a:r>
          </a:p>
          <a:p>
            <a:pPr algn="l">
              <a:spcBef>
                <a:spcPts val="1200"/>
              </a:spcBef>
            </a:pPr>
            <a:r>
              <a:rPr sz="3400" b="1">
                <a:solidFill>
                  <a:srgbClr val="0E0F11"/>
                </a:solidFill>
                <a:latin typeface="Instrument Sans"/>
              </a:rPr>
              <a:t>shipment page</a:t>
            </a:r>
          </a:p>
        </p:txBody>
      </p:sp>
      <p:sp>
        <p:nvSpPr>
          <p:cNvPr id="153" name="Rectangle 152"/>
          <p:cNvSpPr/>
          <p:nvPr/>
        </p:nvSpPr>
        <p:spPr>
          <a:xfrm>
            <a:off x="9144000" y="3500000"/>
            <a:ext cx="12700" cy="3900000"/>
          </a:xfrm>
          <a:prstGeom prst="rect">
            <a:avLst/>
          </a:prstGeom>
          <a:solidFill>
            <a:srgbClr val="DFDDD6"/>
          </a:solidFill>
          <a:ln>
            <a:noFill/>
          </a:ln>
        </p:spPr>
        <p:txBody>
          <a:bodyPr rtlCol="0" anchor="ctr"/>
          <a:lstStyle/>
          <a:p>
            <a:pPr algn="ctr"/>
          </a:p>
        </p:txBody>
      </p:sp>
      <p:sp>
        <p:nvSpPr>
          <p:cNvPr id="154" name="TextBox 153"/>
          <p:cNvSpPr txBox="1"/>
          <p:nvPr/>
        </p:nvSpPr>
        <p:spPr>
          <a:xfrm>
            <a:off x="914400" y="7700000"/>
            <a:ext cx="16459200" cy="500000"/>
          </a:xfrm>
          <a:prstGeom prst="rect">
            <a:avLst/>
          </a:prstGeom>
          <a:noFill/>
        </p:spPr>
        <p:txBody>
          <a:bodyPr wrap="square" lIns="0" rIns="0" tIns="0" bIns="0" anchor="t">
            <a:spAutoFit/>
          </a:bodyPr>
          <a:lstStyle/>
          <a:p>
            <a:pPr algn="l"/>
            <a:r>
              <a:rPr sz="3400" b="1">
                <a:solidFill>
                  <a:srgbClr val="0E0F11"/>
                </a:solidFill>
                <a:latin typeface="Instrument Sans"/>
              </a:rPr>
              <a:t>Code written by AI coding agents.</a:t>
            </a:r>
          </a:p>
        </p:txBody>
      </p:sp>
      <p:sp>
        <p:nvSpPr>
          <p:cNvPr id="155" name="TextBox 154"/>
          <p:cNvSpPr txBox="1"/>
          <p:nvPr/>
        </p:nvSpPr>
        <p:spPr>
          <a:xfrm>
            <a:off x="914400" y="8250000"/>
            <a:ext cx="16459200" cy="400000"/>
          </a:xfrm>
          <a:prstGeom prst="rect">
            <a:avLst/>
          </a:prstGeom>
          <a:noFill/>
        </p:spPr>
        <p:txBody>
          <a:bodyPr wrap="square" lIns="0" rIns="0" tIns="0" bIns="0" anchor="t">
            <a:spAutoFit/>
          </a:bodyPr>
          <a:lstStyle/>
          <a:p>
            <a:pPr algn="l"/>
            <a:r>
              <a:rPr sz="2200" b="0">
                <a:solidFill>
                  <a:srgbClr val="4D5560"/>
                </a:solidFill>
                <a:latin typeface="JetBrains Mono"/>
              </a:rPr>
              <a:t>Per-file record of tool and reader: AI_USAGE.md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28" name="Google Shape;128;p15"/>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9" name="Google Shape;129;p15"/>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PLATFORM 06 / 09</a:t>
            </a:r>
            <a:endParaRPr/>
          </a:p>
        </p:txBody>
      </p:sp>
      <p:sp>
        <p:nvSpPr>
          <p:cNvPr id="130" name="Google Shape;130;p15"/>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HACKMERIDIAN 2026 · LISBON</a:t>
            </a:r>
            <a:endParaRPr/>
          </a:p>
        </p:txBody>
      </p:sp>
      <p:sp>
        <p:nvSpPr>
          <p:cNvPr id="131" name="Google Shape;131;p15"/>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NEXT ▸ BUSINESS MODEL</a:t>
            </a:r>
            <a:endParaRPr/>
          </a:p>
        </p:txBody>
      </p:sp>
      <p:sp>
        <p:nvSpPr>
          <p:cNvPr id="132" name="Google Shape;132;p15"/>
          <p:cNvSpPr/>
          <p:nvPr/>
        </p:nvSpPr>
        <p:spPr>
          <a:xfrm>
            <a:off x="914400" y="1417320"/>
            <a:ext cx="3500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F0F0F"/>
                </a:solidFill>
                <a:latin typeface="JetBrains Mono"/>
                <a:ea typeface="JetBrains Mono"/>
                <a:cs typeface="JetBrains Mono"/>
                <a:sym typeface="JetBrains Mono"/>
              </a:rPr>
              <a:t>USERS</a:t>
            </a:r>
            <a:endParaRPr/>
          </a:p>
        </p:txBody>
      </p:sp>
      <p:sp>
        <p:nvSpPr>
          <p:cNvPr id="143" name="Google Shape;143;p15"/>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44" name="Google Shape;144;p15"/>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descr="hm-black.png" id="145" name="Google Shape;145;p15"/>
          <p:cNvPicPr preferRelativeResize="0"/>
          <p:nvPr/>
        </p:nvPicPr>
        <p:blipFill rotWithShape="1">
          <a:blip r:embed="rId2">
            <a:alphaModFix/>
          </a:blip>
          <a:srcRect b="0" l="0" r="0" t="0"/>
          <a:stretch/>
        </p:blipFill>
        <p:spPr>
          <a:xfrm>
            <a:off x="14859000" y="9171432"/>
            <a:ext cx="2517969" cy="438912"/>
          </a:xfrm>
          <a:prstGeom prst="rect">
            <a:avLst/>
          </a:prstGeom>
          <a:noFill/>
          <a:ln>
            <a:noFill/>
          </a:ln>
        </p:spPr>
      </p:pic>
      <p:sp>
        <p:nvSpPr>
          <p:cNvPr id="146" name="TextBox 145"/>
          <p:cNvSpPr txBox="1"/>
          <p:nvPr/>
        </p:nvSpPr>
        <p:spPr>
          <a:xfrm>
            <a:off x="914400" y="2103120"/>
            <a:ext cx="16459200" cy="900000"/>
          </a:xfrm>
          <a:prstGeom prst="rect">
            <a:avLst/>
          </a:prstGeom>
          <a:noFill/>
        </p:spPr>
        <p:txBody>
          <a:bodyPr wrap="square" lIns="0" rIns="0" tIns="0" bIns="0" anchor="t">
            <a:spAutoFit/>
          </a:bodyPr>
          <a:lstStyle/>
          <a:p>
            <a:pPr algn="l"/>
            <a:r>
              <a:rPr sz="5800" b="1">
                <a:solidFill>
                  <a:srgbClr val="0E0F11"/>
                </a:solidFill>
                <a:latin typeface="Inter Tight"/>
              </a:rPr>
              <a:t>Who uses it, and why</a:t>
            </a:r>
          </a:p>
        </p:txBody>
      </p:sp>
      <p:sp>
        <p:nvSpPr>
          <p:cNvPr id="147" name="TextBox 146"/>
          <p:cNvSpPr txBox="1"/>
          <p:nvPr/>
        </p:nvSpPr>
        <p:spPr>
          <a:xfrm>
            <a:off x="914400" y="3500000"/>
            <a:ext cx="11300000" cy="1800000"/>
          </a:xfrm>
          <a:prstGeom prst="rect">
            <a:avLst/>
          </a:prstGeom>
          <a:noFill/>
        </p:spPr>
        <p:txBody>
          <a:bodyPr wrap="square" lIns="0" rIns="0" tIns="0" bIns="0" anchor="t">
            <a:spAutoFit/>
          </a:bodyPr>
          <a:lstStyle/>
          <a:p>
            <a:pPr algn="l"/>
            <a:r>
              <a:rPr sz="3400" b="1">
                <a:solidFill>
                  <a:srgbClr val="0E0F11"/>
                </a:solidFill>
                <a:latin typeface="Instrument Sans"/>
              </a:rPr>
              <a:t>Exporter</a:t>
            </a:r>
            <a:r>
              <a:rPr sz="3400" b="0">
                <a:solidFill>
                  <a:srgbClr val="0E0F11"/>
                </a:solidFill>
                <a:latin typeface="Instrument Sans"/>
              </a:rPr>
              <a:t>, custodians (warehouse, port, carrier, customs), </a:t>
            </a:r>
            <a:r>
              <a:rPr sz="3400" b="1">
                <a:solidFill>
                  <a:srgbClr val="0E0F11"/>
                </a:solidFill>
                <a:latin typeface="Instrument Sans"/>
              </a:rPr>
              <a:t>buyer</a:t>
            </a:r>
            <a:r>
              <a:rPr sz="3400" b="0">
                <a:solidFill>
                  <a:srgbClr val="0E0F11"/>
                </a:solidFill>
                <a:latin typeface="Instrument Sans"/>
              </a:rPr>
              <a:t>, </a:t>
            </a:r>
            <a:r>
              <a:rPr sz="3400" b="1">
                <a:solidFill>
                  <a:srgbClr val="0E0F11"/>
                </a:solidFill>
                <a:latin typeface="Instrument Sans"/>
              </a:rPr>
              <a:t>financier</a:t>
            </a:r>
            <a:r>
              <a:rPr sz="3400" b="0">
                <a:solidFill>
                  <a:srgbClr val="0E0F11"/>
                </a:solidFill>
                <a:latin typeface="Instrument Sans"/>
              </a:rPr>
              <a:t>.</a:t>
            </a:r>
          </a:p>
        </p:txBody>
      </p:sp>
      <p:sp>
        <p:nvSpPr>
          <p:cNvPr id="148" name="TextBox 147"/>
          <p:cNvSpPr txBox="1"/>
          <p:nvPr/>
        </p:nvSpPr>
        <p:spPr>
          <a:xfrm>
            <a:off x="914400" y="5000000"/>
            <a:ext cx="11300000" cy="2200000"/>
          </a:xfrm>
          <a:prstGeom prst="rect">
            <a:avLst/>
          </a:prstGeom>
          <a:noFill/>
        </p:spPr>
        <p:txBody>
          <a:bodyPr wrap="square" lIns="0" rIns="0" tIns="0" bIns="0" anchor="t">
            <a:spAutoFit/>
          </a:bodyPr>
          <a:lstStyle/>
          <a:p>
            <a:pPr algn="l"/>
            <a:r>
              <a:rPr sz="3400" b="1">
                <a:solidFill>
                  <a:srgbClr val="556F00"/>
                </a:solidFill>
                <a:latin typeface="Instrument Sans"/>
              </a:rPr>
              <a:t>Value: </a:t>
            </a:r>
            <a:r>
              <a:rPr sz="3400" b="0">
                <a:solidFill>
                  <a:srgbClr val="0E0F11"/>
                </a:solidFill>
                <a:latin typeface="Instrument Sans"/>
              </a:rPr>
              <a:t>a financier can see where the goods are, and who signed for them, before paying.</a:t>
            </a:r>
          </a:p>
        </p:txBody>
      </p:sp>
      <p:sp>
        <p:nvSpPr>
          <p:cNvPr id="149" name="TextBox 148"/>
          <p:cNvSpPr txBox="1"/>
          <p:nvPr/>
        </p:nvSpPr>
        <p:spPr>
          <a:xfrm>
            <a:off x="914400" y="7300000"/>
            <a:ext cx="11300000" cy="500000"/>
          </a:xfrm>
          <a:prstGeom prst="rect">
            <a:avLst/>
          </a:prstGeom>
          <a:noFill/>
        </p:spPr>
        <p:txBody>
          <a:bodyPr wrap="square" lIns="0" rIns="0" tIns="0" bIns="0" anchor="t">
            <a:spAutoFit/>
          </a:bodyPr>
          <a:lstStyle/>
          <a:p>
            <a:pPr algn="l"/>
            <a:r>
              <a:rPr sz="3400" b="1">
                <a:solidFill>
                  <a:srgbClr val="0E0F11"/>
                </a:solidFill>
                <a:latin typeface="Instrument Sans"/>
              </a:rPr>
              <a:t>No users yet.</a:t>
            </a:r>
          </a:p>
        </p:txBody>
      </p:sp>
      <p:sp>
        <p:nvSpPr>
          <p:cNvPr id="150" name="TextBox 149"/>
          <p:cNvSpPr txBox="1"/>
          <p:nvPr/>
        </p:nvSpPr>
        <p:spPr>
          <a:xfrm>
            <a:off x="914400" y="8200000"/>
            <a:ext cx="11300000" cy="400000"/>
          </a:xfrm>
          <a:prstGeom prst="rect">
            <a:avLst/>
          </a:prstGeom>
          <a:noFill/>
        </p:spPr>
        <p:txBody>
          <a:bodyPr wrap="square" lIns="0" rIns="0" tIns="0" bIns="0" anchor="t">
            <a:spAutoFit/>
          </a:bodyPr>
          <a:lstStyle/>
          <a:p>
            <a:pPr algn="l"/>
            <a:r>
              <a:rPr sz="2200" b="0">
                <a:solidFill>
                  <a:srgbClr val="4D5560"/>
                </a:solidFill>
                <a:latin typeface="JetBrains Mono"/>
              </a:rPr>
              <a:t>Public shipment page: rio-miami-rail.vercel.app</a:t>
            </a:r>
          </a:p>
        </p:txBody>
      </p:sp>
      <p:sp>
        <p:nvSpPr>
          <p:cNvPr id="151" name="Rectangle 150"/>
          <p:cNvSpPr/>
          <p:nvPr/>
        </p:nvSpPr>
        <p:spPr>
          <a:xfrm>
            <a:off x="13567050" y="3380950"/>
            <a:ext cx="3825600" cy="5088100"/>
          </a:xfrm>
          <a:prstGeom prst="rect">
            <a:avLst/>
          </a:prstGeom>
          <a:noFill/>
          <a:ln w="19050">
            <a:solidFill>
              <a:srgbClr val="DFDDD6"/>
            </a:solidFill>
          </a:ln>
        </p:spPr>
        <p:txBody>
          <a:bodyPr rtlCol="0" anchor="ctr"/>
          <a:lstStyle/>
          <a:p>
            <a:pPr algn="ctr"/>
          </a:p>
        </p:txBody>
      </p:sp>
      <p:pic>
        <p:nvPicPr>
          <p:cNvPr id="152" name="Picture 151" descr="shot-page-delivered.png"/>
          <p:cNvPicPr>
            <a:picLocks noChangeAspect="1"/>
          </p:cNvPicPr>
          <p:nvPr/>
        </p:nvPicPr>
        <p:blipFill>
          <a:blip r:embed="rId3"/>
          <a:stretch>
            <a:fillRect/>
          </a:stretch>
        </p:blipFill>
        <p:spPr>
          <a:xfrm>
            <a:off x="13586100" y="3400000"/>
            <a:ext cx="3787500" cy="5050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28" name="Google Shape;128;p15"/>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9" name="Google Shape;129;p15"/>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PLATFORM 07 / 09</a:t>
            </a:r>
            <a:endParaRPr/>
          </a:p>
        </p:txBody>
      </p:sp>
      <p:sp>
        <p:nvSpPr>
          <p:cNvPr id="130" name="Google Shape;130;p15"/>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HACKMERIDIAN 2026 · LISBON</a:t>
            </a:r>
            <a:endParaRPr/>
          </a:p>
        </p:txBody>
      </p:sp>
      <p:sp>
        <p:nvSpPr>
          <p:cNvPr id="131" name="Google Shape;131;p15"/>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NEXT ▸ NEXT STEPS</a:t>
            </a:r>
            <a:endParaRPr/>
          </a:p>
        </p:txBody>
      </p:sp>
      <p:sp>
        <p:nvSpPr>
          <p:cNvPr id="132" name="Google Shape;132;p15"/>
          <p:cNvSpPr/>
          <p:nvPr/>
        </p:nvSpPr>
        <p:spPr>
          <a:xfrm>
            <a:off x="914400" y="1417320"/>
            <a:ext cx="3500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F0F0F"/>
                </a:solidFill>
                <a:latin typeface="JetBrains Mono"/>
                <a:ea typeface="JetBrains Mono"/>
                <a:cs typeface="JetBrains Mono"/>
                <a:sym typeface="JetBrains Mono"/>
              </a:rPr>
              <a:t>BUSINESS</a:t>
            </a:r>
            <a:endParaRPr/>
          </a:p>
        </p:txBody>
      </p:sp>
      <p:sp>
        <p:nvSpPr>
          <p:cNvPr id="143" name="Google Shape;143;p15"/>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44" name="Google Shape;144;p15"/>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descr="hm-black.png" id="145" name="Google Shape;145;p15"/>
          <p:cNvPicPr preferRelativeResize="0"/>
          <p:nvPr/>
        </p:nvPicPr>
        <p:blipFill rotWithShape="1">
          <a:blip r:embed="rId2">
            <a:alphaModFix/>
          </a:blip>
          <a:srcRect b="0" l="0" r="0" t="0"/>
          <a:stretch/>
        </p:blipFill>
        <p:spPr>
          <a:xfrm>
            <a:off x="14859000" y="9171432"/>
            <a:ext cx="2517969" cy="438912"/>
          </a:xfrm>
          <a:prstGeom prst="rect">
            <a:avLst/>
          </a:prstGeom>
          <a:noFill/>
          <a:ln>
            <a:noFill/>
          </a:ln>
        </p:spPr>
      </p:pic>
      <p:sp>
        <p:nvSpPr>
          <p:cNvPr id="146" name="TextBox 145"/>
          <p:cNvSpPr txBox="1"/>
          <p:nvPr/>
        </p:nvSpPr>
        <p:spPr>
          <a:xfrm>
            <a:off x="914400" y="2103120"/>
            <a:ext cx="16459200" cy="900000"/>
          </a:xfrm>
          <a:prstGeom prst="rect">
            <a:avLst/>
          </a:prstGeom>
          <a:noFill/>
        </p:spPr>
        <p:txBody>
          <a:bodyPr wrap="square" lIns="0" rIns="0" tIns="0" bIns="0" anchor="t">
            <a:spAutoFit/>
          </a:bodyPr>
          <a:lstStyle/>
          <a:p>
            <a:pPr algn="l"/>
            <a:r>
              <a:rPr sz="5800" b="1">
                <a:solidFill>
                  <a:srgbClr val="0E0F11"/>
                </a:solidFill>
                <a:latin typeface="Inter Tight"/>
              </a:rPr>
              <a:t>The rail is ours; the format is public</a:t>
            </a:r>
          </a:p>
        </p:txBody>
      </p:sp>
      <p:sp>
        <p:nvSpPr>
          <p:cNvPr id="147" name="Rectangle 146"/>
          <p:cNvSpPr/>
          <p:nvPr/>
        </p:nvSpPr>
        <p:spPr>
          <a:xfrm>
            <a:off x="914400" y="3500000"/>
            <a:ext cx="16459200" cy="19050"/>
          </a:xfrm>
          <a:prstGeom prst="rect">
            <a:avLst/>
          </a:prstGeom>
          <a:solidFill>
            <a:srgbClr val="DFDDD6"/>
          </a:solidFill>
          <a:ln>
            <a:noFill/>
          </a:ln>
        </p:spPr>
        <p:txBody>
          <a:bodyPr rtlCol="0" anchor="ctr"/>
          <a:lstStyle/>
          <a:p>
            <a:pPr algn="ctr"/>
          </a:p>
        </p:txBody>
      </p:sp>
      <p:sp>
        <p:nvSpPr>
          <p:cNvPr id="148" name="TextBox 147"/>
          <p:cNvSpPr txBox="1"/>
          <p:nvPr/>
        </p:nvSpPr>
        <p:spPr>
          <a:xfrm>
            <a:off x="914400" y="3830000"/>
            <a:ext cx="3000000" cy="400000"/>
          </a:xfrm>
          <a:prstGeom prst="rect">
            <a:avLst/>
          </a:prstGeom>
          <a:noFill/>
        </p:spPr>
        <p:txBody>
          <a:bodyPr wrap="square" lIns="0" rIns="0" tIns="0" bIns="0" anchor="t">
            <a:spAutoFit/>
          </a:bodyPr>
          <a:lstStyle/>
          <a:p>
            <a:pPr algn="l"/>
            <a:r>
              <a:rPr sz="2600" b="1">
                <a:solidFill>
                  <a:srgbClr val="556F00"/>
                </a:solidFill>
                <a:latin typeface="JetBrains Mono"/>
              </a:rPr>
              <a:t>MODEL</a:t>
            </a:r>
          </a:p>
        </p:txBody>
      </p:sp>
      <p:sp>
        <p:nvSpPr>
          <p:cNvPr id="149" name="TextBox 148"/>
          <p:cNvSpPr txBox="1"/>
          <p:nvPr/>
        </p:nvSpPr>
        <p:spPr>
          <a:xfrm>
            <a:off x="4114400" y="3730000"/>
            <a:ext cx="13259200" cy="800000"/>
          </a:xfrm>
          <a:prstGeom prst="rect">
            <a:avLst/>
          </a:prstGeom>
          <a:noFill/>
        </p:spPr>
        <p:txBody>
          <a:bodyPr wrap="square" lIns="0" rIns="0" tIns="0" bIns="0" anchor="t">
            <a:spAutoFit/>
          </a:bodyPr>
          <a:lstStyle/>
          <a:p>
            <a:pPr algn="l"/>
            <a:r>
              <a:rPr sz="3400" b="0">
                <a:solidFill>
                  <a:srgbClr val="0E0F11"/>
                </a:solidFill>
                <a:latin typeface="Instrument Sans"/>
              </a:rPr>
              <a:t>SWIFT model: public record format; Radox runs the rail and API.</a:t>
            </a:r>
          </a:p>
        </p:txBody>
      </p:sp>
      <p:sp>
        <p:nvSpPr>
          <p:cNvPr id="150" name="Rectangle 149"/>
          <p:cNvSpPr/>
          <p:nvPr/>
        </p:nvSpPr>
        <p:spPr>
          <a:xfrm>
            <a:off x="914400" y="4650000"/>
            <a:ext cx="16459200" cy="19050"/>
          </a:xfrm>
          <a:prstGeom prst="rect">
            <a:avLst/>
          </a:prstGeom>
          <a:solidFill>
            <a:srgbClr val="DFDDD6"/>
          </a:solidFill>
          <a:ln>
            <a:noFill/>
          </a:ln>
        </p:spPr>
        <p:txBody>
          <a:bodyPr rtlCol="0" anchor="ctr"/>
          <a:lstStyle/>
          <a:p>
            <a:pPr algn="ctr"/>
          </a:p>
        </p:txBody>
      </p:sp>
      <p:sp>
        <p:nvSpPr>
          <p:cNvPr id="151" name="TextBox 150"/>
          <p:cNvSpPr txBox="1"/>
          <p:nvPr/>
        </p:nvSpPr>
        <p:spPr>
          <a:xfrm>
            <a:off x="914400" y="4980000"/>
            <a:ext cx="3000000" cy="400000"/>
          </a:xfrm>
          <a:prstGeom prst="rect">
            <a:avLst/>
          </a:prstGeom>
          <a:noFill/>
        </p:spPr>
        <p:txBody>
          <a:bodyPr wrap="square" lIns="0" rIns="0" tIns="0" bIns="0" anchor="t">
            <a:spAutoFit/>
          </a:bodyPr>
          <a:lstStyle/>
          <a:p>
            <a:pPr algn="l"/>
            <a:r>
              <a:rPr sz="2600" b="1">
                <a:solidFill>
                  <a:srgbClr val="556F00"/>
                </a:solidFill>
                <a:latin typeface="JetBrains Mono"/>
              </a:rPr>
              <a:t>REVENUE</a:t>
            </a:r>
          </a:p>
        </p:txBody>
      </p:sp>
      <p:sp>
        <p:nvSpPr>
          <p:cNvPr id="152" name="TextBox 151"/>
          <p:cNvSpPr txBox="1"/>
          <p:nvPr/>
        </p:nvSpPr>
        <p:spPr>
          <a:xfrm>
            <a:off x="4114400" y="4880000"/>
            <a:ext cx="13259200" cy="800000"/>
          </a:xfrm>
          <a:prstGeom prst="rect">
            <a:avLst/>
          </a:prstGeom>
          <a:noFill/>
        </p:spPr>
        <p:txBody>
          <a:bodyPr wrap="square" lIns="0" rIns="0" tIns="0" bIns="0" anchor="t">
            <a:spAutoFit/>
          </a:bodyPr>
          <a:lstStyle/>
          <a:p>
            <a:pPr algn="l"/>
            <a:r>
              <a:rPr sz="3400" b="0">
                <a:solidFill>
                  <a:srgbClr val="0E0F11"/>
                </a:solidFill>
                <a:latin typeface="Instrument Sans"/>
              </a:rPr>
              <a:t>Fee from the institution operating it; not priced yet.</a:t>
            </a:r>
          </a:p>
        </p:txBody>
      </p:sp>
      <p:sp>
        <p:nvSpPr>
          <p:cNvPr id="153" name="Rectangle 152"/>
          <p:cNvSpPr/>
          <p:nvPr/>
        </p:nvSpPr>
        <p:spPr>
          <a:xfrm>
            <a:off x="914400" y="5800000"/>
            <a:ext cx="16459200" cy="19050"/>
          </a:xfrm>
          <a:prstGeom prst="rect">
            <a:avLst/>
          </a:prstGeom>
          <a:solidFill>
            <a:srgbClr val="DFDDD6"/>
          </a:solidFill>
          <a:ln>
            <a:noFill/>
          </a:ln>
        </p:spPr>
        <p:txBody>
          <a:bodyPr rtlCol="0" anchor="ctr"/>
          <a:lstStyle/>
          <a:p>
            <a:pPr algn="ctr"/>
          </a:p>
        </p:txBody>
      </p:sp>
      <p:sp>
        <p:nvSpPr>
          <p:cNvPr id="154" name="TextBox 153"/>
          <p:cNvSpPr txBox="1"/>
          <p:nvPr/>
        </p:nvSpPr>
        <p:spPr>
          <a:xfrm>
            <a:off x="914400" y="6130000"/>
            <a:ext cx="3000000" cy="400000"/>
          </a:xfrm>
          <a:prstGeom prst="rect">
            <a:avLst/>
          </a:prstGeom>
          <a:noFill/>
        </p:spPr>
        <p:txBody>
          <a:bodyPr wrap="square" lIns="0" rIns="0" tIns="0" bIns="0" anchor="t">
            <a:spAutoFit/>
          </a:bodyPr>
          <a:lstStyle/>
          <a:p>
            <a:pPr algn="l"/>
            <a:r>
              <a:rPr sz="2600" b="1">
                <a:solidFill>
                  <a:srgbClr val="556F00"/>
                </a:solidFill>
                <a:latin typeface="JetBrains Mono"/>
              </a:rPr>
              <a:t>NEXT</a:t>
            </a:r>
          </a:p>
        </p:txBody>
      </p:sp>
      <p:sp>
        <p:nvSpPr>
          <p:cNvPr id="155" name="TextBox 154"/>
          <p:cNvSpPr txBox="1"/>
          <p:nvPr/>
        </p:nvSpPr>
        <p:spPr>
          <a:xfrm>
            <a:off x="4114400" y="6030000"/>
            <a:ext cx="13259200" cy="800000"/>
          </a:xfrm>
          <a:prstGeom prst="rect">
            <a:avLst/>
          </a:prstGeom>
          <a:noFill/>
        </p:spPr>
        <p:txBody>
          <a:bodyPr wrap="square" lIns="0" rIns="0" tIns="0" bIns="0" anchor="t">
            <a:spAutoFit/>
          </a:bodyPr>
          <a:lstStyle/>
          <a:p>
            <a:pPr algn="l"/>
            <a:r>
              <a:rPr sz="3400" b="0">
                <a:solidFill>
                  <a:srgbClr val="0E0F11"/>
                </a:solidFill>
                <a:latin typeface="Instrument Sans"/>
              </a:rPr>
              <a:t>One pilot shipment with one producer; none agreed.</a:t>
            </a:r>
          </a:p>
        </p:txBody>
      </p:sp>
      <p:sp>
        <p:nvSpPr>
          <p:cNvPr id="156" name="Rectangle 155"/>
          <p:cNvSpPr/>
          <p:nvPr/>
        </p:nvSpPr>
        <p:spPr>
          <a:xfrm>
            <a:off x="1214400" y="7450000"/>
            <a:ext cx="15859200" cy="19050"/>
          </a:xfrm>
          <a:prstGeom prst="rect">
            <a:avLst/>
          </a:prstGeom>
          <a:solidFill>
            <a:srgbClr val="556F00"/>
          </a:solidFill>
          <a:ln>
            <a:noFill/>
          </a:ln>
        </p:spPr>
        <p:txBody>
          <a:bodyPr rtlCol="0" anchor="ctr"/>
          <a:lstStyle/>
          <a:p>
            <a:pPr algn="ctr"/>
          </a:p>
        </p:txBody>
      </p:sp>
      <p:sp>
        <p:nvSpPr>
          <p:cNvPr id="157" name="Oval 156"/>
          <p:cNvSpPr/>
          <p:nvPr/>
        </p:nvSpPr>
        <p:spPr>
          <a:xfrm>
            <a:off x="4291240" y="7364525"/>
            <a:ext cx="190000" cy="190000"/>
          </a:xfrm>
          <a:prstGeom prst="ellipse">
            <a:avLst/>
          </a:prstGeom>
          <a:solidFill>
            <a:srgbClr val="556F00"/>
          </a:solidFill>
          <a:ln>
            <a:noFill/>
          </a:ln>
        </p:spPr>
        <p:txBody>
          <a:bodyPr rtlCol="0" anchor="ctr"/>
          <a:lstStyle/>
          <a:p>
            <a:pPr algn="ctr"/>
          </a:p>
        </p:txBody>
      </p:sp>
      <p:sp>
        <p:nvSpPr>
          <p:cNvPr id="158" name="Oval 157"/>
          <p:cNvSpPr/>
          <p:nvPr/>
        </p:nvSpPr>
        <p:spPr>
          <a:xfrm>
            <a:off x="7463080" y="7364525"/>
            <a:ext cx="190000" cy="190000"/>
          </a:xfrm>
          <a:prstGeom prst="ellipse">
            <a:avLst/>
          </a:prstGeom>
          <a:solidFill>
            <a:srgbClr val="556F00"/>
          </a:solidFill>
          <a:ln>
            <a:noFill/>
          </a:ln>
        </p:spPr>
        <p:txBody>
          <a:bodyPr rtlCol="0" anchor="ctr"/>
          <a:lstStyle/>
          <a:p>
            <a:pPr algn="ctr"/>
          </a:p>
        </p:txBody>
      </p:sp>
      <p:sp>
        <p:nvSpPr>
          <p:cNvPr id="159" name="Oval 158"/>
          <p:cNvSpPr/>
          <p:nvPr/>
        </p:nvSpPr>
        <p:spPr>
          <a:xfrm>
            <a:off x="10634920" y="7364525"/>
            <a:ext cx="190000" cy="190000"/>
          </a:xfrm>
          <a:prstGeom prst="ellipse">
            <a:avLst/>
          </a:prstGeom>
          <a:solidFill>
            <a:srgbClr val="556F00"/>
          </a:solidFill>
          <a:ln>
            <a:noFill/>
          </a:ln>
        </p:spPr>
        <p:txBody>
          <a:bodyPr rtlCol="0" anchor="ctr"/>
          <a:lstStyle/>
          <a:p>
            <a:pPr algn="ctr"/>
          </a:p>
        </p:txBody>
      </p:sp>
      <p:sp>
        <p:nvSpPr>
          <p:cNvPr id="160" name="Oval 159"/>
          <p:cNvSpPr/>
          <p:nvPr/>
        </p:nvSpPr>
        <p:spPr>
          <a:xfrm>
            <a:off x="13806760" y="7364525"/>
            <a:ext cx="190000" cy="190000"/>
          </a:xfrm>
          <a:prstGeom prst="ellipse">
            <a:avLst/>
          </a:prstGeom>
          <a:solidFill>
            <a:srgbClr val="556F00"/>
          </a:solidFill>
          <a:ln>
            <a:noFill/>
          </a:ln>
        </p:spPr>
        <p:txBody>
          <a:bodyPr rtlCol="0" anchor="ctr"/>
          <a:lstStyle/>
          <a:p>
            <a:pPr algn="ctr"/>
          </a:p>
        </p:txBody>
      </p:sp>
      <p:sp>
        <p:nvSpPr>
          <p:cNvPr id="161" name="Oval 160"/>
          <p:cNvSpPr/>
          <p:nvPr/>
        </p:nvSpPr>
        <p:spPr>
          <a:xfrm>
            <a:off x="1064400" y="7309525"/>
            <a:ext cx="300000" cy="300000"/>
          </a:xfrm>
          <a:prstGeom prst="ellipse">
            <a:avLst/>
          </a:prstGeom>
          <a:solidFill>
            <a:srgbClr val="556F00"/>
          </a:solidFill>
          <a:ln>
            <a:noFill/>
          </a:ln>
        </p:spPr>
        <p:txBody>
          <a:bodyPr rtlCol="0" anchor="ctr"/>
          <a:lstStyle/>
          <a:p>
            <a:pPr algn="ctr"/>
          </a:p>
        </p:txBody>
      </p:sp>
      <p:sp>
        <p:nvSpPr>
          <p:cNvPr id="162" name="Oval 161"/>
          <p:cNvSpPr/>
          <p:nvPr/>
        </p:nvSpPr>
        <p:spPr>
          <a:xfrm>
            <a:off x="16923600" y="7309525"/>
            <a:ext cx="300000" cy="300000"/>
          </a:xfrm>
          <a:prstGeom prst="ellipse">
            <a:avLst/>
          </a:prstGeom>
          <a:solidFill>
            <a:srgbClr val="556F00"/>
          </a:solidFill>
          <a:ln>
            <a:noFill/>
          </a:ln>
        </p:spPr>
        <p:txBody>
          <a:bodyPr rtlCol="0" anchor="ctr"/>
          <a:lstStyle/>
          <a:p>
            <a:pPr algn="ctr"/>
          </a:p>
        </p:txBody>
      </p:sp>
      <p:sp>
        <p:nvSpPr>
          <p:cNvPr id="163" name="TextBox 162"/>
          <p:cNvSpPr txBox="1"/>
          <p:nvPr/>
        </p:nvSpPr>
        <p:spPr>
          <a:xfrm>
            <a:off x="1214400" y="7700000"/>
            <a:ext cx="2400000" cy="330000"/>
          </a:xfrm>
          <a:prstGeom prst="rect">
            <a:avLst/>
          </a:prstGeom>
          <a:noFill/>
        </p:spPr>
        <p:txBody>
          <a:bodyPr wrap="square" lIns="0" rIns="0" tIns="0" bIns="0" anchor="t">
            <a:spAutoFit/>
          </a:bodyPr>
          <a:lstStyle/>
          <a:p>
            <a:pPr algn="l"/>
            <a:r>
              <a:rPr sz="2200" b="1">
                <a:solidFill>
                  <a:srgbClr val="4D5560"/>
                </a:solidFill>
                <a:latin typeface="JetBrains Mono"/>
              </a:rPr>
              <a:t>RIO</a:t>
            </a:r>
          </a:p>
        </p:txBody>
      </p:sp>
      <p:sp>
        <p:nvSpPr>
          <p:cNvPr id="164" name="TextBox 163"/>
          <p:cNvSpPr txBox="1"/>
          <p:nvPr/>
        </p:nvSpPr>
        <p:spPr>
          <a:xfrm>
            <a:off x="14673600" y="7700000"/>
            <a:ext cx="2400000" cy="330000"/>
          </a:xfrm>
          <a:prstGeom prst="rect">
            <a:avLst/>
          </a:prstGeom>
          <a:noFill/>
        </p:spPr>
        <p:txBody>
          <a:bodyPr wrap="square" lIns="0" rIns="0" tIns="0" bIns="0" anchor="t">
            <a:spAutoFit/>
          </a:bodyPr>
          <a:lstStyle/>
          <a:p>
            <a:pPr algn="r"/>
            <a:r>
              <a:rPr sz="2200" b="1">
                <a:solidFill>
                  <a:srgbClr val="4D5560"/>
                </a:solidFill>
                <a:latin typeface="JetBrains Mono"/>
              </a:rPr>
              <a:t>MIAMI</a:t>
            </a:r>
          </a:p>
        </p:txBody>
      </p:sp>
      <p:sp>
        <p:nvSpPr>
          <p:cNvPr id="165" name="TextBox 164"/>
          <p:cNvSpPr txBox="1"/>
          <p:nvPr/>
        </p:nvSpPr>
        <p:spPr>
          <a:xfrm>
            <a:off x="914400" y="8400000"/>
            <a:ext cx="16459200" cy="400000"/>
          </a:xfrm>
          <a:prstGeom prst="rect">
            <a:avLst/>
          </a:prstGeom>
          <a:noFill/>
        </p:spPr>
        <p:txBody>
          <a:bodyPr wrap="square" lIns="0" rIns="0" tIns="0" bIns="0" anchor="t">
            <a:spAutoFit/>
          </a:bodyPr>
          <a:lstStyle/>
          <a:p>
            <a:pPr algn="l"/>
            <a:r>
              <a:rPr sz="2200" b="0">
                <a:solidFill>
                  <a:srgbClr val="4D5560"/>
                </a:solidFill>
                <a:latin typeface="Instrument Sans"/>
              </a:rPr>
              <a:t>Context: a Rio–Miami trade-corridor initiative. No agreement, endorsement or pilot.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28" name="Google Shape;128;p15"/>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9" name="Google Shape;129;p15"/>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PLATFORM 08 / 09</a:t>
            </a:r>
            <a:endParaRPr/>
          </a:p>
        </p:txBody>
      </p:sp>
      <p:sp>
        <p:nvSpPr>
          <p:cNvPr id="130" name="Google Shape;130;p15"/>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HACKMERIDIAN 2026 · LISBON</a:t>
            </a:r>
            <a:endParaRPr/>
          </a:p>
        </p:txBody>
      </p:sp>
      <p:sp>
        <p:nvSpPr>
          <p:cNvPr id="131" name="Google Shape;131;p15"/>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800" u="none" cap="none" strike="noStrike">
                <a:solidFill>
                  <a:srgbClr val="FFFFFF"/>
                </a:solidFill>
                <a:latin typeface="JetBrains Mono"/>
                <a:ea typeface="JetBrains Mono"/>
                <a:cs typeface="JetBrains Mono"/>
                <a:sym typeface="JetBrains Mono"/>
              </a:rPr>
              <a:t>NEXT ▸ THE TEAM</a:t>
            </a:r>
            <a:endParaRPr/>
          </a:p>
        </p:txBody>
      </p:sp>
      <p:sp>
        <p:nvSpPr>
          <p:cNvPr id="132" name="Google Shape;132;p15"/>
          <p:cNvSpPr/>
          <p:nvPr/>
        </p:nvSpPr>
        <p:spPr>
          <a:xfrm>
            <a:off x="914400" y="1417320"/>
            <a:ext cx="3500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F0F0F"/>
                </a:solidFill>
                <a:latin typeface="JetBrains Mono"/>
                <a:ea typeface="JetBrains Mono"/>
                <a:cs typeface="JetBrains Mono"/>
                <a:sym typeface="JetBrains Mono"/>
              </a:rPr>
              <a:t>MARKET + NEXT</a:t>
            </a:r>
            <a:endParaRPr/>
          </a:p>
        </p:txBody>
      </p:sp>
      <p:sp>
        <p:nvSpPr>
          <p:cNvPr id="143" name="Google Shape;143;p15"/>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44" name="Google Shape;144;p15"/>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descr="hm-black.png" id="145" name="Google Shape;145;p15"/>
          <p:cNvPicPr preferRelativeResize="0"/>
          <p:nvPr/>
        </p:nvPicPr>
        <p:blipFill rotWithShape="1">
          <a:blip r:embed="rId2">
            <a:alphaModFix/>
          </a:blip>
          <a:srcRect b="0" l="0" r="0" t="0"/>
          <a:stretch/>
        </p:blipFill>
        <p:spPr>
          <a:xfrm>
            <a:off x="14859000" y="9171432"/>
            <a:ext cx="2517969" cy="438912"/>
          </a:xfrm>
          <a:prstGeom prst="rect">
            <a:avLst/>
          </a:prstGeom>
          <a:noFill/>
          <a:ln>
            <a:noFill/>
          </a:ln>
        </p:spPr>
      </p:pic>
      <p:sp>
        <p:nvSpPr>
          <p:cNvPr id="146" name="TextBox 145"/>
          <p:cNvSpPr txBox="1"/>
          <p:nvPr/>
        </p:nvSpPr>
        <p:spPr>
          <a:xfrm>
            <a:off x="914400" y="2103120"/>
            <a:ext cx="16459200" cy="900000"/>
          </a:xfrm>
          <a:prstGeom prst="rect">
            <a:avLst/>
          </a:prstGeom>
          <a:noFill/>
        </p:spPr>
        <p:txBody>
          <a:bodyPr wrap="square" lIns="0" rIns="0" tIns="0" bIns="0" anchor="t">
            <a:spAutoFit/>
          </a:bodyPr>
          <a:lstStyle/>
          <a:p>
            <a:pPr algn="l"/>
            <a:r>
              <a:rPr sz="5800" b="1">
                <a:solidFill>
                  <a:srgbClr val="0E0F11"/>
                </a:solidFill>
                <a:latin typeface="Inter Tight"/>
              </a:rPr>
              <a:t>From one corridor to a standard</a:t>
            </a:r>
          </a:p>
        </p:txBody>
      </p:sp>
      <p:sp>
        <p:nvSpPr>
          <p:cNvPr id="147" name="Rectangle 146"/>
          <p:cNvSpPr/>
          <p:nvPr/>
        </p:nvSpPr>
        <p:spPr>
          <a:xfrm>
            <a:off x="1064400" y="4000000"/>
            <a:ext cx="16159200" cy="25400"/>
          </a:xfrm>
          <a:prstGeom prst="rect">
            <a:avLst/>
          </a:prstGeom>
          <a:solidFill>
            <a:srgbClr val="556F00"/>
          </a:solidFill>
          <a:ln>
            <a:noFill/>
          </a:ln>
        </p:spPr>
        <p:txBody>
          <a:bodyPr rtlCol="0" anchor="ctr"/>
          <a:lstStyle/>
          <a:p>
            <a:pPr algn="ctr"/>
          </a:p>
        </p:txBody>
      </p:sp>
      <p:sp>
        <p:nvSpPr>
          <p:cNvPr id="148" name="Oval 147"/>
          <p:cNvSpPr/>
          <p:nvPr/>
        </p:nvSpPr>
        <p:spPr>
          <a:xfrm>
            <a:off x="914400" y="3862700"/>
            <a:ext cx="300000" cy="300000"/>
          </a:xfrm>
          <a:prstGeom prst="ellipse">
            <a:avLst/>
          </a:prstGeom>
          <a:solidFill>
            <a:srgbClr val="556F00"/>
          </a:solidFill>
          <a:ln>
            <a:noFill/>
          </a:ln>
        </p:spPr>
        <p:txBody>
          <a:bodyPr rtlCol="0" anchor="ctr"/>
          <a:lstStyle/>
          <a:p>
            <a:pPr algn="ctr"/>
          </a:p>
        </p:txBody>
      </p:sp>
      <p:sp>
        <p:nvSpPr>
          <p:cNvPr id="149" name="TextBox 148"/>
          <p:cNvSpPr txBox="1"/>
          <p:nvPr/>
        </p:nvSpPr>
        <p:spPr>
          <a:xfrm>
            <a:off x="914400" y="4330000"/>
            <a:ext cx="5086400" cy="420000"/>
          </a:xfrm>
          <a:prstGeom prst="rect">
            <a:avLst/>
          </a:prstGeom>
          <a:noFill/>
        </p:spPr>
        <p:txBody>
          <a:bodyPr wrap="square" lIns="0" rIns="0" tIns="0" bIns="0" anchor="t">
            <a:spAutoFit/>
          </a:bodyPr>
          <a:lstStyle/>
          <a:p>
            <a:pPr algn="l"/>
            <a:r>
              <a:rPr sz="2800" b="1">
                <a:solidFill>
                  <a:srgbClr val="556F00"/>
                </a:solidFill>
                <a:latin typeface="JetBrains Mono"/>
              </a:rPr>
              <a:t>NEXT</a:t>
            </a:r>
          </a:p>
        </p:txBody>
      </p:sp>
      <p:sp>
        <p:nvSpPr>
          <p:cNvPr id="150" name="TextBox 149"/>
          <p:cNvSpPr txBox="1"/>
          <p:nvPr/>
        </p:nvSpPr>
        <p:spPr>
          <a:xfrm>
            <a:off x="914400" y="4900000"/>
            <a:ext cx="5036400" cy="2600000"/>
          </a:xfrm>
          <a:prstGeom prst="rect">
            <a:avLst/>
          </a:prstGeom>
          <a:noFill/>
        </p:spPr>
        <p:txBody>
          <a:bodyPr wrap="square" lIns="0" rIns="0" tIns="0" bIns="0" anchor="t">
            <a:spAutoFit/>
          </a:bodyPr>
          <a:lstStyle/>
          <a:p>
            <a:pPr algn="l"/>
            <a:r>
              <a:rPr sz="3800" b="0">
                <a:solidFill>
                  <a:srgbClr val="0E0F11"/>
                </a:solidFill>
                <a:latin typeface="Instrument Sans"/>
              </a:rPr>
              <a:t>Full testnet matrix, then mainnet; an audit is not done.</a:t>
            </a:r>
          </a:p>
        </p:txBody>
      </p:sp>
      <p:sp>
        <p:nvSpPr>
          <p:cNvPr id="151" name="Oval 150"/>
          <p:cNvSpPr/>
          <p:nvPr/>
        </p:nvSpPr>
        <p:spPr>
          <a:xfrm>
            <a:off x="6400800" y="3862700"/>
            <a:ext cx="300000" cy="300000"/>
          </a:xfrm>
          <a:prstGeom prst="ellipse">
            <a:avLst/>
          </a:prstGeom>
          <a:solidFill>
            <a:srgbClr val="556F00"/>
          </a:solidFill>
          <a:ln>
            <a:noFill/>
          </a:ln>
        </p:spPr>
        <p:txBody>
          <a:bodyPr rtlCol="0" anchor="ctr"/>
          <a:lstStyle/>
          <a:p>
            <a:pPr algn="ctr"/>
          </a:p>
        </p:txBody>
      </p:sp>
      <p:sp>
        <p:nvSpPr>
          <p:cNvPr id="152" name="TextBox 151"/>
          <p:cNvSpPr txBox="1"/>
          <p:nvPr/>
        </p:nvSpPr>
        <p:spPr>
          <a:xfrm>
            <a:off x="6400800" y="4330000"/>
            <a:ext cx="5086400" cy="420000"/>
          </a:xfrm>
          <a:prstGeom prst="rect">
            <a:avLst/>
          </a:prstGeom>
          <a:noFill/>
        </p:spPr>
        <p:txBody>
          <a:bodyPr wrap="square" lIns="0" rIns="0" tIns="0" bIns="0" anchor="t">
            <a:spAutoFit/>
          </a:bodyPr>
          <a:lstStyle/>
          <a:p>
            <a:pPr algn="l"/>
            <a:r>
              <a:rPr sz="2800" b="1">
                <a:solidFill>
                  <a:srgbClr val="556F00"/>
                </a:solidFill>
                <a:latin typeface="JetBrains Mono"/>
              </a:rPr>
              <a:t>PLANNED</a:t>
            </a:r>
          </a:p>
        </p:txBody>
      </p:sp>
      <p:sp>
        <p:nvSpPr>
          <p:cNvPr id="153" name="TextBox 152"/>
          <p:cNvSpPr txBox="1"/>
          <p:nvPr/>
        </p:nvSpPr>
        <p:spPr>
          <a:xfrm>
            <a:off x="6400800" y="4900000"/>
            <a:ext cx="5036400" cy="2600000"/>
          </a:xfrm>
          <a:prstGeom prst="rect">
            <a:avLst/>
          </a:prstGeom>
          <a:noFill/>
        </p:spPr>
        <p:txBody>
          <a:bodyPr wrap="square" lIns="0" rIns="0" tIns="0" bIns="0" anchor="t">
            <a:spAutoFit/>
          </a:bodyPr>
          <a:lstStyle/>
          <a:p>
            <a:pPr algn="l"/>
            <a:r>
              <a:rPr sz="3800" b="0">
                <a:solidFill>
                  <a:srgbClr val="0E0F11"/>
                </a:solidFill>
                <a:latin typeface="Instrument Sans"/>
              </a:rPr>
              <a:t>An SCF Build application (not yet submitted).</a:t>
            </a:r>
          </a:p>
        </p:txBody>
      </p:sp>
      <p:sp>
        <p:nvSpPr>
          <p:cNvPr id="154" name="Oval 153"/>
          <p:cNvSpPr/>
          <p:nvPr/>
        </p:nvSpPr>
        <p:spPr>
          <a:xfrm>
            <a:off x="11887200" y="3862700"/>
            <a:ext cx="300000" cy="300000"/>
          </a:xfrm>
          <a:prstGeom prst="ellipse">
            <a:avLst/>
          </a:prstGeom>
          <a:solidFill>
            <a:srgbClr val="556F00"/>
          </a:solidFill>
          <a:ln>
            <a:noFill/>
          </a:ln>
        </p:spPr>
        <p:txBody>
          <a:bodyPr rtlCol="0" anchor="ctr"/>
          <a:lstStyle/>
          <a:p>
            <a:pPr algn="ctr"/>
          </a:p>
        </p:txBody>
      </p:sp>
      <p:sp>
        <p:nvSpPr>
          <p:cNvPr id="155" name="TextBox 154"/>
          <p:cNvSpPr txBox="1"/>
          <p:nvPr/>
        </p:nvSpPr>
        <p:spPr>
          <a:xfrm>
            <a:off x="11887200" y="4330000"/>
            <a:ext cx="5086400" cy="420000"/>
          </a:xfrm>
          <a:prstGeom prst="rect">
            <a:avLst/>
          </a:prstGeom>
          <a:noFill/>
        </p:spPr>
        <p:txBody>
          <a:bodyPr wrap="square" lIns="0" rIns="0" tIns="0" bIns="0" anchor="t">
            <a:spAutoFit/>
          </a:bodyPr>
          <a:lstStyle/>
          <a:p>
            <a:pPr algn="l"/>
            <a:r>
              <a:rPr sz="2800" b="1">
                <a:solidFill>
                  <a:srgbClr val="556F00"/>
                </a:solidFill>
                <a:latin typeface="JetBrains Mono"/>
              </a:rPr>
              <a:t>FUTURE</a:t>
            </a:r>
          </a:p>
        </p:txBody>
      </p:sp>
      <p:sp>
        <p:nvSpPr>
          <p:cNvPr id="156" name="TextBox 155"/>
          <p:cNvSpPr txBox="1"/>
          <p:nvPr/>
        </p:nvSpPr>
        <p:spPr>
          <a:xfrm>
            <a:off x="11887200" y="4900000"/>
            <a:ext cx="5036400" cy="2600000"/>
          </a:xfrm>
          <a:prstGeom prst="rect">
            <a:avLst/>
          </a:prstGeom>
          <a:noFill/>
        </p:spPr>
        <p:txBody>
          <a:bodyPr wrap="square" lIns="0" rIns="0" tIns="0" bIns="0" anchor="t">
            <a:spAutoFit/>
          </a:bodyPr>
          <a:lstStyle/>
          <a:p>
            <a:pPr algn="l"/>
            <a:r>
              <a:rPr sz="3800" b="0">
                <a:solidFill>
                  <a:srgbClr val="0E0F11"/>
                </a:solidFill>
                <a:latin typeface="Instrument Sans"/>
              </a:rPr>
              <a:t>A USD on-ramp leg; not built.</a:t>
            </a:r>
          </a:p>
        </p:txBody>
      </p:sp>
      <p:sp>
        <p:nvSpPr>
          <p:cNvPr id="157" name="TextBox 156"/>
          <p:cNvSpPr txBox="1"/>
          <p:nvPr/>
        </p:nvSpPr>
        <p:spPr>
          <a:xfrm>
            <a:off x="914400" y="7800000"/>
            <a:ext cx="16459200" cy="700000"/>
          </a:xfrm>
          <a:prstGeom prst="rect">
            <a:avLst/>
          </a:prstGeom>
          <a:noFill/>
        </p:spPr>
        <p:txBody>
          <a:bodyPr wrap="square" lIns="0" rIns="0" tIns="0" bIns="0" anchor="t">
            <a:spAutoFit/>
          </a:bodyPr>
          <a:lstStyle/>
          <a:p>
            <a:pPr algn="l"/>
            <a:r>
              <a:rPr sz="3000" b="1">
                <a:solidFill>
                  <a:srgbClr val="0E0F11"/>
                </a:solidFill>
                <a:latin typeface="Instrument Sans"/>
              </a:rPr>
              <a:t>Mentor question: </a:t>
            </a:r>
            <a:r>
              <a:rPr sz="3000" b="0">
                <a:solidFill>
                  <a:srgbClr val="0E0F11"/>
                </a:solidFill>
                <a:latin typeface="Instrument Sans"/>
              </a:rPr>
              <a:t>which ramp delivers USD to a C-address (SEP-45 draft)?</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
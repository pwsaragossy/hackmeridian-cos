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61" r:id="rId23"/>
    <p:sldId id="262" r:id="rId24"/>
    <p:sldId id="263" r:id="rId25"/>
    <p:sldId id="264" r:id="rId26"/>
    <p:sldId id="265" r:id="rId27"/>
    <p:sldId id="266" r:id="rId28"/>
    <p:sldId id="267" r:id="rId29"/>
    <p:sldId id="268" r:id="rId30"/>
    <p:sldId id="269" r:id="rId31"/>
    <p:sldId id="270" r:id="rId32"/>
  </p:sldIdLst>
  <p:sldSz cy="10287000" cx="18288000"/>
  <p:notesSz cx="6858000" cy="9144000"/>
  <p:embeddedFontLst>
    <p:embeddedFont>
      <p:font typeface="Instrument Sans"/>
      <p:regular r:id="rId11"/>
      <p:bold r:id="rId12"/>
      <p:italic r:id="rId13"/>
      <p:boldItalic r:id="rId14"/>
    </p:embeddedFont>
    <p:embeddedFont>
      <p:font typeface="Inter Tight"/>
      <p:regular r:id="rId15"/>
      <p:bold r:id="rId16"/>
      <p:italic r:id="rId17"/>
      <p:boldItalic r:id="rId18"/>
    </p:embeddedFon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1" Type="http://schemas.openxmlformats.org/officeDocument/2006/relationships/font" Target="fonts/InstrumentSans-regular.fntdata"/><Relationship Id="rId12" Type="http://schemas.openxmlformats.org/officeDocument/2006/relationships/font" Target="fonts/InstrumentSans-bold.fntdata"/><Relationship Id="rId13" Type="http://schemas.openxmlformats.org/officeDocument/2006/relationships/font" Target="fonts/InstrumentSans-italic.fntdata"/><Relationship Id="rId14" Type="http://schemas.openxmlformats.org/officeDocument/2006/relationships/font" Target="fonts/InstrumentSans-boldItalic.fntdata"/><Relationship Id="rId15" Type="http://schemas.openxmlformats.org/officeDocument/2006/relationships/font" Target="fonts/InterTight-regular.fntdata"/><Relationship Id="rId16" Type="http://schemas.openxmlformats.org/officeDocument/2006/relationships/font" Target="fonts/InterTight-bold.fntdata"/><Relationship Id="rId17" Type="http://schemas.openxmlformats.org/officeDocument/2006/relationships/font" Target="fonts/InterTight-italic.fntdata"/><Relationship Id="rId18" Type="http://schemas.openxmlformats.org/officeDocument/2006/relationships/font" Target="fonts/InterTight-boldItalic.fntdata"/><Relationship Id="rId19" Type="http://schemas.openxmlformats.org/officeDocument/2006/relationships/font" Target="fonts/JetBrainsMono-regular.fntdata"/><Relationship Id="rId20" Type="http://schemas.openxmlformats.org/officeDocument/2006/relationships/font" Target="fonts/JetBrainsMono-bold.fntdata"/><Relationship Id="rId21" Type="http://schemas.openxmlformats.org/officeDocument/2006/relationships/font" Target="fonts/JetBrainsMono-italic.fntdata"/><Relationship Id="rId22" Type="http://schemas.openxmlformats.org/officeDocument/2006/relationships/font" Target="fonts/JetBrainsMono-boldItalic.fntdata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Inter Tight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 b="0" i="0" sz="4400" u="none" cap="none" strike="noStrike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84" name="Google Shape;84;p13"/>
          <p:cNvSpPr txBox="1"/>
          <p:nvPr/>
        </p:nvSpPr>
        <p:spPr>
          <a:xfrm>
            <a:off x="914400" y="7772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0058400" y="7772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01 / 10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914400" y="1600200"/>
            <a:ext cx="6446520" cy="475488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C6F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TESTNET · TEST KEYS · NOT REAL CUSTODIANS</a:t>
            </a:r>
            <a:endParaRPr/>
          </a:p>
        </p:txBody>
      </p:sp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812280"/>
            <a:ext cx="4721192" cy="822960"/>
          </a:xfrm>
          <a:prstGeom prst="rect">
            <a:avLst/>
          </a:prstGeom>
        </p:spPr>
      </p:pic>
      <p:sp>
        <p:nvSpPr>
          <p:cNvPr id="92" name="Google Shape;92;p13"/>
          <p:cNvSpPr/>
          <p:nvPr/>
        </p:nvSpPr>
        <p:spPr>
          <a:xfrm>
            <a:off x="5989320" y="6766560"/>
            <a:ext cx="18288" cy="914400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6967728"/>
            <a:ext cx="2159633" cy="512064"/>
          </a:xfrm>
          <a:prstGeom prst="rect">
            <a:avLst/>
          </a:prstGeom>
        </p:spPr>
      </p:pic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3960" y="6903720"/>
            <a:ext cx="2483581" cy="621792"/>
          </a:xfrm>
          <a:prstGeom prst="rect">
            <a:avLst/>
          </a:prstGeom>
        </p:spPr>
      </p:pic>
      <p:sp>
        <p:nvSpPr>
          <p:cNvPr id="95" name="Google Shape;95;p13"/>
          <p:cNvSpPr/>
          <p:nvPr/>
        </p:nvSpPr>
        <p:spPr>
          <a:xfrm rot="5400000">
            <a:off x="14904720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13"/>
          <p:cNvSpPr/>
          <p:nvPr/>
        </p:nvSpPr>
        <p:spPr>
          <a:xfrm rot="5400000">
            <a:off x="15599664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7" name="Google Shape;97;p13"/>
          <p:cNvSpPr/>
          <p:nvPr/>
        </p:nvSpPr>
        <p:spPr>
          <a:xfrm rot="5400000">
            <a:off x="16294608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914400" y="8641080"/>
            <a:ext cx="16459200" cy="1371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13"/>
          <p:cNvSpPr txBox="1"/>
          <p:nvPr/>
        </p:nvSpPr>
        <p:spPr>
          <a:xfrm>
            <a:off x="914400" y="896112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October 2026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64008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#HackMeridian26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118872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A7A7A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14400" y="2331720"/>
            <a:ext cx="11430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000" b="1">
                <a:solidFill>
                  <a:srgbClr val="C6F24E"/>
                </a:solidFill>
                <a:latin typeface="Inter Tight"/>
              </a:rPr>
              <a:t>Radox Custody Rail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4400" y="379476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>
                <a:solidFill>
                  <a:srgbClr val="E7E8EA"/>
                </a:solidFill>
                <a:latin typeface="Inter Tight"/>
              </a:rPr>
              <a:t>Know who holds the goods: every handover signed by both custodians.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54406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A3A8B0"/>
                </a:solidFill>
                <a:latin typeface="Instrument Sans"/>
              </a:rPr>
              <a:t>Toward a SWIFT-like custody standard on Stellar  ·  Pilot corridor: Rio–Miami</a:t>
            </a:r>
          </a:p>
        </p:txBody>
      </p:sp>
      <p:pic>
        <p:nvPicPr>
          <p:cNvPr id="105" name="Picture 104" descr="qr-page-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01800" y="1600200"/>
            <a:ext cx="2377440" cy="23774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3075920" y="411480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000" b="0">
                <a:solidFill>
                  <a:srgbClr val="E7E8EA"/>
                </a:solidFill>
                <a:latin typeface="Instrument Sans"/>
              </a:rPr>
              <a:t>Scan: the live shipment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2801600" y="5609844"/>
            <a:ext cx="45720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2682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36428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45572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54716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63860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7254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682728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RIO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663672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MIAMI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02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WHAT IT COSTS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1546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THE PROBLEM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Who holds the cargo right now?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463040" y="3415284"/>
            <a:ext cx="15361919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325880" y="329184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74320" y="36576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28" name="Oval 127"/>
          <p:cNvSpPr/>
          <p:nvPr/>
        </p:nvSpPr>
        <p:spPr>
          <a:xfrm>
            <a:off x="5166359" y="329184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114799" y="36576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0" name="Oval 129"/>
          <p:cNvSpPr/>
          <p:nvPr/>
        </p:nvSpPr>
        <p:spPr>
          <a:xfrm>
            <a:off x="9006839" y="329184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7955279" y="36576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2" name="Oval 131"/>
          <p:cNvSpPr/>
          <p:nvPr/>
        </p:nvSpPr>
        <p:spPr>
          <a:xfrm>
            <a:off x="12847319" y="329184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1795759" y="36576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34" name="Oval 133"/>
          <p:cNvSpPr/>
          <p:nvPr/>
        </p:nvSpPr>
        <p:spPr>
          <a:xfrm>
            <a:off x="16687800" y="329184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5636239" y="36576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Recipient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14400" y="44211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14400" y="46177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{{N1}}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14400" y="57607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{{parties one shipment touches}}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14400" y="66751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{{source, publisher, date}}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492240" y="44211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92240" y="46177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{{N2}}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492240" y="57607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{{documents per shipment}}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492240" y="66751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{{source, publisher, date}}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12070080" y="44211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2070080" y="46177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{{N3}}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070080" y="57607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{{share still on paper}}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070080" y="66751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{{source, publisher, date}}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14400" y="786384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Context: our explainer video about a Rio–Miami trade-corridor initiative poses one possibility: a unique digital record for every shipment that both sides can check. This project is a custody layer for that record.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03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SOLUTION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4290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WHAT IT COSTS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Paper custody leaks money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Instrument Sans"/>
              </a:rPr>
              <a:t>Our hypothesis: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financier cannot see who holds the goods before paying. No customer has confirmed it yet.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{{N4}}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{{fraud from duplicate or forged documents}}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1440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{{source, publisher, date}}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49224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49224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{{N5}}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49224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{{cargo theft or loss in transit}}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49224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{{source, publisher, date}}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207008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207008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US$2.5T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207008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global trade finance gap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207008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ADB Global Trade Finance Gap Survey, Dec 2025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14400" y="7498079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These numbers size the market problem. They are not our traction, and this build does not solve all of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04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LIVE ON TESTNET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24688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SOLUTION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Both custodians sign, or nothing changes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914400" y="3291840"/>
            <a:ext cx="44805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47472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Outgoing custodian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JetBrains Mono"/>
              </a:rPr>
              <a:t>signs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989320" y="3291840"/>
            <a:ext cx="6309360" cy="1325880"/>
          </a:xfrm>
          <a:prstGeom prst="roundRect">
            <a:avLst>
              <a:gd name="adj" fmla="val 11034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989320" y="3474720"/>
            <a:ext cx="6309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One Stellar transaction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JetBrains Mono"/>
              </a:rPr>
              <a:t>custody_registry.handover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2893040" y="3291840"/>
            <a:ext cx="44805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2893040" y="347472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Incoming custodian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JetBrains Mono"/>
              </a:rPr>
              <a:t>signs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394960" y="3931920"/>
            <a:ext cx="594360" cy="36576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2298680" y="3931920"/>
            <a:ext cx="594360" cy="36576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498348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strument Sans"/>
              </a:rPr>
              <a:t>Either signature missing → the call fails.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5897880"/>
            <a:ext cx="16459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Each handover moves custody and extends an on-chain hash chain, the </a:t>
            </a:r>
            <a:r>
              <a:rPr sz="2600" b="0">
                <a:solidFill>
                  <a:srgbClr val="0E0F11"/>
                </a:solidFill>
                <a:latin typeface="JetBrains Mono"/>
              </a:rPr>
              <a:t>head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The token stays with its holder in transit; only custody changes.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After Delivered, the operator burns the token with the existing </a:t>
            </a:r>
            <a:r>
              <a:rPr sz="2600" b="0">
                <a:solidFill>
                  <a:srgbClr val="0E0F11"/>
                </a:solidFill>
                <a:latin typeface="JetBrains Mono"/>
              </a:rPr>
              <a:t>redeem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¹.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14400" y="7909560"/>
            <a:ext cx="1645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 custody record keyed to the container number. In production it would sit beside the carrier's bill of lading; not integrated in this build.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¹ Radox platform policy, not enforced on-chain by the registry; redeem still needs the holder's signature.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05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WHY STELLAR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8006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PRODUCT · LIVE ON TESTNET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7 testnet transactions. Anyone can check them.</a:t>
            </a:r>
          </a:p>
        </p:txBody>
      </p:sp>
      <p:pic>
        <p:nvPicPr>
          <p:cNvPr id="125" name="Picture 124" descr="page-handovers-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08960"/>
            <a:ext cx="6766560" cy="4591594"/>
          </a:xfrm>
          <a:prstGeom prst="rect">
            <a:avLst/>
          </a:prstGeom>
        </p:spPr>
      </p:pic>
      <p:sp>
        <p:nvSpPr>
          <p:cNvPr id="126" name="Rectangle 125"/>
          <p:cNvSpPr/>
          <p:nvPr/>
        </p:nvSpPr>
        <p:spPr>
          <a:xfrm>
            <a:off x="914400" y="3108960"/>
            <a:ext cx="6766560" cy="4591594"/>
          </a:xfrm>
          <a:prstGeom prst="rect">
            <a:avLst/>
          </a:prstGeom>
          <a:noFill/>
          <a:ln w="12700">
            <a:solidFill>
              <a:srgbClr val="2A2F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229600" y="30632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2b3d51f0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open · operator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29600" y="3429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635c99ac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1 · Warehouse → Port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229600" y="37947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56a0f006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2 · Port → Carrier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229600" y="41605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ac268a49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3 · Carrier → Customs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229600" y="45262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5199d4fb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4 · Customs → Recipient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229600" y="48920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919def8c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deliver · Recipient → Holder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229600" y="52578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864fd164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burn · existing redeem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57607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229600" y="64922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successful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561320" y="57607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561320" y="64922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refused (simulated)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2893040" y="57607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893040" y="64922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unit tests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5224759" y="57607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MATCH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5224759" y="64922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verify-head, live 25 Oct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229600" y="717804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0">
                <a:solidFill>
                  <a:srgbClr val="A3A8B0"/>
                </a:solidFill>
                <a:latin typeface="JetBrains Mono"/>
              </a:rPr>
              <a:t>custody_registry </a:t>
            </a:r>
            <a:r>
              <a:rPr sz="1800" b="0">
                <a:solidFill>
                  <a:srgbClr val="E7E8EA"/>
                </a:solidFill>
                <a:latin typeface="JetBrains Mono"/>
              </a:rPr>
              <a:t>CCBJVXMJYWPHTDJHDFPRGKPGXGEP24JOPJAMUS5C3BMZJTRTWR2H4LII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Plus an attestation (33379211). A second run (branch three-machine): two team members authorised handovers on their own computers, with their own testnet keys.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1">
                <a:solidFill>
                  <a:srgbClr val="E7E8EA"/>
                </a:solidFill>
                <a:latin typeface="Instrument Sans"/>
              </a:rPr>
              <a:t>All test keys, most held by one harness: this proves the mechanism, not independent custodians.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06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USERS AND MODEL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ECOSYSTEM · WHY STELLAR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Stellar: two signers, one call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4400" y="31272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3192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828800" y="32461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Multi-party auth in one call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863840" y="3264408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Soroban authorises both custodians inside one contract invocation: the handover is atomic.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14400" y="44988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14400" y="46908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28800" y="46177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Events plus an on-chain head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863840" y="46360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RPC keeps contract events about 7 days. The head stored in the contract lets anyone rebuild the full history later.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14400" y="58704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6062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59893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The token stays put, then burns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863840" y="60076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The shipment token never moves in transit; the existing Radox redeem burns it after delivery.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14400" y="72420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14400" y="7424927"/>
            <a:ext cx="1645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Nearest neighbours we found on Stellar </a:t>
            </a:r>
            <a:r>
              <a:rPr sz="2100" b="0">
                <a:solidFill>
                  <a:srgbClr val="4D5560"/>
                </a:solidFill>
                <a:latin typeface="Instrument Sans"/>
              </a:rPr>
              <a:t>(LumenLoop, SCF, Scout, 24–25 Oct):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Kutana and Trustless Work release escrow on trade milestones; Pipeline finances commodity trade. We found none that records a custody handover signed by two custodians, and no SEP.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556F00"/>
                </a:solidFill>
                <a:latin typeface="Instrument Sans"/>
              </a:rPr>
              <a:t>Open source, Apache-2.0: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 custody primitive other Stellar real-world-asset issuers can reuse.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07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BUILT THIS WEEKEND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8404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USERS · BUSINESS MODEL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Integrate once, reach every party that joins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63240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With one public custody standard, a port, airport, carrier, chamber or financier would integrate once and reach every other party: adopt without a custom project.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2560320" y="4572000"/>
            <a:ext cx="826163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560320" y="4572000"/>
            <a:ext cx="510597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>
            <a:off x="2049722" y="4572000"/>
            <a:ext cx="510598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H="1">
            <a:off x="1734156" y="4572000"/>
            <a:ext cx="826164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H="1">
            <a:off x="3070917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>
            <a:off x="2049722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>
            <a:off x="1734156" y="5172243"/>
            <a:ext cx="1652327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H="1">
            <a:off x="2049722" y="6143456"/>
            <a:ext cx="1021195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H="1" flipV="1">
            <a:off x="1734156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 flipV="1">
            <a:off x="1734156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135"/>
          <p:cNvSpPr/>
          <p:nvPr/>
        </p:nvSpPr>
        <p:spPr>
          <a:xfrm>
            <a:off x="244144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26761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95204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93085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61528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4399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PAIR BY PAIR · 10 LINKS</a:t>
            </a:r>
          </a:p>
        </p:txBody>
      </p:sp>
      <p:cxnSp>
        <p:nvCxnSpPr>
          <p:cNvPr id="142" name="Connector 141"/>
          <p:cNvCxnSpPr/>
          <p:nvPr/>
        </p:nvCxnSpPr>
        <p:spPr>
          <a:xfrm flipV="1">
            <a:off x="6080760" y="4572000"/>
            <a:ext cx="0" cy="868680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6080760" y="5172243"/>
            <a:ext cx="826163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6080760" y="5440680"/>
            <a:ext cx="510597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>
            <a:off x="5570162" y="5440680"/>
            <a:ext cx="510598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 flipV="1">
            <a:off x="5254596" y="5172243"/>
            <a:ext cx="826164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Oval 146"/>
          <p:cNvSpPr/>
          <p:nvPr/>
        </p:nvSpPr>
        <p:spPr>
          <a:xfrm>
            <a:off x="5888736" y="5248656"/>
            <a:ext cx="384048" cy="384048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596188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678805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647248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545129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513572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ONE RADOX RAIL · 5 LINKS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14400" y="658368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Example, 5 parties: 10 custom links, or 5 links to one standard.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50392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OPEN · ANYONE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8503920" y="4539996"/>
            <a:ext cx="425196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50392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Record format, roles and events: the custody_registry contract (Apache-2.0)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 any shipment, no login (slide 4)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312164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0E0F11"/>
                </a:solidFill>
                <a:latin typeface="JetBrains Mono"/>
              </a:rPr>
              <a:t>RADOX OPERATES · CLIENT PAYS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3121640" y="4539996"/>
            <a:ext cx="4251960" cy="27432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312164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Custodian onboarding, issuance controls, operation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The API and backend: closed, not self-hostable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Paid by the financial institution; not priced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14400" y="758037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14400" y="7699248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Instrument Sans"/>
              </a:rPr>
              <a:t>Adoption still takes work: a key per party, its own signatures, one connection to the rail (the Radox API).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Radox is the rail, never the issuer. Regulation and licences stay with the client and its local counsel.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08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VISION AND ASK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HACKATHON PROGRESS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Built this weekend, on disclosed prior work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PRIOR WORK · BEFORE SUN 25 OCT 09:00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3717036"/>
            <a:ext cx="7955279" cy="27432"/>
          </a:xfrm>
          <a:prstGeom prst="rect">
            <a:avLst/>
          </a:prstGeom>
          <a:solidFill>
            <a:srgbClr val="4D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platform (closed backend); its 3 Soroban contracts are on Stellar mainnet, public since 2026-08-19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transfer_agent and its redeem (new testnet instance from the existing wasm)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Architecture notes (20 Oct), planning files (24–25 Oct), the explainer video, our agent tooling (from 22 Oct)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No contract code before then: first repo commit 25 Oct 09:00 UTC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41832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BUILT AT HACKMERIDIAN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18320" y="3717036"/>
            <a:ext cx="7955279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1832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custody_registry contract, 24 unit tests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Lifecycle harness: 7 testnet transactions, 9 refused calls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verify-head script, the public shipment page, this deck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API reads the registry: same head (closed backend, testnet)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914400" y="7315200"/>
            <a:ext cx="1645920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234440" y="7424927"/>
            <a:ext cx="15819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attribution 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Code, tests, scripts, the shipment page, docs and this deck were made with AI coding agents (Claude Code); the team decided scope and what ships. Per-file record in AI_USAGE.md. The video narration is an AI voice generated from Pedro's voice.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09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TEAM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VISION · NEXT · THE ASK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Vision: one custody standard, every corridor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1645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>
                <a:solidFill>
                  <a:srgbClr val="0E0F11"/>
                </a:solidFill>
                <a:latin typeface="Instrument Sans"/>
              </a:rPr>
              <a:t>Rio–Miami is our pilot corridor.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The goal is a public, SWIFT-like custody standard on Stellar for tokenized goods in transit worldwide, to integrate with the systems of chambers of commerce, ports and airports.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097280" y="4832604"/>
            <a:ext cx="1261872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41832" y="469087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1440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NOW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1440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Mechanism proven on testnet. No standard, users or revenue yet.</a:t>
            </a:r>
          </a:p>
        </p:txBody>
      </p:sp>
      <p:sp>
        <p:nvSpPr>
          <p:cNvPr id="130" name="Oval 129"/>
          <p:cNvSpPr/>
          <p:nvPr/>
        </p:nvSpPr>
        <p:spPr>
          <a:xfrm>
            <a:off x="5184648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2064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NEXT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12064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One Rio–Miami pilot shipment (none agreed yet). Full test matrix.</a:t>
            </a:r>
          </a:p>
        </p:txBody>
      </p:sp>
      <p:sp>
        <p:nvSpPr>
          <p:cNvPr id="133" name="Oval 132"/>
          <p:cNvSpPr/>
          <p:nvPr/>
        </p:nvSpPr>
        <p:spPr>
          <a:xfrm>
            <a:off x="939088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32688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PLANNED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32688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SCF Build, then a security audit (neither done). Mainnet.</a:t>
            </a:r>
          </a:p>
        </p:txBody>
      </p:sp>
      <p:sp>
        <p:nvSpPr>
          <p:cNvPr id="136" name="Oval 135"/>
          <p:cNvSpPr/>
          <p:nvPr/>
        </p:nvSpPr>
        <p:spPr>
          <a:xfrm>
            <a:off x="1359712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3533119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FUTURE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3533119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More corridors; port, airport, chamber links (none confirmed); USD leg (not built).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914400" y="7223760"/>
            <a:ext cx="16459200" cy="1234440"/>
          </a:xfrm>
          <a:prstGeom prst="roundRect">
            <a:avLst>
              <a:gd name="adj" fmla="val 11851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325880" y="7223760"/>
            <a:ext cx="1563624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JetBrains Mono"/>
              </a:rPr>
              <a:t>Our ask 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Introductions to one financial institution and one port, airport or logistics operator for a first pilot shipment, and a Stellar engineer's review of the design.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10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FINAL STOP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TEAM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us: a founder already on Stellar mainnet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Pedro Wakigawa Saragossy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Founder, captain. Built Radox: 3 Soroban contracts on Stellar mainnet.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14400" y="4251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Leo Schlanger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Developer: custody_registry, the testnet harness and the proofs.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5394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Vhendala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QA and product review: reads every deliverable as a judge would.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6537960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Leo and Vhendala joined for the hackathon.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1338560" y="3108960"/>
            <a:ext cx="6035040" cy="36576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4D556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338560" y="310896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4D5560"/>
                </a:solidFill>
                <a:latin typeface="Instrument Sans"/>
              </a:rPr>
              <a:t>Team photo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14400" y="699516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556F00"/>
                </a:solidFill>
                <a:latin typeface="Inter Tight"/>
              </a:rPr>
              <a:t>Rio–Miami first. Our goal: one custody standard for every corridor.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14400" y="762609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7726679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Live page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rio-miami-rail.vercel.app</a:t>
            </a:r>
            <a:r>
              <a:rPr sz="1800" b="1">
                <a:solidFill>
                  <a:srgbClr val="556F00"/>
                </a:solidFill>
                <a:latin typeface="JetBrains Mono"/>
              </a:rPr>
              <a:t>     Code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github.com/pwsaragossy/rio-miami-rail (Apache-2.0)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 </a:t>
            </a:r>
            <a:r>
              <a:rPr sz="1800" b="0">
                <a:solidFill>
                  <a:srgbClr val="0E0F11"/>
                </a:solidFill>
                <a:latin typeface="Instrument Sans"/>
              </a:rPr>
              <a:t>Code, page, docs and deck made with AI coding agents (Claude Code). Narration: an AI voice from Pedro's voice. No AI-generated images in this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
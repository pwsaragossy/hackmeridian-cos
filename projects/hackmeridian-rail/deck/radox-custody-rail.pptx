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61" r:id="rId23"/>
    <p:sldId id="262" r:id="rId24"/>
    <p:sldId id="263" r:id="rId25"/>
    <p:sldId id="264" r:id="rId26"/>
    <p:sldId id="265" r:id="rId27"/>
    <p:sldId id="266" r:id="rId28"/>
    <p:sldId id="267" r:id="rId29"/>
    <p:sldId id="268" r:id="rId30"/>
    <p:sldId id="269" r:id="rId31"/>
    <p:sldId id="270" r:id="rId32"/>
  </p:sldIdLst>
  <p:sldSz cy="10287000" cx="18288000"/>
  <p:notesSz cx="6858000" cy="9144000"/>
  <p:embeddedFontLst>
    <p:embeddedFont>
      <p:font typeface="Instrument Sans"/>
      <p:regular r:id="rId11"/>
      <p:bold r:id="rId12"/>
      <p:italic r:id="rId13"/>
      <p:boldItalic r:id="rId14"/>
    </p:embeddedFont>
    <p:embeddedFont>
      <p:font typeface="Inter Tight"/>
      <p:regular r:id="rId15"/>
      <p:bold r:id="rId16"/>
      <p:italic r:id="rId17"/>
      <p:boldItalic r:id="rId18"/>
    </p:embeddedFont>
    <p:embeddedFont>
      <p:font typeface="JetBrains Mono"/>
      <p:regular r:id="rId19"/>
      <p:bold r:id="rId20"/>
      <p:italic r:id="rId21"/>
      <p:boldItalic r:id="rId22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11" Type="http://schemas.openxmlformats.org/officeDocument/2006/relationships/font" Target="fonts/InstrumentSans-regular.fntdata"/><Relationship Id="rId12" Type="http://schemas.openxmlformats.org/officeDocument/2006/relationships/font" Target="fonts/InstrumentSans-bold.fntdata"/><Relationship Id="rId13" Type="http://schemas.openxmlformats.org/officeDocument/2006/relationships/font" Target="fonts/InstrumentSans-italic.fntdata"/><Relationship Id="rId14" Type="http://schemas.openxmlformats.org/officeDocument/2006/relationships/font" Target="fonts/InstrumentSans-boldItalic.fntdata"/><Relationship Id="rId15" Type="http://schemas.openxmlformats.org/officeDocument/2006/relationships/font" Target="fonts/InterTight-regular.fntdata"/><Relationship Id="rId16" Type="http://schemas.openxmlformats.org/officeDocument/2006/relationships/font" Target="fonts/InterTight-bold.fntdata"/><Relationship Id="rId17" Type="http://schemas.openxmlformats.org/officeDocument/2006/relationships/font" Target="fonts/InterTight-italic.fntdata"/><Relationship Id="rId18" Type="http://schemas.openxmlformats.org/officeDocument/2006/relationships/font" Target="fonts/InterTight-boldItalic.fntdata"/><Relationship Id="rId19" Type="http://schemas.openxmlformats.org/officeDocument/2006/relationships/font" Target="fonts/JetBrainsMono-regular.fntdata"/><Relationship Id="rId20" Type="http://schemas.openxmlformats.org/officeDocument/2006/relationships/font" Target="fonts/JetBrainsMono-bold.fntdata"/><Relationship Id="rId21" Type="http://schemas.openxmlformats.org/officeDocument/2006/relationships/font" Target="fonts/JetBrainsMono-italic.fntdata"/><Relationship Id="rId22" Type="http://schemas.openxmlformats.org/officeDocument/2006/relationships/font" Target="fonts/JetBrainsMono-boldItalic.fntdata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Inter Tight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Inter Tight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Inter Tight"/>
              <a:buNone/>
              <a:defRPr b="0" i="0" sz="4400" u="none" cap="none" strike="noStrike">
                <a:solidFill>
                  <a:schemeClr val="dk1"/>
                </a:solidFill>
                <a:latin typeface="Inter Tight"/>
                <a:ea typeface="Inter Tight"/>
                <a:cs typeface="Inter Tight"/>
                <a:sym typeface="Inter T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Instrument Sans"/>
                <a:ea typeface="Instrument Sans"/>
                <a:cs typeface="Instrument Sans"/>
                <a:sym typeface="Instrument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84" name="Google Shape;84;p13"/>
          <p:cNvSpPr txBox="1"/>
          <p:nvPr/>
        </p:nvSpPr>
        <p:spPr>
          <a:xfrm>
            <a:off x="914400" y="777240"/>
            <a:ext cx="82296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85" name="Google Shape;85;p13"/>
          <p:cNvSpPr txBox="1"/>
          <p:nvPr/>
        </p:nvSpPr>
        <p:spPr>
          <a:xfrm>
            <a:off x="10058400" y="777240"/>
            <a:ext cx="73152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01 / 10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914400" y="1600200"/>
            <a:ext cx="6446520" cy="475488"/>
          </a:xfrm>
          <a:prstGeom prst="roundRect">
            <a:avLst>
              <a:gd fmla="val 50000" name="adj"/>
            </a:avLst>
          </a:prstGeom>
          <a:noFill/>
          <a:ln cap="flat" cmpd="sng" w="19050">
            <a:solidFill>
              <a:srgbClr val="C6F24E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TESTNET · TEST KEYS · NOT REAL CUSTODIANS</a:t>
            </a:r>
            <a:endParaRPr/>
          </a:p>
        </p:txBody>
      </p:sp>
      <p:pic>
        <p:nvPicPr>
          <p:cNvPr id="87" name="Picture 8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6812280"/>
            <a:ext cx="4721192" cy="822960"/>
          </a:xfrm>
          <a:prstGeom prst="rect">
            <a:avLst/>
          </a:prstGeom>
        </p:spPr>
      </p:pic>
      <p:sp>
        <p:nvSpPr>
          <p:cNvPr id="92" name="Google Shape;92;p13"/>
          <p:cNvSpPr/>
          <p:nvPr/>
        </p:nvSpPr>
        <p:spPr>
          <a:xfrm>
            <a:off x="5989320" y="6766560"/>
            <a:ext cx="18288" cy="914400"/>
          </a:xfrm>
          <a:prstGeom prst="rect">
            <a:avLst/>
          </a:prstGeom>
          <a:solidFill>
            <a:srgbClr val="4A4A4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pic>
        <p:nvPicPr>
          <p:cNvPr id="93" name="Picture 9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6967728"/>
            <a:ext cx="2159633" cy="512064"/>
          </a:xfrm>
          <a:prstGeom prst="rect">
            <a:avLst/>
          </a:prstGeom>
        </p:spPr>
      </p:pic>
      <p:pic>
        <p:nvPicPr>
          <p:cNvPr id="94" name="Picture 9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3960" y="6903720"/>
            <a:ext cx="2483581" cy="621792"/>
          </a:xfrm>
          <a:prstGeom prst="rect">
            <a:avLst/>
          </a:prstGeom>
        </p:spPr>
      </p:pic>
      <p:sp>
        <p:nvSpPr>
          <p:cNvPr id="95" name="Google Shape;95;p13"/>
          <p:cNvSpPr/>
          <p:nvPr/>
        </p:nvSpPr>
        <p:spPr>
          <a:xfrm rot="5400000">
            <a:off x="14904720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6" name="Google Shape;96;p13"/>
          <p:cNvSpPr/>
          <p:nvPr/>
        </p:nvSpPr>
        <p:spPr>
          <a:xfrm rot="5400000">
            <a:off x="15599664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6000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7" name="Google Shape;97;p13"/>
          <p:cNvSpPr/>
          <p:nvPr/>
        </p:nvSpPr>
        <p:spPr>
          <a:xfrm rot="5400000">
            <a:off x="16294608" y="6858000"/>
            <a:ext cx="731520" cy="731520"/>
          </a:xfrm>
          <a:prstGeom prst="triangle">
            <a:avLst>
              <a:gd fmla="val 50000" name="adj"/>
            </a:avLst>
          </a:prstGeom>
          <a:solidFill>
            <a:srgbClr val="C6F24E">
              <a:alpha val="3019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8" name="Google Shape;98;p13"/>
          <p:cNvSpPr/>
          <p:nvPr/>
        </p:nvSpPr>
        <p:spPr>
          <a:xfrm>
            <a:off x="914400" y="8641080"/>
            <a:ext cx="16459200" cy="13716"/>
          </a:xfrm>
          <a:prstGeom prst="rect">
            <a:avLst/>
          </a:prstGeom>
          <a:solidFill>
            <a:srgbClr val="3A3A3A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99" name="Google Shape;99;p13"/>
          <p:cNvSpPr txBox="1"/>
          <p:nvPr/>
        </p:nvSpPr>
        <p:spPr>
          <a:xfrm>
            <a:off x="914400" y="8961120"/>
            <a:ext cx="45720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October 2026</a:t>
            </a:r>
            <a:endParaRPr/>
          </a:p>
        </p:txBody>
      </p:sp>
      <p:sp>
        <p:nvSpPr>
          <p:cNvPr id="100" name="Google Shape;100;p13"/>
          <p:cNvSpPr txBox="1"/>
          <p:nvPr/>
        </p:nvSpPr>
        <p:spPr>
          <a:xfrm>
            <a:off x="64008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#HackMeridian26</a:t>
            </a:r>
            <a:endParaRPr/>
          </a:p>
        </p:txBody>
      </p:sp>
      <p:sp>
        <p:nvSpPr>
          <p:cNvPr id="101" name="Google Shape;101;p13"/>
          <p:cNvSpPr txBox="1"/>
          <p:nvPr/>
        </p:nvSpPr>
        <p:spPr>
          <a:xfrm>
            <a:off x="11887200" y="8961120"/>
            <a:ext cx="54864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400" u="none" cap="none" strike="noStrike">
                <a:solidFill>
                  <a:srgbClr val="A7A7A7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</a:t>
            </a:r>
            <a:endParaRPr/>
          </a:p>
        </p:txBody>
      </p:sp>
      <p:sp>
        <p:nvSpPr>
          <p:cNvPr id="102" name="TextBox 101"/>
          <p:cNvSpPr txBox="1"/>
          <p:nvPr/>
        </p:nvSpPr>
        <p:spPr>
          <a:xfrm>
            <a:off x="914400" y="2331720"/>
            <a:ext cx="114300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10000" b="1">
                <a:solidFill>
                  <a:srgbClr val="C6F24E"/>
                </a:solidFill>
                <a:latin typeface="Inter Tight"/>
              </a:rPr>
              <a:t>Radox Custody Rail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14400" y="379476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4400" b="1">
                <a:solidFill>
                  <a:srgbClr val="E7E8EA"/>
                </a:solidFill>
                <a:latin typeface="Inter Tight"/>
              </a:rPr>
              <a:t>Know who holds the goods: every handover signed by both custodians.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14400" y="5440680"/>
            <a:ext cx="11430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A3A8B0"/>
                </a:solidFill>
                <a:latin typeface="Instrument Sans"/>
              </a:rPr>
              <a:t>Toward a SWIFT-like custody standard on Stellar  ·  Pilot corridor: Rio–Miami</a:t>
            </a:r>
          </a:p>
        </p:txBody>
      </p:sp>
      <p:pic>
        <p:nvPicPr>
          <p:cNvPr id="105" name="Picture 104" descr="qr-page-dark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01800" y="1600200"/>
            <a:ext cx="2377440" cy="23774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3075920" y="4114800"/>
            <a:ext cx="502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000" b="0">
                <a:solidFill>
                  <a:srgbClr val="E7E8EA"/>
                </a:solidFill>
                <a:latin typeface="Instrument Sans"/>
              </a:rPr>
              <a:t>Scan: the live shipment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2801600" y="5609844"/>
            <a:ext cx="45720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12682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136428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145572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154716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16386048" y="5550408"/>
            <a:ext cx="146304" cy="14630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17254728" y="550468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12682728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RIO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15663672" y="5870448"/>
            <a:ext cx="1828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A3A8B0"/>
                </a:solidFill>
                <a:latin typeface="JetBrains Mono"/>
              </a:rPr>
              <a:t>MIAMI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02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SOLUTION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1546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PMF · THE PROBLEM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Who holds the cargo right now?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46120"/>
            <a:ext cx="1024128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0">
                <a:solidFill>
                  <a:srgbClr val="0E0F11"/>
                </a:solidFill>
                <a:latin typeface="Instrument Sans"/>
              </a:rPr>
              <a:t>Between seller and buyer, a shipment changes hands several times.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737360" y="4878324"/>
            <a:ext cx="868680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15819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6400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Warehouse</a:t>
            </a:r>
          </a:p>
        </p:txBody>
      </p:sp>
      <p:sp>
        <p:nvSpPr>
          <p:cNvPr id="129" name="Oval 128"/>
          <p:cNvSpPr/>
          <p:nvPr/>
        </p:nvSpPr>
        <p:spPr>
          <a:xfrm>
            <a:off x="37536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28117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Port</a:t>
            </a:r>
          </a:p>
        </p:txBody>
      </p:sp>
      <p:sp>
        <p:nvSpPr>
          <p:cNvPr id="131" name="Oval 130"/>
          <p:cNvSpPr/>
          <p:nvPr/>
        </p:nvSpPr>
        <p:spPr>
          <a:xfrm>
            <a:off x="59253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834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Carrier</a:t>
            </a:r>
          </a:p>
        </p:txBody>
      </p:sp>
      <p:sp>
        <p:nvSpPr>
          <p:cNvPr id="133" name="Oval 132"/>
          <p:cNvSpPr/>
          <p:nvPr/>
        </p:nvSpPr>
        <p:spPr>
          <a:xfrm>
            <a:off x="80970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1551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Customs</a:t>
            </a:r>
          </a:p>
        </p:txBody>
      </p:sp>
      <p:sp>
        <p:nvSpPr>
          <p:cNvPr id="135" name="Oval 134"/>
          <p:cNvSpPr/>
          <p:nvPr/>
        </p:nvSpPr>
        <p:spPr>
          <a:xfrm>
            <a:off x="10268712" y="473659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9326880" y="5184648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1">
                <a:solidFill>
                  <a:srgbClr val="0E0F11"/>
                </a:solidFill>
                <a:latin typeface="Instrument Sans"/>
              </a:rPr>
              <a:t>Recipient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914400" y="5669280"/>
            <a:ext cx="102412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0">
                <a:solidFill>
                  <a:srgbClr val="4D5560"/>
                </a:solidFill>
                <a:latin typeface="Instrument Sans"/>
              </a:rPr>
              <a:t>Handovers are mostly paper, or sit inside each operator's own system: rarely one shared record across borders.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14400" y="6675120"/>
            <a:ext cx="1024128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Instrument Sans"/>
              </a:rPr>
              <a:t>Our hypothesis: </a:t>
            </a:r>
            <a:r>
              <a:rPr sz="2400" b="0">
                <a:solidFill>
                  <a:srgbClr val="0E0F11"/>
                </a:solidFill>
                <a:latin typeface="Instrument Sans"/>
              </a:rPr>
              <a:t>a financier cannot see who holds the goods before paying. No customer has confirmed it yet.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12070080" y="324612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600"/>
              </a:spcAft>
            </a:pPr>
            <a:r>
              <a:rPr sz="6400" b="1">
                <a:solidFill>
                  <a:srgbClr val="0E0F11"/>
                </a:solidFill>
                <a:latin typeface="Inter Tight"/>
              </a:rPr>
              <a:t>US$2.5T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2070080" y="4206240"/>
            <a:ext cx="530352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2400" b="1">
                <a:solidFill>
                  <a:srgbClr val="0E0F11"/>
                </a:solidFill>
                <a:latin typeface="Instrument Sans"/>
              </a:rPr>
              <a:t>Global trade finance gap.</a:t>
            </a:r>
          </a:p>
          <a:p>
            <a:pPr algn="l">
              <a:lnSpc>
                <a:spcPct val="112000"/>
              </a:lnSpc>
              <a:spcAft>
                <a:spcPts val="10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ADB Global Trade Finance Gap Survey, Dec 2025. It sizes the financing gap; it is not evidence of the custody problem.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914400" y="8001000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Context: our explainer video about a Rio–Miami trade-corridor initiative poses one possibility: a unique digital record for every shipment that both sides can check. This project is a custody layer for that record.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03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PRODUCT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246887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SOLUTION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Both custodians sign, or nothing changes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91440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Outgoing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5989320" y="3291840"/>
            <a:ext cx="6309360" cy="1325880"/>
          </a:xfrm>
          <a:prstGeom prst="roundRect">
            <a:avLst>
              <a:gd name="adj" fmla="val 11034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989320" y="3474720"/>
            <a:ext cx="6309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One Stellar transaction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JetBrains Mono"/>
              </a:rPr>
              <a:t>custody_registry.handover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2893040" y="3291840"/>
            <a:ext cx="448056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2893040" y="3474720"/>
            <a:ext cx="44805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800" b="1">
                <a:solidFill>
                  <a:srgbClr val="0E0F11"/>
                </a:solidFill>
                <a:latin typeface="Instrument Sans"/>
              </a:rPr>
              <a:t>Incoming custodian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JetBrains Mono"/>
              </a:rPr>
              <a:t>signs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539496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2298680" y="3931920"/>
            <a:ext cx="594360" cy="36576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498348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strument Sans"/>
              </a:rPr>
              <a:t>Either signature missing → the call fails.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914400" y="5897880"/>
            <a:ext cx="16459200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Each handover moves custody and extends an on-chain hash chain, the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head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token stays with its holder in transit; only custody changes.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6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After Delivered, the operator burns the token with the existing </a:t>
            </a:r>
            <a:r>
              <a:rPr sz="2600" b="0">
                <a:solidFill>
                  <a:srgbClr val="0E0F11"/>
                </a:solidFill>
                <a:latin typeface="JetBrains Mono"/>
              </a:rPr>
              <a:t>redeem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¹.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7909560"/>
            <a:ext cx="164592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A custody record keyed to the container number. In production it would sit beside the carrier's bill of lading; not integrated in this build.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¹ Radox platform policy, not enforced on-chain by the registry; redeem still needs the holder's signature.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04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TECHNICAL WORKFLOW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480060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PRODUCT · LIVE ON TESTNET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Anyone can check the chain. No login.</a:t>
            </a:r>
          </a:p>
        </p:txBody>
      </p:sp>
      <p:pic>
        <p:nvPicPr>
          <p:cNvPr id="125" name="Picture 124" descr="page-handovers-row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3154680"/>
            <a:ext cx="8138160" cy="5522323"/>
          </a:xfrm>
          <a:prstGeom prst="rect">
            <a:avLst/>
          </a:prstGeom>
        </p:spPr>
      </p:pic>
      <p:sp>
        <p:nvSpPr>
          <p:cNvPr id="126" name="Rectangle 125"/>
          <p:cNvSpPr/>
          <p:nvPr/>
        </p:nvSpPr>
        <p:spPr>
          <a:xfrm>
            <a:off x="914400" y="3154680"/>
            <a:ext cx="8138160" cy="5522322"/>
          </a:xfrm>
          <a:prstGeom prst="rect">
            <a:avLst/>
          </a:prstGeom>
          <a:noFill/>
          <a:ln w="12700">
            <a:solidFill>
              <a:srgbClr val="2A2F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92640" y="3154680"/>
            <a:ext cx="768096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C6F24E"/>
                </a:solidFill>
                <a:latin typeface="Instrument Sans"/>
              </a:rPr>
              <a:t>Verify head</a:t>
            </a:r>
            <a:r>
              <a:rPr sz="2600" b="0">
                <a:solidFill>
                  <a:srgbClr val="E7E8EA"/>
                </a:solidFill>
                <a:latin typeface="Instrument Sans"/>
              </a:rPr>
              <a:t> recomputes the hash chain in the browser and compares it with the head stored in the contract.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92640" y="525780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8000" b="1">
                <a:solidFill>
                  <a:srgbClr val="C6F24E"/>
                </a:solidFill>
                <a:latin typeface="JetBrains Mono"/>
              </a:rPr>
              <a:t>MATCH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92640" y="6355080"/>
            <a:ext cx="51206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Clicked live on 25 Oct 2026.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A3A8B0"/>
                </a:solidFill>
                <a:latin typeface="Instrument Sans"/>
              </a:rPr>
              <a:t>Read-only: Stellar RPC and Horizon, no wallet.</a:t>
            </a:r>
          </a:p>
        </p:txBody>
      </p:sp>
      <p:pic>
        <p:nvPicPr>
          <p:cNvPr id="130" name="Picture 129" descr="qr-page-dar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361920" y="5669280"/>
            <a:ext cx="2011680" cy="2011680"/>
          </a:xfrm>
          <a:prstGeom prst="rect">
            <a:avLst/>
          </a:prstGeom>
        </p:spPr>
      </p:pic>
      <p:sp>
        <p:nvSpPr>
          <p:cNvPr id="131" name="TextBox 130"/>
          <p:cNvSpPr txBox="1"/>
          <p:nvPr/>
        </p:nvSpPr>
        <p:spPr>
          <a:xfrm>
            <a:off x="12801600" y="7863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C6F24E"/>
                </a:solidFill>
                <a:latin typeface="JetBrains Mono"/>
              </a:rPr>
              <a:t>rio-miami-rail.vercel.app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0F11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131517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05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WHY STELLAR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TECHNICAL WORKFLOW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2A2F3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A3A8B0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E7E8EA"/>
                </a:solidFill>
                <a:latin typeface="Inter Tight"/>
              </a:rPr>
              <a:t>7 testnet transactions. All successful.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2090057" y="3415284"/>
            <a:ext cx="14107885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1907177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60120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open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operator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60120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2b3d51f0</a:t>
            </a:r>
          </a:p>
        </p:txBody>
      </p:sp>
      <p:sp>
        <p:nvSpPr>
          <p:cNvPr id="129" name="Oval 128"/>
          <p:cNvSpPr/>
          <p:nvPr/>
        </p:nvSpPr>
        <p:spPr>
          <a:xfrm>
            <a:off x="4322499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3311434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1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Warehouse → Port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311434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635c99ac</a:t>
            </a:r>
          </a:p>
        </p:txBody>
      </p:sp>
      <p:sp>
        <p:nvSpPr>
          <p:cNvPr id="132" name="Oval 131"/>
          <p:cNvSpPr/>
          <p:nvPr/>
        </p:nvSpPr>
        <p:spPr>
          <a:xfrm>
            <a:off x="6673813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662748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2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Port → Carrier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662748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56a0f006</a:t>
            </a:r>
          </a:p>
        </p:txBody>
      </p:sp>
      <p:sp>
        <p:nvSpPr>
          <p:cNvPr id="135" name="Oval 134"/>
          <p:cNvSpPr/>
          <p:nvPr/>
        </p:nvSpPr>
        <p:spPr>
          <a:xfrm>
            <a:off x="9025128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8014062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3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Carrier → Customs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8014062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ac268a49</a:t>
            </a:r>
          </a:p>
        </p:txBody>
      </p:sp>
      <p:sp>
        <p:nvSpPr>
          <p:cNvPr id="138" name="Oval 137"/>
          <p:cNvSpPr/>
          <p:nvPr/>
        </p:nvSpPr>
        <p:spPr>
          <a:xfrm>
            <a:off x="11376442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10365377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handover 4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Customs → Recipient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0365377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5199d4fb</a:t>
            </a:r>
          </a:p>
        </p:txBody>
      </p:sp>
      <p:sp>
        <p:nvSpPr>
          <p:cNvPr id="141" name="Oval 140"/>
          <p:cNvSpPr/>
          <p:nvPr/>
        </p:nvSpPr>
        <p:spPr>
          <a:xfrm>
            <a:off x="13727756" y="3310128"/>
            <a:ext cx="237744" cy="237744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2716691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deliver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Recipient → Holder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2716691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919def8c</a:t>
            </a:r>
          </a:p>
        </p:txBody>
      </p:sp>
      <p:sp>
        <p:nvSpPr>
          <p:cNvPr id="144" name="Oval 143"/>
          <p:cNvSpPr/>
          <p:nvPr/>
        </p:nvSpPr>
        <p:spPr>
          <a:xfrm>
            <a:off x="16015062" y="3246120"/>
            <a:ext cx="365760" cy="365760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15068005" y="3749039"/>
            <a:ext cx="225987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2400" b="1">
                <a:solidFill>
                  <a:srgbClr val="E7E8EA"/>
                </a:solidFill>
                <a:latin typeface="Instrument Sans"/>
              </a:rPr>
              <a:t>burn</a:t>
            </a:r>
          </a:p>
          <a:p>
            <a:pPr algn="ctr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existing redeem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15068005" y="4663440"/>
            <a:ext cx="225987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9FB2CC"/>
                </a:solidFill>
                <a:latin typeface="JetBrains Mono"/>
              </a:rPr>
              <a:t>864fd164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91440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7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1440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successful testnet transactions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12064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9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512064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invalid calls refused (simulated)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326880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24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9326880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contract unit tests pass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13533119" y="5349240"/>
            <a:ext cx="402336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0000"/>
              </a:lnSpc>
              <a:spcAft>
                <a:spcPts val="600"/>
              </a:spcAft>
            </a:pPr>
            <a:r>
              <a:rPr sz="7200" b="1">
                <a:solidFill>
                  <a:srgbClr val="C6F24E"/>
                </a:solidFill>
                <a:latin typeface="Inter Tight"/>
              </a:rPr>
              <a:t>MATCH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3533119" y="6400800"/>
            <a:ext cx="39319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E7E8EA"/>
                </a:solidFill>
                <a:latin typeface="Instrument Sans"/>
              </a:rPr>
              <a:t>verify-head rebuilds the chain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914400" y="7360920"/>
            <a:ext cx="164592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JetBrains Mono"/>
              </a:rPr>
              <a:t>custody_registry  </a:t>
            </a:r>
            <a:r>
              <a:rPr sz="1800" b="0">
                <a:solidFill>
                  <a:srgbClr val="E7E8EA"/>
                </a:solidFill>
                <a:latin typeface="JetBrains Mono"/>
              </a:rPr>
              <a:t>CCBJVXMJYWPHTDJHDFPRGKPGXGEP24JOPJAMUS5C3BMZJTRTWR2H4LII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0">
                <a:solidFill>
                  <a:srgbClr val="A3A8B0"/>
                </a:solidFill>
                <a:latin typeface="Instrument Sans"/>
              </a:rPr>
              <a:t>Plus an attestation (33379211); full hashes in proofs/lifecycle.json. A second run (branch three-machine, proofs/three-machine.json): two team members authorised handovers on their own computers, with their own testnet keys.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E7E8EA"/>
                </a:solidFill>
                <a:latin typeface="Instrument Sans"/>
              </a:rPr>
              <a:t>All are test keys, most held by one harness: this proves the mechanism, not independent custodians.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06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USERS AND MODEL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ECOSYSTEM · WHY STELLAR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Stellar: two signers, one call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914400" y="31272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914400" y="33192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01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1828800" y="32461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Multi-party auth in one call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7863840" y="3264408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Soroban authorises both custodians inside one contract invocation: the handover is atomic.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14400" y="44988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14400" y="46908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02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828800" y="46177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Events plus an on-chain head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863840" y="46360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RPC keeps contract events about 7 days. The head stored in the contract lets anyone rebuild the full history later.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914400" y="58704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6062472"/>
            <a:ext cx="914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1">
                <a:solidFill>
                  <a:srgbClr val="556F00"/>
                </a:solidFill>
                <a:latin typeface="JetBrains Mono"/>
              </a:rPr>
              <a:t>03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1828800" y="5989320"/>
            <a:ext cx="5852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The token stays put, then burns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863840" y="6007607"/>
            <a:ext cx="9509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The shipment token never moves in transit; the existing Radox redeem burns it after delivery.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914400" y="7242048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914400" y="7424927"/>
            <a:ext cx="164592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0E0F11"/>
                </a:solidFill>
                <a:latin typeface="Instrument Sans"/>
              </a:rPr>
              <a:t>Nearest neighbours we found on Stellar </a:t>
            </a:r>
            <a:r>
              <a:rPr sz="2100" b="0">
                <a:solidFill>
                  <a:srgbClr val="4D5560"/>
                </a:solidFill>
                <a:latin typeface="Instrument Sans"/>
              </a:rPr>
              <a:t>(LumenLoop, SCF, Scout, 24–25 Oct):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Kutana and Trustless Work release escrow on trade milestones; Pipeline finances commodity trade. We found none that records a custody handover signed by two custodians, and no SEP.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100" b="1">
                <a:solidFill>
                  <a:srgbClr val="556F00"/>
                </a:solidFill>
                <a:latin typeface="Instrument Sans"/>
              </a:rPr>
              <a:t>Open source, Apache-2.0: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 custody primitive other Stellar real-world-asset issuers can reuse.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07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BUILT THIS WEEKEND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84048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USERS · BUSINESS MODEL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Integrate once, reach every party that joins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063240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400" b="0">
                <a:solidFill>
                  <a:srgbClr val="0E0F11"/>
                </a:solidFill>
                <a:latin typeface="Instrument Sans"/>
              </a:rPr>
              <a:t>With one public custody standard, a port, airport, carrier, chamber or financier would integrate once and reach every other party: adopt without a custom project.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560320" y="4572000"/>
            <a:ext cx="826163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7" name="Connector 126"/>
          <p:cNvCxnSpPr/>
          <p:nvPr/>
        </p:nvCxnSpPr>
        <p:spPr>
          <a:xfrm>
            <a:off x="2560320" y="4572000"/>
            <a:ext cx="510597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8" name="Connector 127"/>
          <p:cNvCxnSpPr/>
          <p:nvPr/>
        </p:nvCxnSpPr>
        <p:spPr>
          <a:xfrm flipH="1">
            <a:off x="2049722" y="4572000"/>
            <a:ext cx="510598" cy="1571456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9" name="Connector 128"/>
          <p:cNvCxnSpPr/>
          <p:nvPr/>
        </p:nvCxnSpPr>
        <p:spPr>
          <a:xfrm flipH="1">
            <a:off x="1734156" y="4572000"/>
            <a:ext cx="826164" cy="60024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0" name="Connector 129"/>
          <p:cNvCxnSpPr/>
          <p:nvPr/>
        </p:nvCxnSpPr>
        <p:spPr>
          <a:xfrm flipH="1">
            <a:off x="3070917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Connector 130"/>
          <p:cNvCxnSpPr/>
          <p:nvPr/>
        </p:nvCxnSpPr>
        <p:spPr>
          <a:xfrm flipH="1">
            <a:off x="2049722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 131"/>
          <p:cNvCxnSpPr/>
          <p:nvPr/>
        </p:nvCxnSpPr>
        <p:spPr>
          <a:xfrm flipH="1">
            <a:off x="1734156" y="5172243"/>
            <a:ext cx="1652327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3" name="Connector 132"/>
          <p:cNvCxnSpPr/>
          <p:nvPr/>
        </p:nvCxnSpPr>
        <p:spPr>
          <a:xfrm flipH="1">
            <a:off x="2049722" y="6143456"/>
            <a:ext cx="1021195" cy="0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4" name="Connector 133"/>
          <p:cNvCxnSpPr/>
          <p:nvPr/>
        </p:nvCxnSpPr>
        <p:spPr>
          <a:xfrm flipH="1" flipV="1">
            <a:off x="1734156" y="5172243"/>
            <a:ext cx="1336761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5" name="Connector 134"/>
          <p:cNvCxnSpPr/>
          <p:nvPr/>
        </p:nvCxnSpPr>
        <p:spPr>
          <a:xfrm flipH="1" flipV="1">
            <a:off x="1734156" y="5172243"/>
            <a:ext cx="315566" cy="971213"/>
          </a:xfrm>
          <a:prstGeom prst="line">
            <a:avLst/>
          </a:prstGeom>
          <a:ln w="15875">
            <a:solidFill>
              <a:srgbClr val="4D556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6" name="Oval 135"/>
          <p:cNvSpPr/>
          <p:nvPr/>
        </p:nvSpPr>
        <p:spPr>
          <a:xfrm>
            <a:off x="244144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326761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295204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193085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161528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14399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PAIR BY PAIR · 10 LINKS</a:t>
            </a:r>
          </a:p>
        </p:txBody>
      </p:sp>
      <p:cxnSp>
        <p:nvCxnSpPr>
          <p:cNvPr id="142" name="Connector 141"/>
          <p:cNvCxnSpPr/>
          <p:nvPr/>
        </p:nvCxnSpPr>
        <p:spPr>
          <a:xfrm flipV="1">
            <a:off x="6080760" y="4572000"/>
            <a:ext cx="0" cy="868680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 flipV="1">
            <a:off x="6080760" y="5172243"/>
            <a:ext cx="826163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Connector 143"/>
          <p:cNvCxnSpPr/>
          <p:nvPr/>
        </p:nvCxnSpPr>
        <p:spPr>
          <a:xfrm>
            <a:off x="6080760" y="5440680"/>
            <a:ext cx="510597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5" name="Connector 144"/>
          <p:cNvCxnSpPr/>
          <p:nvPr/>
        </p:nvCxnSpPr>
        <p:spPr>
          <a:xfrm flipH="1">
            <a:off x="5570162" y="5440680"/>
            <a:ext cx="510598" cy="702776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 flipH="1" flipV="1">
            <a:off x="5254596" y="5172243"/>
            <a:ext cx="826164" cy="268437"/>
          </a:xfrm>
          <a:prstGeom prst="line">
            <a:avLst/>
          </a:prstGeom>
          <a:ln w="25400">
            <a:solidFill>
              <a:srgbClr val="556F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5888736" y="5248656"/>
            <a:ext cx="384048" cy="384048"/>
          </a:xfrm>
          <a:prstGeom prst="ellipse">
            <a:avLst/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5961888" y="4453128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6788051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6472485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5451290" y="6024584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5135724" y="5053371"/>
            <a:ext cx="237744" cy="237744"/>
          </a:xfrm>
          <a:prstGeom prst="ellipse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4434840" y="4069080"/>
            <a:ext cx="3291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ONE RADOX RAIL · 5 LINKS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914400" y="6583680"/>
            <a:ext cx="713232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Example, 5 parties: 10 custom links, or 5 links to one standard.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850392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OPEN · ANYONE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8503920" y="4539996"/>
            <a:ext cx="425196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850392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Record format, roles and events: the custody_registry contract (Apache-2.0)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 any shipment, no login (slide 4)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13121640" y="406908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0E0F11"/>
                </a:solidFill>
                <a:latin typeface="JetBrains Mono"/>
              </a:rPr>
              <a:t>RADOX OPERATES · CLIENT PAYS</a:t>
            </a:r>
          </a:p>
        </p:txBody>
      </p:sp>
      <p:sp>
        <p:nvSpPr>
          <p:cNvPr id="159" name="Rectangle 158"/>
          <p:cNvSpPr/>
          <p:nvPr/>
        </p:nvSpPr>
        <p:spPr>
          <a:xfrm>
            <a:off x="13121640" y="4539996"/>
            <a:ext cx="4251960" cy="27432"/>
          </a:xfrm>
          <a:prstGeom prst="rect">
            <a:avLst/>
          </a:prstGeom>
          <a:solidFill>
            <a:srgbClr val="0E0F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3121640" y="4709160"/>
            <a:ext cx="43434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Custodian onboarding, issuance controls, operation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The API and backend: closed, not self-hostable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Paid by the financial institution; not priced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914400" y="758037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914400" y="7699248"/>
            <a:ext cx="164592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0E0F11"/>
                </a:solidFill>
                <a:latin typeface="Instrument Sans"/>
              </a:rPr>
              <a:t>Adoption still takes work: a key per party, its own signatures, one connection to the rail (the Radox API).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800" b="0">
                <a:solidFill>
                  <a:srgbClr val="4D5560"/>
                </a:solidFill>
                <a:latin typeface="Instrument Sans"/>
              </a:rPr>
              <a:t>Radox is the rail, never the issuer. Regulation and licences stay with the client and its local counsel.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08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VISION AND ASK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2918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HACKATHON PROGRESS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Built this weekend, on disclosed prior work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4D5560"/>
                </a:solidFill>
                <a:latin typeface="JetBrains Mono"/>
              </a:rPr>
              <a:t>PRIOR WORK · BEFORE SUN 25 OCT 09:00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14400" y="3717036"/>
            <a:ext cx="7955279" cy="27432"/>
          </a:xfrm>
          <a:prstGeom prst="rect">
            <a:avLst/>
          </a:prstGeom>
          <a:solidFill>
            <a:srgbClr val="4D5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1440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platform (closed backend); its 3 Soroban contracts are on Stellar mainnet, public since 2026-08-19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transfer_agent and its redeem (new testnet instance from the existing wasm)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Architecture notes (20 Oct), planning files (24–25 Oct), the explainer video, our agent tooling (from 22 Oct)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4D556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No contract code before then: first repo commit 25 Oct 09:00 UTC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418320" y="3200400"/>
            <a:ext cx="7955279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BUILT AT HACKMERIDIAN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18320" y="3717036"/>
            <a:ext cx="7955279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18320" y="3886200"/>
            <a:ext cx="7955279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custody_registry contract, 24 unit tests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Lifecycle harness: 7 testnet transactions, 9 refused calls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verify-head script, the public shipment page, this deck</a:t>
            </a:r>
          </a:p>
          <a:p>
            <a:pPr algn="l">
              <a:lnSpc>
                <a:spcPct val="112000"/>
              </a:lnSpc>
              <a:spcAft>
                <a:spcPts val="800"/>
              </a:spcAft>
            </a:pPr>
            <a:r>
              <a:rPr sz="2100" b="0">
                <a:solidFill>
                  <a:srgbClr val="556F00"/>
                </a:solidFill>
                <a:latin typeface="Instrument Sans"/>
              </a:rPr>
              <a:t>— </a:t>
            </a:r>
            <a:r>
              <a:rPr sz="2100" b="0">
                <a:solidFill>
                  <a:srgbClr val="0E0F11"/>
                </a:solidFill>
                <a:latin typeface="Instrument Sans"/>
              </a:rPr>
              <a:t>Radox API reads the registry: same head (closed backend, testnet)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914400" y="7315200"/>
            <a:ext cx="16459200" cy="1325880"/>
          </a:xfrm>
          <a:prstGeom prst="roundRect">
            <a:avLst>
              <a:gd name="adj" fmla="val 11034"/>
            </a:avLst>
          </a:prstGeom>
          <a:solidFill>
            <a:srgbClr val="FFFFFF"/>
          </a:solidFill>
          <a:ln w="12700">
            <a:solidFill>
              <a:srgbClr val="DFDDD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1234440" y="7424927"/>
            <a:ext cx="1581912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attribution  </a:t>
            </a:r>
            <a:r>
              <a:rPr sz="2000" b="0">
                <a:solidFill>
                  <a:srgbClr val="0E0F11"/>
                </a:solidFill>
                <a:latin typeface="Instrument Sans"/>
              </a:rPr>
              <a:t>Code, tests, scripts, the shipment page, docs and this deck were made with AI coding agents (Claude Code); the team decided scope and what ships. Per-file record in AI_USAGE.md. The video narration is an AI voice generated from Pedro's voice.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09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NEXT ▸ THE TEAM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3977639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VISION · NEXT · THE ASK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Vision: one custody standard, every corridor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164592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600" b="1">
                <a:solidFill>
                  <a:srgbClr val="0E0F11"/>
                </a:solidFill>
                <a:latin typeface="Instrument Sans"/>
              </a:rPr>
              <a:t>Rio–Miami is our pilot corridor. </a:t>
            </a:r>
            <a:r>
              <a:rPr sz="2600" b="0">
                <a:solidFill>
                  <a:srgbClr val="0E0F11"/>
                </a:solidFill>
                <a:latin typeface="Instrument Sans"/>
              </a:rPr>
              <a:t>The goal is a public, SWIFT-like custody standard on Stellar for tokenized goods in transit worldwide, to integrate with the systems of chambers of commerce, ports and airports.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097280" y="4832604"/>
            <a:ext cx="12618720" cy="27432"/>
          </a:xfrm>
          <a:prstGeom prst="rect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941832" y="4690872"/>
            <a:ext cx="310896" cy="310896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91440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NOW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1440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Mechanism proven on testnet. No standard, users or revenue yet.</a:t>
            </a:r>
          </a:p>
        </p:txBody>
      </p:sp>
      <p:sp>
        <p:nvSpPr>
          <p:cNvPr id="130" name="Oval 129"/>
          <p:cNvSpPr/>
          <p:nvPr/>
        </p:nvSpPr>
        <p:spPr>
          <a:xfrm>
            <a:off x="5184648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2064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NEXT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512064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One Rio–Miami pilot shipment (none agreed yet). Full test matrix.</a:t>
            </a:r>
          </a:p>
        </p:txBody>
      </p:sp>
      <p:sp>
        <p:nvSpPr>
          <p:cNvPr id="133" name="Oval 132"/>
          <p:cNvSpPr/>
          <p:nvPr/>
        </p:nvSpPr>
        <p:spPr>
          <a:xfrm>
            <a:off x="939088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326880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PLANNED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326880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SCF Build, then a security audit (neither done). Mainnet.</a:t>
            </a:r>
          </a:p>
        </p:txBody>
      </p:sp>
      <p:sp>
        <p:nvSpPr>
          <p:cNvPr id="136" name="Oval 135"/>
          <p:cNvSpPr/>
          <p:nvPr/>
        </p:nvSpPr>
        <p:spPr>
          <a:xfrm>
            <a:off x="13597127" y="4727448"/>
            <a:ext cx="237744" cy="237744"/>
          </a:xfrm>
          <a:prstGeom prst="ellipse">
            <a:avLst/>
          </a:prstGeom>
          <a:solidFill>
            <a:srgbClr val="556F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3533119" y="507492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556F00"/>
                </a:solidFill>
                <a:latin typeface="JetBrains Mono"/>
              </a:rPr>
              <a:t>FUTURE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3533119" y="5486400"/>
            <a:ext cx="3931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0E0F11"/>
                </a:solidFill>
                <a:latin typeface="Instrument Sans"/>
              </a:rPr>
              <a:t>More corridors; port, airport, chamber links (none confirmed); USD leg (not built).</a:t>
            </a:r>
          </a:p>
        </p:txBody>
      </p:sp>
      <p:sp>
        <p:nvSpPr>
          <p:cNvPr id="139" name="Rounded Rectangle 138"/>
          <p:cNvSpPr/>
          <p:nvPr/>
        </p:nvSpPr>
        <p:spPr>
          <a:xfrm>
            <a:off x="914400" y="7223760"/>
            <a:ext cx="16459200" cy="1234440"/>
          </a:xfrm>
          <a:prstGeom prst="roundRect">
            <a:avLst>
              <a:gd name="adj" fmla="val 11851"/>
            </a:avLst>
          </a:prstGeom>
          <a:solidFill>
            <a:srgbClr val="C6F24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1325880" y="7223760"/>
            <a:ext cx="15636240" cy="12344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1">
                <a:solidFill>
                  <a:srgbClr val="0E0F11"/>
                </a:solidFill>
                <a:latin typeface="JetBrains Mono"/>
              </a:rPr>
              <a:t>Our ask  </a:t>
            </a:r>
            <a:r>
              <a:rPr sz="2400" b="1">
                <a:solidFill>
                  <a:srgbClr val="0E0F11"/>
                </a:solidFill>
                <a:latin typeface="Instrument Sans"/>
              </a:rPr>
              <a:t>Introductions to one financial institution and one port, airport or logistics operator for a first pilot shipment, and a Stellar engineer's review of the design.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</p:bgPr>
    </p:bg>
    <p:spTree>
      <p:nvGrpSpPr>
        <p:cNvPr id="1" name=""/>
        <p:cNvGrpSpPr/>
        <p:nvPr/>
      </p:nvGrpSpPr>
      <p:grpSpPr/>
      <p:sp>
        <p:nvSpPr>
          <p:cNvPr id="106" name="Google Shape;106;p14"/>
          <p:cNvSpPr/>
          <p:nvPr/>
        </p:nvSpPr>
        <p:spPr>
          <a:xfrm>
            <a:off x="0" y="0"/>
            <a:ext cx="18288000" cy="73152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07" name="Google Shape;107;p14"/>
          <p:cNvSpPr txBox="1"/>
          <p:nvPr/>
        </p:nvSpPr>
        <p:spPr>
          <a:xfrm>
            <a:off x="9144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C6F24E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PLATFORM 10 / 10</a:t>
            </a:r>
            <a:endParaRPr/>
          </a:p>
        </p:txBody>
      </p:sp>
      <p:sp>
        <p:nvSpPr>
          <p:cNvPr id="108" name="Google Shape;108;p14"/>
          <p:cNvSpPr txBox="1"/>
          <p:nvPr/>
        </p:nvSpPr>
        <p:spPr>
          <a:xfrm>
            <a:off x="5486400" y="201168"/>
            <a:ext cx="73152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HACKMERIDIAN 2026 · LISBON</a:t>
            </a:r>
            <a:endParaRPr/>
          </a:p>
        </p:txBody>
      </p:sp>
      <p:sp>
        <p:nvSpPr>
          <p:cNvPr id="109" name="Google Shape;109;p14"/>
          <p:cNvSpPr txBox="1"/>
          <p:nvPr/>
        </p:nvSpPr>
        <p:spPr>
          <a:xfrm>
            <a:off x="12801600" y="201168"/>
            <a:ext cx="4572000" cy="329184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FFFFFF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FINAL STOP</a:t>
            </a:r>
            <a:endParaRPr/>
          </a:p>
        </p:txBody>
      </p:sp>
      <p:sp>
        <p:nvSpPr>
          <p:cNvPr id="110" name="Google Shape;110;p14"/>
          <p:cNvSpPr/>
          <p:nvPr/>
        </p:nvSpPr>
        <p:spPr>
          <a:xfrm>
            <a:off x="914400" y="1417320"/>
            <a:ext cx="1920240" cy="475488"/>
          </a:xfrm>
          <a:prstGeom prst="roundRect">
            <a:avLst>
              <a:gd fmla="val 50000" name="adj"/>
            </a:avLst>
          </a:prstGeom>
          <a:solidFill>
            <a:srgbClr val="C6F24E"/>
          </a:solidFill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E0F11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THE TEAM</a:t>
            </a:r>
            <a:endParaRPr/>
          </a:p>
        </p:txBody>
      </p:sp>
      <p:sp>
        <p:nvSpPr>
          <p:cNvPr id="121" name="Google Shape;121;p14"/>
          <p:cNvSpPr/>
          <p:nvPr/>
        </p:nvSpPr>
        <p:spPr>
          <a:xfrm>
            <a:off x="914400" y="8915400"/>
            <a:ext cx="16459200" cy="13716"/>
          </a:xfrm>
          <a:prstGeom prst="rect">
            <a:avLst/>
          </a:prstGeom>
          <a:solidFill>
            <a:srgbClr val="DFDD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Instrument Sans"/>
              <a:ea typeface="Instrument Sans"/>
              <a:cs typeface="Instrument Sans"/>
              <a:sym typeface="Instrument Sans"/>
            </a:endParaRPr>
          </a:p>
        </p:txBody>
      </p:sp>
      <p:sp>
        <p:nvSpPr>
          <p:cNvPr id="122" name="Google Shape;122;p14"/>
          <p:cNvSpPr txBox="1"/>
          <p:nvPr/>
        </p:nvSpPr>
        <p:spPr>
          <a:xfrm>
            <a:off x="914400" y="9253728"/>
            <a:ext cx="9144000" cy="320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5C5C5C"/>
                </a:solidFill>
                <a:latin typeface="JetBrains Mono"/>
                <a:ea typeface="JetBrains Mono"/>
                <a:cs typeface="JetBrains Mono"/>
                <a:sym typeface="JetBrains Mono"/>
              </a:rPr>
              <a:t>© 2026 HackMeridian · Lisbon  ·  #HackMeridian26</a:t>
            </a:r>
            <a:endParaRPr/>
          </a:p>
        </p:txBody>
      </p:sp>
      <p:pic>
        <p:nvPicPr>
          <p:cNvPr id="123" name="Picture 12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59000" y="9171432"/>
            <a:ext cx="2517969" cy="438912"/>
          </a:xfrm>
          <a:prstGeom prst="rect">
            <a:avLst/>
          </a:prstGeom>
        </p:spPr>
      </p:pic>
      <p:sp>
        <p:nvSpPr>
          <p:cNvPr id="124" name="TextBox 123"/>
          <p:cNvSpPr txBox="1"/>
          <p:nvPr/>
        </p:nvSpPr>
        <p:spPr>
          <a:xfrm>
            <a:off x="914400" y="2011680"/>
            <a:ext cx="164592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600"/>
              </a:spcAft>
            </a:pPr>
            <a:r>
              <a:rPr sz="5800" b="1">
                <a:solidFill>
                  <a:srgbClr val="0E0F11"/>
                </a:solidFill>
                <a:latin typeface="Inter Tight"/>
              </a:rPr>
              <a:t>Why us: a founder already on Stellar mainnet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914400" y="3108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Pedro Wakigawa Saragossy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Founder, captain. Built Radox: 3 Soroban contracts on Stellar mainnet.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914400" y="4251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Leo Schlanger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Developer: custody_registry, the testnet harness and the proofs.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14400" y="5394960"/>
            <a:ext cx="987552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3000" b="1">
                <a:solidFill>
                  <a:srgbClr val="0E0F11"/>
                </a:solidFill>
                <a:latin typeface="Inter Tight"/>
              </a:rPr>
              <a:t>Vhendala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2100" b="0">
                <a:solidFill>
                  <a:srgbClr val="0E0F11"/>
                </a:solidFill>
                <a:latin typeface="Instrument Sans"/>
              </a:rPr>
              <a:t>QA and product review: reads every deliverable as a judge would.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914400" y="6537960"/>
            <a:ext cx="9692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000" b="0">
                <a:solidFill>
                  <a:srgbClr val="4D5560"/>
                </a:solidFill>
                <a:latin typeface="Instrument Sans"/>
              </a:rPr>
              <a:t>Leo and Vhendala joined for the hackathon.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1338560" y="3108960"/>
            <a:ext cx="6035040" cy="3657600"/>
          </a:xfrm>
          <a:prstGeom prst="roundRect">
            <a:avLst>
              <a:gd name="adj" fmla="val 4000"/>
            </a:avLst>
          </a:prstGeom>
          <a:noFill/>
          <a:ln w="12700">
            <a:solidFill>
              <a:srgbClr val="4D556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1338560" y="3108960"/>
            <a:ext cx="6035040" cy="365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Aft>
                <a:spcPts val="600"/>
              </a:spcAft>
            </a:pPr>
            <a:r>
              <a:rPr sz="2200" b="0">
                <a:solidFill>
                  <a:srgbClr val="4D5560"/>
                </a:solidFill>
                <a:latin typeface="Instrument Sans"/>
              </a:rPr>
              <a:t>Team photo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914400" y="6995160"/>
            <a:ext cx="1645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2800" b="1">
                <a:solidFill>
                  <a:srgbClr val="556F00"/>
                </a:solidFill>
                <a:latin typeface="Inter Tight"/>
              </a:rPr>
              <a:t>Rio–Miami first. Our goal: one custody standard for every corridor.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914400" y="7626096"/>
            <a:ext cx="16459200" cy="18288"/>
          </a:xfrm>
          <a:prstGeom prst="rect">
            <a:avLst/>
          </a:prstGeom>
          <a:solidFill>
            <a:srgbClr val="DFDD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914400" y="7726679"/>
            <a:ext cx="16459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Live page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rio-miami-rail.vercel.app</a:t>
            </a:r>
            <a:r>
              <a:rPr sz="1800" b="1">
                <a:solidFill>
                  <a:srgbClr val="556F00"/>
                </a:solidFill>
                <a:latin typeface="JetBrains Mono"/>
              </a:rPr>
              <a:t>     Code  </a:t>
            </a:r>
            <a:r>
              <a:rPr sz="1800" b="0">
                <a:solidFill>
                  <a:srgbClr val="0E0F11"/>
                </a:solidFill>
                <a:latin typeface="JetBrains Mono"/>
              </a:rPr>
              <a:t>github.com/pwsaragossy/rio-miami-rail (Apache-2.0)</a:t>
            </a:r>
          </a:p>
          <a:p>
            <a:pPr algn="l">
              <a:lnSpc>
                <a:spcPct val="112000"/>
              </a:lnSpc>
              <a:spcAft>
                <a:spcPts val="600"/>
              </a:spcAft>
            </a:pPr>
            <a:r>
              <a:rPr sz="1800" b="1">
                <a:solidFill>
                  <a:srgbClr val="556F00"/>
                </a:solidFill>
                <a:latin typeface="JetBrains Mono"/>
              </a:rPr>
              <a:t>AI  </a:t>
            </a:r>
            <a:r>
              <a:rPr sz="1800" b="0">
                <a:solidFill>
                  <a:srgbClr val="0E0F11"/>
                </a:solidFill>
                <a:latin typeface="Instrument Sans"/>
              </a:rPr>
              <a:t>Code, page, docs and deck made with AI coding agents (Claude Code). Narration: an AI voice from Pedro's voice. No AI-generated images in this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
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61" r:id="rId23"/>
    <p:sldId id="262" r:id="rId24"/>
    <p:sldId id="263" r:id="rId25"/>
    <p:sldId id="264" r:id="rId26"/>
    <p:sldId id="265" r:id="rId27"/>
    <p:sldId id="266" r:id="rId28"/>
    <p:sldId id="267" r:id="rId29"/>
    <p:sldId id="268" r:id="rId30"/>
    <p:sldId id="269" r:id="rId31"/>
    <p:sldId id="270" r:id="rId32"/>
  </p:sldIdLst>
  <p:sldSz cy="10287000" cx="18288000"/>
  <p:notesSz cx="6858000" cy="9144000"/>
  <p:embeddedFontLst>
    <p:embeddedFont>
      <p:font typeface="Instrument Sans"/>
      <p:regular r:id="rId11"/>
      <p:bold r:id="rId12"/>
      <p:italic r:id="rId13"/>
      <p:boldItalic r:id="rId14"/>
    </p:embeddedFont>
    <p:embeddedFont>
      <p:font typeface="Inter Tight"/>
      <p:regular r:id="rId15"/>
      <p:bold r:id="rId16"/>
      <p:italic r:id="rId17"/>
      <p:boldItalic r:id="rId18"/>
    </p:embeddedFont>
    <p:embeddedFont>
      <p:font typeface="JetBrains Mono"/>
      <p:regular r:id="rId19"/>
      <p:bold r:id="rId20"/>
      <p:italic r:id="rId21"/>
      <p:boldItalic r:id="rId2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11" Type="http://schemas.openxmlformats.org/officeDocument/2006/relationships/font" Target="fonts/InstrumentSans-regular.fntdata"/><Relationship Id="rId12" Type="http://schemas.openxmlformats.org/officeDocument/2006/relationships/font" Target="fonts/InstrumentSans-bold.fntdata"/><Relationship Id="rId13" Type="http://schemas.openxmlformats.org/officeDocument/2006/relationships/font" Target="fonts/InstrumentSans-italic.fntdata"/><Relationship Id="rId14" Type="http://schemas.openxmlformats.org/officeDocument/2006/relationships/font" Target="fonts/InstrumentSans-boldItalic.fntdata"/><Relationship Id="rId15" Type="http://schemas.openxmlformats.org/officeDocument/2006/relationships/font" Target="fonts/InterTight-regular.fntdata"/><Relationship Id="rId16" Type="http://schemas.openxmlformats.org/officeDocument/2006/relationships/font" Target="fonts/InterTight-bold.fntdata"/><Relationship Id="rId17" Type="http://schemas.openxmlformats.org/officeDocument/2006/relationships/font" Target="fonts/InterTight-italic.fntdata"/><Relationship Id="rId18" Type="http://schemas.openxmlformats.org/officeDocument/2006/relationships/font" Target="fonts/InterTight-boldItalic.fntdata"/><Relationship Id="rId19" Type="http://schemas.openxmlformats.org/officeDocument/2006/relationships/font" Target="fonts/JetBrainsMono-regular.fntdata"/><Relationship Id="rId20" Type="http://schemas.openxmlformats.org/officeDocument/2006/relationships/font" Target="fonts/JetBrainsMono-bold.fntdata"/><Relationship Id="rId21" Type="http://schemas.openxmlformats.org/officeDocument/2006/relationships/font" Target="fonts/JetBrainsMono-italic.fntdata"/><Relationship Id="rId22" Type="http://schemas.openxmlformats.org/officeDocument/2006/relationships/font" Target="fonts/JetBrainsMono-boldItalic.fntdata"/><Relationship Id="rId23" Type="http://schemas.openxmlformats.org/officeDocument/2006/relationships/slide" Target="slides/slide6.xml"/><Relationship Id="rId24" Type="http://schemas.openxmlformats.org/officeDocument/2006/relationships/slide" Target="slides/slide7.xml"/><Relationship Id="rId25" Type="http://schemas.openxmlformats.org/officeDocument/2006/relationships/slide" Target="slides/slide8.xml"/><Relationship Id="rId26" Type="http://schemas.openxmlformats.org/officeDocument/2006/relationships/slide" Target="slides/slide9.xml"/><Relationship Id="rId27" Type="http://schemas.openxmlformats.org/officeDocument/2006/relationships/slide" Target="slides/slide10.xml"/><Relationship Id="rId28" Type="http://schemas.openxmlformats.org/officeDocument/2006/relationships/slide" Target="slides/slide11.xml"/><Relationship Id="rId29" Type="http://schemas.openxmlformats.org/officeDocument/2006/relationships/slide" Target="slides/slide12.xml"/><Relationship Id="rId30" Type="http://schemas.openxmlformats.org/officeDocument/2006/relationships/slide" Target="slides/slide13.xml"/><Relationship Id="rId31" Type="http://schemas.openxmlformats.org/officeDocument/2006/relationships/slide" Target="slides/slide14.xml"/><Relationship Id="rId3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3"/>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3"/>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4"/>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5"/>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Inter Tight"/>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5"/>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6"/>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6"/>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Inter Tight"/>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7"/>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7"/>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7"/>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7"/>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9"/>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Inter Tight"/>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9"/>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9"/>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10"/>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Inter Tight"/>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10"/>
          <p:cNvSpPr/>
          <p:nvPr>
            <p:ph idx="2" type="pic"/>
          </p:nvPr>
        </p:nvSpPr>
        <p:spPr>
          <a:xfrm>
            <a:off x="1792288" y="612775"/>
            <a:ext cx="5486400" cy="4114800"/>
          </a:xfrm>
          <a:prstGeom prst="rect">
            <a:avLst/>
          </a:prstGeom>
          <a:noFill/>
          <a:ln>
            <a:noFill/>
          </a:ln>
        </p:spPr>
      </p:sp>
      <p:sp>
        <p:nvSpPr>
          <p:cNvPr id="64" name="Google Shape;64;p10"/>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1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1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1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1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11"/>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1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1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1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12"/>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12"/>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1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1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1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Inter Tight"/>
              <a:buNone/>
              <a:defRPr b="0" i="0" sz="4400" u="none" cap="none" strike="noStrike">
                <a:solidFill>
                  <a:schemeClr val="dk1"/>
                </a:solidFill>
                <a:latin typeface="Inter Tight"/>
                <a:ea typeface="Inter Tight"/>
                <a:cs typeface="Inter Tight"/>
                <a:sym typeface="Inter Tight"/>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Instrument Sans"/>
                <a:ea typeface="Instrument Sans"/>
                <a:cs typeface="Instrument Sans"/>
                <a:sym typeface="Instrument Sans"/>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Instrument Sans"/>
                <a:ea typeface="Instrument Sans"/>
                <a:cs typeface="Instrument Sans"/>
                <a:sym typeface="Instrument Sans"/>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Instrument Sans"/>
                <a:ea typeface="Instrument Sans"/>
                <a:cs typeface="Instrument Sans"/>
                <a:sym typeface="Instrument Sans"/>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Instrument Sans"/>
                <a:ea typeface="Instrument Sans"/>
                <a:cs typeface="Instrument Sans"/>
                <a:sym typeface="Instrument Sans"/>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Instrument Sans"/>
                <a:ea typeface="Instrument Sans"/>
                <a:cs typeface="Instrument Sans"/>
                <a:sym typeface="Instrument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Instrument Sans"/>
                <a:ea typeface="Instrument Sans"/>
                <a:cs typeface="Instrument Sans"/>
                <a:sym typeface="Instrument Sans"/>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Instrument Sans"/>
                <a:ea typeface="Instrument Sans"/>
                <a:cs typeface="Instrument Sans"/>
                <a:sym typeface="Instrument Sans"/>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Instrument Sans"/>
                <a:ea typeface="Instrument Sans"/>
                <a:cs typeface="Instrument Sans"/>
                <a:sym typeface="Instrument Sans"/>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Instrument Sans"/>
                <a:ea typeface="Instrument Sans"/>
                <a:cs typeface="Instrument Sans"/>
                <a:sym typeface="Instrument Sans"/>
              </a:defRPr>
            </a:lvl9pPr>
          </a:lstStyle>
          <a:p/>
        </p:txBody>
      </p:sp>
      <p:sp>
        <p:nvSpPr>
          <p:cNvPr id="8" name="Google Shape;8;p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Instrument Sans"/>
                <a:ea typeface="Instrument Sans"/>
                <a:cs typeface="Instrument Sans"/>
                <a:sym typeface="Instrument Sans"/>
              </a:defRPr>
            </a:lvl1pPr>
            <a:lvl2pPr lvl="1"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2pPr>
            <a:lvl3pPr lvl="2"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3pPr>
            <a:lvl4pPr lvl="3"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4pPr>
            <a:lvl5pPr lvl="4"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5pPr>
            <a:lvl6pPr lvl="5"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6pPr>
            <a:lvl7pPr lvl="6"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7pPr>
            <a:lvl8pPr lvl="7"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8pPr>
            <a:lvl9pPr lvl="8"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9pPr>
          </a:lstStyle>
          <a:p/>
        </p:txBody>
      </p:sp>
      <p:sp>
        <p:nvSpPr>
          <p:cNvPr id="9" name="Google Shape;9;p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Instrument Sans"/>
                <a:ea typeface="Instrument Sans"/>
                <a:cs typeface="Instrument Sans"/>
                <a:sym typeface="Instrument Sans"/>
              </a:defRPr>
            </a:lvl1pPr>
            <a:lvl2pPr lvl="1"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2pPr>
            <a:lvl3pPr lvl="2"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3pPr>
            <a:lvl4pPr lvl="3"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4pPr>
            <a:lvl5pPr lvl="4"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5pPr>
            <a:lvl6pPr lvl="5"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6pPr>
            <a:lvl7pPr lvl="6"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7pPr>
            <a:lvl8pPr lvl="7"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8pPr>
            <a:lvl9pPr lvl="8"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9pPr>
          </a:lstStyle>
          <a:p/>
        </p:txBody>
      </p:sp>
      <p:sp>
        <p:nvSpPr>
          <p:cNvPr id="10" name="Google Shape;10;p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Instrument Sans"/>
                <a:ea typeface="Instrument Sans"/>
                <a:cs typeface="Instrument Sans"/>
                <a:sym typeface="Instrument Sans"/>
              </a:defRPr>
            </a:lvl1pPr>
            <a:lvl2pPr indent="0" lvl="1" marL="0" marR="0" rtl="0" algn="r">
              <a:spcBef>
                <a:spcPts val="0"/>
              </a:spcBef>
              <a:buNone/>
              <a:defRPr b="0" i="0" sz="1200" u="none" cap="none" strike="noStrike">
                <a:solidFill>
                  <a:srgbClr val="888888"/>
                </a:solidFill>
                <a:latin typeface="Instrument Sans"/>
                <a:ea typeface="Instrument Sans"/>
                <a:cs typeface="Instrument Sans"/>
                <a:sym typeface="Instrument Sans"/>
              </a:defRPr>
            </a:lvl2pPr>
            <a:lvl3pPr indent="0" lvl="2" marL="0" marR="0" rtl="0" algn="r">
              <a:spcBef>
                <a:spcPts val="0"/>
              </a:spcBef>
              <a:buNone/>
              <a:defRPr b="0" i="0" sz="1200" u="none" cap="none" strike="noStrike">
                <a:solidFill>
                  <a:srgbClr val="888888"/>
                </a:solidFill>
                <a:latin typeface="Instrument Sans"/>
                <a:ea typeface="Instrument Sans"/>
                <a:cs typeface="Instrument Sans"/>
                <a:sym typeface="Instrument Sans"/>
              </a:defRPr>
            </a:lvl3pPr>
            <a:lvl4pPr indent="0" lvl="3" marL="0" marR="0" rtl="0" algn="r">
              <a:spcBef>
                <a:spcPts val="0"/>
              </a:spcBef>
              <a:buNone/>
              <a:defRPr b="0" i="0" sz="1200" u="none" cap="none" strike="noStrike">
                <a:solidFill>
                  <a:srgbClr val="888888"/>
                </a:solidFill>
                <a:latin typeface="Instrument Sans"/>
                <a:ea typeface="Instrument Sans"/>
                <a:cs typeface="Instrument Sans"/>
                <a:sym typeface="Instrument Sans"/>
              </a:defRPr>
            </a:lvl4pPr>
            <a:lvl5pPr indent="0" lvl="4" marL="0" marR="0" rtl="0" algn="r">
              <a:spcBef>
                <a:spcPts val="0"/>
              </a:spcBef>
              <a:buNone/>
              <a:defRPr b="0" i="0" sz="1200" u="none" cap="none" strike="noStrike">
                <a:solidFill>
                  <a:srgbClr val="888888"/>
                </a:solidFill>
                <a:latin typeface="Instrument Sans"/>
                <a:ea typeface="Instrument Sans"/>
                <a:cs typeface="Instrument Sans"/>
                <a:sym typeface="Instrument Sans"/>
              </a:defRPr>
            </a:lvl5pPr>
            <a:lvl6pPr indent="0" lvl="5" marL="0" marR="0" rtl="0" algn="r">
              <a:spcBef>
                <a:spcPts val="0"/>
              </a:spcBef>
              <a:buNone/>
              <a:defRPr b="0" i="0" sz="1200" u="none" cap="none" strike="noStrike">
                <a:solidFill>
                  <a:srgbClr val="888888"/>
                </a:solidFill>
                <a:latin typeface="Instrument Sans"/>
                <a:ea typeface="Instrument Sans"/>
                <a:cs typeface="Instrument Sans"/>
                <a:sym typeface="Instrument Sans"/>
              </a:defRPr>
            </a:lvl6pPr>
            <a:lvl7pPr indent="0" lvl="6" marL="0" marR="0" rtl="0" algn="r">
              <a:spcBef>
                <a:spcPts val="0"/>
              </a:spcBef>
              <a:buNone/>
              <a:defRPr b="0" i="0" sz="1200" u="none" cap="none" strike="noStrike">
                <a:solidFill>
                  <a:srgbClr val="888888"/>
                </a:solidFill>
                <a:latin typeface="Instrument Sans"/>
                <a:ea typeface="Instrument Sans"/>
                <a:cs typeface="Instrument Sans"/>
                <a:sym typeface="Instrument Sans"/>
              </a:defRPr>
            </a:lvl7pPr>
            <a:lvl8pPr indent="0" lvl="7" marL="0" marR="0" rtl="0" algn="r">
              <a:spcBef>
                <a:spcPts val="0"/>
              </a:spcBef>
              <a:buNone/>
              <a:defRPr b="0" i="0" sz="1200" u="none" cap="none" strike="noStrike">
                <a:solidFill>
                  <a:srgbClr val="888888"/>
                </a:solidFill>
                <a:latin typeface="Instrument Sans"/>
                <a:ea typeface="Instrument Sans"/>
                <a:cs typeface="Instrument Sans"/>
                <a:sym typeface="Instrument Sans"/>
              </a:defRPr>
            </a:lvl8pPr>
            <a:lvl9pPr indent="0" lvl="8" marL="0" marR="0" rtl="0" algn="r">
              <a:spcBef>
                <a:spcPts val="0"/>
              </a:spcBef>
              <a:buNone/>
              <a:defRPr b="0" i="0" sz="1200" u="none" cap="none" strike="noStrike">
                <a:solidFill>
                  <a:srgbClr val="888888"/>
                </a:solidFill>
                <a:latin typeface="Instrument Sans"/>
                <a:ea typeface="Instrument Sans"/>
                <a:cs typeface="Instrument Sans"/>
                <a:sym typeface="Instrument Sans"/>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E0F11"/>
        </a:solidFill>
      </p:bgPr>
    </p:bg>
    <p:spTree>
      <p:nvGrpSpPr>
        <p:cNvPr id="1" name=""/>
        <p:cNvGrpSpPr/>
        <p:nvPr/>
      </p:nvGrpSpPr>
      <p:grpSpPr/>
      <p:sp>
        <p:nvSpPr>
          <p:cNvPr id="84" name="Google Shape;84;p13"/>
          <p:cNvSpPr txBox="1"/>
          <p:nvPr/>
        </p:nvSpPr>
        <p:spPr>
          <a:xfrm>
            <a:off x="914400" y="777240"/>
            <a:ext cx="8229600" cy="32004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400" u="none" cap="none" strike="noStrike">
                <a:solidFill>
                  <a:srgbClr val="FFFFFF"/>
                </a:solidFill>
                <a:latin typeface="JetBrains Mono"/>
                <a:ea typeface="JetBrains Mono"/>
                <a:cs typeface="JetBrains Mono"/>
                <a:sym typeface="JetBrains Mono"/>
              </a:rPr>
              <a:t>HACKMERIDIAN 2026 · LISBON</a:t>
            </a:r>
            <a:endParaRPr/>
          </a:p>
        </p:txBody>
      </p:sp>
      <p:sp>
        <p:nvSpPr>
          <p:cNvPr id="85" name="Google Shape;85;p13"/>
          <p:cNvSpPr txBox="1"/>
          <p:nvPr/>
        </p:nvSpPr>
        <p:spPr>
          <a:xfrm>
            <a:off x="10058400" y="777240"/>
            <a:ext cx="7315200" cy="320040"/>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PLATFORM 01 / 10</a:t>
            </a:r>
            <a:endParaRPr/>
          </a:p>
        </p:txBody>
      </p:sp>
      <p:sp>
        <p:nvSpPr>
          <p:cNvPr id="86" name="Google Shape;86;p13"/>
          <p:cNvSpPr/>
          <p:nvPr/>
        </p:nvSpPr>
        <p:spPr>
          <a:xfrm>
            <a:off x="914400" y="1600200"/>
            <a:ext cx="3429000" cy="475488"/>
          </a:xfrm>
          <a:prstGeom prst="roundRect">
            <a:avLst>
              <a:gd fmla="val 50000" name="adj"/>
            </a:avLst>
          </a:prstGeom>
          <a:noFill/>
          <a:ln cap="flat" cmpd="sng" w="19050">
            <a:solidFill>
              <a:srgbClr val="C6F24E"/>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None/>
            </a:pPr>
            <a:r>
              <a:rPr b="1" i="0" lang="en-US" sz="1800" u="none" cap="none" strike="noStrike">
                <a:solidFill>
                  <a:srgbClr val="C6F24E"/>
                </a:solidFill>
                <a:latin typeface="JetBrains Mono"/>
                <a:ea typeface="JetBrains Mono"/>
                <a:cs typeface="JetBrains Mono"/>
                <a:sym typeface="JetBrains Mono"/>
              </a:rPr>
              <a:t>TESTNET · TEST KEYS</a:t>
            </a:r>
            <a:endParaRPr/>
          </a:p>
        </p:txBody>
      </p:sp>
      <p:pic>
        <p:nvPicPr>
          <p:cNvPr id="87" name="Picture 86" descr="image.png"/>
          <p:cNvPicPr>
            <a:picLocks noChangeAspect="1"/>
          </p:cNvPicPr>
          <p:nvPr/>
        </p:nvPicPr>
        <p:blipFill>
          <a:blip r:embed="rId2"/>
          <a:stretch>
            <a:fillRect/>
          </a:stretch>
        </p:blipFill>
        <p:spPr>
          <a:xfrm>
            <a:off x="914400" y="6812280"/>
            <a:ext cx="4721192" cy="822960"/>
          </a:xfrm>
          <a:prstGeom prst="rect">
            <a:avLst/>
          </a:prstGeom>
        </p:spPr>
      </p:pic>
      <p:sp>
        <p:nvSpPr>
          <p:cNvPr id="92" name="Google Shape;92;p13"/>
          <p:cNvSpPr/>
          <p:nvPr/>
        </p:nvSpPr>
        <p:spPr>
          <a:xfrm>
            <a:off x="5989320" y="6766560"/>
            <a:ext cx="18288" cy="914400"/>
          </a:xfrm>
          <a:prstGeom prst="rect">
            <a:avLst/>
          </a:prstGeom>
          <a:solidFill>
            <a:srgbClr val="4A4A4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pic>
        <p:nvPicPr>
          <p:cNvPr id="93" name="Picture 92" descr="image.png"/>
          <p:cNvPicPr>
            <a:picLocks noChangeAspect="1"/>
          </p:cNvPicPr>
          <p:nvPr/>
        </p:nvPicPr>
        <p:blipFill>
          <a:blip r:embed="rId3"/>
          <a:stretch>
            <a:fillRect/>
          </a:stretch>
        </p:blipFill>
        <p:spPr>
          <a:xfrm>
            <a:off x="6355080" y="6967728"/>
            <a:ext cx="2159633" cy="512064"/>
          </a:xfrm>
          <a:prstGeom prst="rect">
            <a:avLst/>
          </a:prstGeom>
        </p:spPr>
      </p:pic>
      <p:pic>
        <p:nvPicPr>
          <p:cNvPr id="94" name="Picture 93" descr="image.png"/>
          <p:cNvPicPr>
            <a:picLocks noChangeAspect="1"/>
          </p:cNvPicPr>
          <p:nvPr/>
        </p:nvPicPr>
        <p:blipFill>
          <a:blip r:embed="rId4"/>
          <a:stretch>
            <a:fillRect/>
          </a:stretch>
        </p:blipFill>
        <p:spPr>
          <a:xfrm>
            <a:off x="8823960" y="6903720"/>
            <a:ext cx="2483581" cy="621792"/>
          </a:xfrm>
          <a:prstGeom prst="rect">
            <a:avLst/>
          </a:prstGeom>
        </p:spPr>
      </p:pic>
      <p:sp>
        <p:nvSpPr>
          <p:cNvPr id="95" name="Google Shape;95;p13"/>
          <p:cNvSpPr/>
          <p:nvPr/>
        </p:nvSpPr>
        <p:spPr>
          <a:xfrm rot="5400000">
            <a:off x="14904720" y="6858000"/>
            <a:ext cx="731520" cy="731520"/>
          </a:xfrm>
          <a:prstGeom prst="triangle">
            <a:avLst>
              <a:gd fmla="val 50000" name="adj"/>
            </a:avLst>
          </a:prstGeom>
          <a:solidFill>
            <a:srgbClr val="C6F24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96" name="Google Shape;96;p13"/>
          <p:cNvSpPr/>
          <p:nvPr/>
        </p:nvSpPr>
        <p:spPr>
          <a:xfrm rot="5400000">
            <a:off x="15599664" y="6858000"/>
            <a:ext cx="731520" cy="731520"/>
          </a:xfrm>
          <a:prstGeom prst="triangle">
            <a:avLst>
              <a:gd fmla="val 50000" name="adj"/>
            </a:avLst>
          </a:prstGeom>
          <a:solidFill>
            <a:srgbClr val="C6F24E">
              <a:alpha val="60000"/>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97" name="Google Shape;97;p13"/>
          <p:cNvSpPr/>
          <p:nvPr/>
        </p:nvSpPr>
        <p:spPr>
          <a:xfrm rot="5400000">
            <a:off x="16294608" y="6858000"/>
            <a:ext cx="731520" cy="731520"/>
          </a:xfrm>
          <a:prstGeom prst="triangle">
            <a:avLst>
              <a:gd fmla="val 50000" name="adj"/>
            </a:avLst>
          </a:prstGeom>
          <a:solidFill>
            <a:srgbClr val="C6F24E">
              <a:alpha val="30196"/>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98" name="Google Shape;98;p13"/>
          <p:cNvSpPr/>
          <p:nvPr/>
        </p:nvSpPr>
        <p:spPr>
          <a:xfrm>
            <a:off x="914400" y="8641080"/>
            <a:ext cx="16459200" cy="13716"/>
          </a:xfrm>
          <a:prstGeom prst="rect">
            <a:avLst/>
          </a:prstGeom>
          <a:solidFill>
            <a:srgbClr val="3A3A3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99" name="Google Shape;99;p13"/>
          <p:cNvSpPr txBox="1"/>
          <p:nvPr/>
        </p:nvSpPr>
        <p:spPr>
          <a:xfrm>
            <a:off x="914400" y="8961120"/>
            <a:ext cx="4572000" cy="36576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600" u="none" cap="none" strike="noStrike">
                <a:solidFill>
                  <a:srgbClr val="FFFFFF"/>
                </a:solidFill>
                <a:latin typeface="JetBrains Mono"/>
                <a:ea typeface="JetBrains Mono"/>
                <a:cs typeface="JetBrains Mono"/>
                <a:sym typeface="JetBrains Mono"/>
              </a:rPr>
              <a:t>October 2026</a:t>
            </a:r>
            <a:endParaRPr/>
          </a:p>
        </p:txBody>
      </p:sp>
      <p:sp>
        <p:nvSpPr>
          <p:cNvPr id="100" name="Google Shape;100;p13"/>
          <p:cNvSpPr txBox="1"/>
          <p:nvPr/>
        </p:nvSpPr>
        <p:spPr>
          <a:xfrm>
            <a:off x="6400800" y="8961120"/>
            <a:ext cx="5486400" cy="36576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#HackMeridian26</a:t>
            </a:r>
            <a:endParaRPr/>
          </a:p>
        </p:txBody>
      </p:sp>
      <p:sp>
        <p:nvSpPr>
          <p:cNvPr id="101" name="Google Shape;101;p13"/>
          <p:cNvSpPr txBox="1"/>
          <p:nvPr/>
        </p:nvSpPr>
        <p:spPr>
          <a:xfrm>
            <a:off x="11887200" y="8961120"/>
            <a:ext cx="5486400" cy="365760"/>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rPr b="0" i="0" lang="en-US" sz="1400" u="none" cap="none" strike="noStrike">
                <a:solidFill>
                  <a:srgbClr val="A7A7A7"/>
                </a:solidFill>
                <a:latin typeface="JetBrains Mono"/>
                <a:ea typeface="JetBrains Mono"/>
                <a:cs typeface="JetBrains Mono"/>
                <a:sym typeface="JetBrains Mono"/>
              </a:rPr>
              <a:t>© 2026 HackMeridian · Lisbon</a:t>
            </a:r>
            <a:endParaRPr/>
          </a:p>
        </p:txBody>
      </p:sp>
      <p:sp>
        <p:nvSpPr>
          <p:cNvPr id="102" name="TextBox 101"/>
          <p:cNvSpPr txBox="1"/>
          <p:nvPr/>
        </p:nvSpPr>
        <p:spPr>
          <a:xfrm>
            <a:off x="914400" y="2331720"/>
            <a:ext cx="11430000" cy="1371600"/>
          </a:xfrm>
          <a:prstGeom prst="rect">
            <a:avLst/>
          </a:prstGeom>
          <a:noFill/>
        </p:spPr>
        <p:txBody>
          <a:bodyPr wrap="square" lIns="0" rIns="0" tIns="0" bIns="0" anchor="t">
            <a:spAutoFit/>
          </a:bodyPr>
          <a:lstStyle/>
          <a:p>
            <a:pPr algn="l">
              <a:lnSpc>
                <a:spcPct val="95000"/>
              </a:lnSpc>
              <a:spcAft>
                <a:spcPts val="600"/>
              </a:spcAft>
            </a:pPr>
            <a:r>
              <a:rPr sz="10000" b="1">
                <a:solidFill>
                  <a:srgbClr val="C6F24E"/>
                </a:solidFill>
                <a:latin typeface="Inter Tight"/>
              </a:rPr>
              <a:t>Radox Custody Rail</a:t>
            </a:r>
          </a:p>
        </p:txBody>
      </p:sp>
      <p:sp>
        <p:nvSpPr>
          <p:cNvPr id="103" name="TextBox 102"/>
          <p:cNvSpPr txBox="1"/>
          <p:nvPr/>
        </p:nvSpPr>
        <p:spPr>
          <a:xfrm>
            <a:off x="914400" y="3794760"/>
            <a:ext cx="11247120" cy="1463040"/>
          </a:xfrm>
          <a:prstGeom prst="rect">
            <a:avLst/>
          </a:prstGeom>
          <a:noFill/>
        </p:spPr>
        <p:txBody>
          <a:bodyPr wrap="square" lIns="0" rIns="0" tIns="0" bIns="0" anchor="t">
            <a:spAutoFit/>
          </a:bodyPr>
          <a:lstStyle/>
          <a:p>
            <a:pPr algn="l">
              <a:lnSpc>
                <a:spcPct val="100000"/>
              </a:lnSpc>
              <a:spcAft>
                <a:spcPts val="600"/>
              </a:spcAft>
            </a:pPr>
            <a:r>
              <a:rPr sz="3600" b="1">
                <a:solidFill>
                  <a:srgbClr val="E7E8EA"/>
                </a:solidFill>
                <a:latin typeface="Inter Tight"/>
              </a:rPr>
              <a:t>One record for the goods, from origin to delivery, that every company along the way will share.</a:t>
            </a:r>
          </a:p>
        </p:txBody>
      </p:sp>
      <p:sp>
        <p:nvSpPr>
          <p:cNvPr id="104" name="TextBox 103"/>
          <p:cNvSpPr txBox="1"/>
          <p:nvPr/>
        </p:nvSpPr>
        <p:spPr>
          <a:xfrm>
            <a:off x="914400" y="5440680"/>
            <a:ext cx="11430000" cy="457200"/>
          </a:xfrm>
          <a:prstGeom prst="rect">
            <a:avLst/>
          </a:prstGeom>
          <a:noFill/>
        </p:spPr>
        <p:txBody>
          <a:bodyPr wrap="square" lIns="0" rIns="0" tIns="0" bIns="0" anchor="t">
            <a:spAutoFit/>
          </a:bodyPr>
          <a:lstStyle/>
          <a:p>
            <a:pPr algn="l">
              <a:lnSpc>
                <a:spcPct val="112000"/>
              </a:lnSpc>
              <a:spcAft>
                <a:spcPts val="600"/>
              </a:spcAft>
            </a:pPr>
            <a:r>
              <a:rPr sz="2400" b="0">
                <a:solidFill>
                  <a:srgbClr val="A3A8B0"/>
                </a:solidFill>
                <a:latin typeface="Instrument Sans"/>
              </a:rPr>
              <a:t>Toward a SWIFT-like standard on Stellar  ·  Pilot corridor: Rio–Miami</a:t>
            </a:r>
          </a:p>
        </p:txBody>
      </p:sp>
      <p:pic>
        <p:nvPicPr>
          <p:cNvPr id="105" name="Picture 104" descr="qr-page-dark.png"/>
          <p:cNvPicPr>
            <a:picLocks noChangeAspect="1"/>
          </p:cNvPicPr>
          <p:nvPr/>
        </p:nvPicPr>
        <p:blipFill>
          <a:blip r:embed="rId5"/>
          <a:stretch>
            <a:fillRect/>
          </a:stretch>
        </p:blipFill>
        <p:spPr>
          <a:xfrm>
            <a:off x="14401800" y="1600200"/>
            <a:ext cx="2377440" cy="2377440"/>
          </a:xfrm>
          <a:prstGeom prst="rect">
            <a:avLst/>
          </a:prstGeom>
        </p:spPr>
      </p:pic>
      <p:sp>
        <p:nvSpPr>
          <p:cNvPr id="106" name="TextBox 105"/>
          <p:cNvSpPr txBox="1"/>
          <p:nvPr/>
        </p:nvSpPr>
        <p:spPr>
          <a:xfrm>
            <a:off x="13075920" y="4114800"/>
            <a:ext cx="5029200" cy="822960"/>
          </a:xfrm>
          <a:prstGeom prst="rect">
            <a:avLst/>
          </a:prstGeom>
          <a:noFill/>
        </p:spPr>
        <p:txBody>
          <a:bodyPr wrap="square" lIns="0" rIns="0" tIns="0" bIns="0" anchor="t">
            <a:spAutoFit/>
          </a:bodyPr>
          <a:lstStyle/>
          <a:p>
            <a:pPr algn="ctr">
              <a:lnSpc>
                <a:spcPct val="112000"/>
              </a:lnSpc>
              <a:spcAft>
                <a:spcPts val="200"/>
              </a:spcAft>
            </a:pPr>
            <a:r>
              <a:rPr sz="2000" b="0">
                <a:solidFill>
                  <a:srgbClr val="E7E8EA"/>
                </a:solidFill>
                <a:latin typeface="Instrument Sans"/>
              </a:rPr>
              <a:t>Scan: the live shipment</a:t>
            </a:r>
          </a:p>
          <a:p>
            <a:pPr algn="ctr">
              <a:lnSpc>
                <a:spcPct val="112000"/>
              </a:lnSpc>
              <a:spcAft>
                <a:spcPts val="200"/>
              </a:spcAft>
            </a:pPr>
            <a:r>
              <a:rPr sz="1800" b="0">
                <a:solidFill>
                  <a:srgbClr val="C6F24E"/>
                </a:solidFill>
                <a:latin typeface="JetBrains Mono"/>
              </a:rPr>
              <a:t>rio-miami-rail.vercel.app</a:t>
            </a:r>
          </a:p>
        </p:txBody>
      </p:sp>
      <p:sp>
        <p:nvSpPr>
          <p:cNvPr id="107" name="Rectangle 106"/>
          <p:cNvSpPr/>
          <p:nvPr/>
        </p:nvSpPr>
        <p:spPr>
          <a:xfrm>
            <a:off x="12801600" y="5609844"/>
            <a:ext cx="4572000" cy="27432"/>
          </a:xfrm>
          <a:prstGeom prst="rect">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8" name="Oval 107"/>
          <p:cNvSpPr/>
          <p:nvPr/>
        </p:nvSpPr>
        <p:spPr>
          <a:xfrm>
            <a:off x="12682728" y="5504688"/>
            <a:ext cx="237744" cy="237744"/>
          </a:xfrm>
          <a:prstGeom prst="ellipse">
            <a:avLst/>
          </a:prstGeom>
          <a:solidFill>
            <a:srgbClr val="C6F24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9" name="Oval 108"/>
          <p:cNvSpPr/>
          <p:nvPr/>
        </p:nvSpPr>
        <p:spPr>
          <a:xfrm>
            <a:off x="13642848" y="5550408"/>
            <a:ext cx="146304" cy="146304"/>
          </a:xfrm>
          <a:prstGeom prst="ellipse">
            <a:avLst/>
          </a:prstGeom>
          <a:solidFill>
            <a:srgbClr val="C6F24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0" name="Oval 109"/>
          <p:cNvSpPr/>
          <p:nvPr/>
        </p:nvSpPr>
        <p:spPr>
          <a:xfrm>
            <a:off x="14557248" y="5550408"/>
            <a:ext cx="146304" cy="146304"/>
          </a:xfrm>
          <a:prstGeom prst="ellipse">
            <a:avLst/>
          </a:prstGeom>
          <a:solidFill>
            <a:srgbClr val="C6F24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1" name="Oval 110"/>
          <p:cNvSpPr/>
          <p:nvPr/>
        </p:nvSpPr>
        <p:spPr>
          <a:xfrm>
            <a:off x="15471648" y="5550408"/>
            <a:ext cx="146304" cy="146304"/>
          </a:xfrm>
          <a:prstGeom prst="ellipse">
            <a:avLst/>
          </a:prstGeom>
          <a:solidFill>
            <a:srgbClr val="C6F24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2" name="Oval 111"/>
          <p:cNvSpPr/>
          <p:nvPr/>
        </p:nvSpPr>
        <p:spPr>
          <a:xfrm>
            <a:off x="16386048" y="5550408"/>
            <a:ext cx="146304" cy="146304"/>
          </a:xfrm>
          <a:prstGeom prst="ellipse">
            <a:avLst/>
          </a:prstGeom>
          <a:solidFill>
            <a:srgbClr val="C6F24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3" name="Oval 112"/>
          <p:cNvSpPr/>
          <p:nvPr/>
        </p:nvSpPr>
        <p:spPr>
          <a:xfrm>
            <a:off x="17254728" y="5504688"/>
            <a:ext cx="237744" cy="237744"/>
          </a:xfrm>
          <a:prstGeom prst="ellipse">
            <a:avLst/>
          </a:prstGeom>
          <a:solidFill>
            <a:srgbClr val="C6F24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4" name="TextBox 113"/>
          <p:cNvSpPr txBox="1"/>
          <p:nvPr/>
        </p:nvSpPr>
        <p:spPr>
          <a:xfrm>
            <a:off x="12682728" y="5870448"/>
            <a:ext cx="1828800" cy="365760"/>
          </a:xfrm>
          <a:prstGeom prst="rect">
            <a:avLst/>
          </a:prstGeom>
          <a:noFill/>
        </p:spPr>
        <p:txBody>
          <a:bodyPr wrap="square" lIns="0" rIns="0" tIns="0" bIns="0" anchor="t">
            <a:spAutoFit/>
          </a:bodyPr>
          <a:lstStyle/>
          <a:p>
            <a:pPr algn="l">
              <a:lnSpc>
                <a:spcPct val="112000"/>
              </a:lnSpc>
              <a:spcAft>
                <a:spcPts val="600"/>
              </a:spcAft>
            </a:pPr>
            <a:r>
              <a:rPr sz="1800" b="1">
                <a:solidFill>
                  <a:srgbClr val="A3A8B0"/>
                </a:solidFill>
                <a:latin typeface="JetBrains Mono"/>
              </a:rPr>
              <a:t>RIO</a:t>
            </a:r>
          </a:p>
        </p:txBody>
      </p:sp>
      <p:sp>
        <p:nvSpPr>
          <p:cNvPr id="115" name="TextBox 114"/>
          <p:cNvSpPr txBox="1"/>
          <p:nvPr/>
        </p:nvSpPr>
        <p:spPr>
          <a:xfrm>
            <a:off x="15663672" y="5870448"/>
            <a:ext cx="1828800" cy="365760"/>
          </a:xfrm>
          <a:prstGeom prst="rect">
            <a:avLst/>
          </a:prstGeom>
          <a:noFill/>
        </p:spPr>
        <p:txBody>
          <a:bodyPr wrap="square" lIns="0" rIns="0" tIns="0" bIns="0" anchor="t">
            <a:spAutoFit/>
          </a:bodyPr>
          <a:lstStyle/>
          <a:p>
            <a:pPr algn="r">
              <a:lnSpc>
                <a:spcPct val="112000"/>
              </a:lnSpc>
              <a:spcAft>
                <a:spcPts val="600"/>
              </a:spcAft>
            </a:pPr>
            <a:r>
              <a:rPr sz="1800" b="1">
                <a:solidFill>
                  <a:srgbClr val="A3A8B0"/>
                </a:solidFill>
                <a:latin typeface="JetBrains Mono"/>
              </a:rPr>
              <a:t>MIAMI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6F2"/>
        </a:solidFill>
      </p:bgPr>
    </p:bg>
    <p:spTree>
      <p:nvGrpSpPr>
        <p:cNvPr id="1" name=""/>
        <p:cNvGrpSpPr/>
        <p:nvPr/>
      </p:nvGrpSpPr>
      <p:grpSpPr/>
      <p:sp>
        <p:nvSpPr>
          <p:cNvPr id="106" name="Google Shape;106;p14"/>
          <p:cNvSpPr/>
          <p:nvPr/>
        </p:nvSpPr>
        <p:spPr>
          <a:xfrm>
            <a:off x="0" y="0"/>
            <a:ext cx="18288000" cy="731520"/>
          </a:xfrm>
          <a:prstGeom prst="rect">
            <a:avLst/>
          </a:prstGeom>
          <a:solidFill>
            <a:srgbClr val="0F0F0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07" name="Google Shape;107;p14"/>
          <p:cNvSpPr txBox="1"/>
          <p:nvPr/>
        </p:nvSpPr>
        <p:spPr>
          <a:xfrm>
            <a:off x="914400" y="201168"/>
            <a:ext cx="4572000" cy="32918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PLATFORM 02 / 10</a:t>
            </a:r>
            <a:endParaRPr/>
          </a:p>
        </p:txBody>
      </p:sp>
      <p:sp>
        <p:nvSpPr>
          <p:cNvPr id="108" name="Google Shape;108;p14"/>
          <p:cNvSpPr txBox="1"/>
          <p:nvPr/>
        </p:nvSpPr>
        <p:spPr>
          <a:xfrm>
            <a:off x="5486400" y="201168"/>
            <a:ext cx="7315200" cy="32918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i="0" lang="en-US" sz="1400" u="none" cap="none" strike="noStrike">
                <a:solidFill>
                  <a:srgbClr val="FFFFFF"/>
                </a:solidFill>
                <a:latin typeface="JetBrains Mono"/>
                <a:ea typeface="JetBrains Mono"/>
                <a:cs typeface="JetBrains Mono"/>
                <a:sym typeface="JetBrains Mono"/>
              </a:rPr>
              <a:t>HACKMERIDIAN 2026 · LISBON</a:t>
            </a:r>
            <a:endParaRPr/>
          </a:p>
        </p:txBody>
      </p:sp>
      <p:sp>
        <p:nvSpPr>
          <p:cNvPr id="109" name="Google Shape;109;p14"/>
          <p:cNvSpPr txBox="1"/>
          <p:nvPr/>
        </p:nvSpPr>
        <p:spPr>
          <a:xfrm>
            <a:off x="12801600" y="201168"/>
            <a:ext cx="4572000" cy="329184"/>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NEXT ▸ WHAT IT COSTS</a:t>
            </a:r>
            <a:endParaRPr/>
          </a:p>
        </p:txBody>
      </p:sp>
      <p:sp>
        <p:nvSpPr>
          <p:cNvPr id="110" name="Google Shape;110;p14"/>
          <p:cNvSpPr/>
          <p:nvPr/>
        </p:nvSpPr>
        <p:spPr>
          <a:xfrm>
            <a:off x="914400" y="1417320"/>
            <a:ext cx="3154679" cy="475488"/>
          </a:xfrm>
          <a:prstGeom prst="roundRect">
            <a:avLst>
              <a:gd fmla="val 50000" name="adj"/>
            </a:avLst>
          </a:prstGeom>
          <a:solidFill>
            <a:srgbClr val="C6F24E"/>
          </a:solid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1800" u="none" cap="none" strike="noStrike">
                <a:solidFill>
                  <a:srgbClr val="0E0F11"/>
                </a:solidFill>
                <a:latin typeface="JetBrains Mono"/>
                <a:ea typeface="JetBrains Mono"/>
                <a:cs typeface="JetBrains Mono"/>
                <a:sym typeface="JetBrains Mono"/>
              </a:rPr>
              <a:t>PMF · THE PROBLEM</a:t>
            </a:r>
            <a:endParaRPr/>
          </a:p>
        </p:txBody>
      </p:sp>
      <p:sp>
        <p:nvSpPr>
          <p:cNvPr id="121" name="Google Shape;121;p14"/>
          <p:cNvSpPr/>
          <p:nvPr/>
        </p:nvSpPr>
        <p:spPr>
          <a:xfrm>
            <a:off x="914400" y="8915400"/>
            <a:ext cx="16459200" cy="13716"/>
          </a:xfrm>
          <a:prstGeom prst="rect">
            <a:avLst/>
          </a:prstGeom>
          <a:solidFill>
            <a:srgbClr val="DFDDD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22" name="Google Shape;122;p14"/>
          <p:cNvSpPr txBox="1"/>
          <p:nvPr/>
        </p:nvSpPr>
        <p:spPr>
          <a:xfrm>
            <a:off x="914400" y="9253728"/>
            <a:ext cx="9144000" cy="32004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i="0" lang="en-US" sz="1200" u="none" cap="none" strike="noStrike">
                <a:solidFill>
                  <a:srgbClr val="5C5C5C"/>
                </a:solidFill>
                <a:latin typeface="JetBrains Mono"/>
                <a:ea typeface="JetBrains Mono"/>
                <a:cs typeface="JetBrains Mono"/>
                <a:sym typeface="JetBrains Mono"/>
              </a:rPr>
              <a:t>© 2026 HackMeridian · Lisbon  ·  #HackMeridian26</a:t>
            </a:r>
            <a:endParaRPr/>
          </a:p>
        </p:txBody>
      </p:sp>
      <p:pic>
        <p:nvPicPr>
          <p:cNvPr id="123" name="Picture 122" descr="image.png"/>
          <p:cNvPicPr>
            <a:picLocks noChangeAspect="1"/>
          </p:cNvPicPr>
          <p:nvPr/>
        </p:nvPicPr>
        <p:blipFill>
          <a:blip r:embed="rId2"/>
          <a:stretch>
            <a:fillRect/>
          </a:stretch>
        </p:blipFill>
        <p:spPr>
          <a:xfrm>
            <a:off x="14859000" y="9171432"/>
            <a:ext cx="2517969" cy="438912"/>
          </a:xfrm>
          <a:prstGeom prst="rect">
            <a:avLst/>
          </a:prstGeom>
        </p:spPr>
      </p:pic>
      <p:sp>
        <p:nvSpPr>
          <p:cNvPr id="124" name="TextBox 123"/>
          <p:cNvSpPr txBox="1"/>
          <p:nvPr/>
        </p:nvSpPr>
        <p:spPr>
          <a:xfrm>
            <a:off x="914400" y="2011680"/>
            <a:ext cx="16459200" cy="1005840"/>
          </a:xfrm>
          <a:prstGeom prst="rect">
            <a:avLst/>
          </a:prstGeom>
          <a:noFill/>
        </p:spPr>
        <p:txBody>
          <a:bodyPr wrap="square" lIns="0" rIns="0" tIns="0" bIns="0" anchor="t">
            <a:spAutoFit/>
          </a:bodyPr>
          <a:lstStyle/>
          <a:p>
            <a:pPr algn="l">
              <a:lnSpc>
                <a:spcPct val="100000"/>
              </a:lnSpc>
              <a:spcAft>
                <a:spcPts val="600"/>
              </a:spcAft>
            </a:pPr>
            <a:r>
              <a:rPr sz="5800" b="1">
                <a:solidFill>
                  <a:srgbClr val="0E0F11"/>
                </a:solidFill>
                <a:latin typeface="Inter Tight"/>
              </a:rPr>
              <a:t>Who holds the whole chain?</a:t>
            </a:r>
          </a:p>
        </p:txBody>
      </p:sp>
      <p:sp>
        <p:nvSpPr>
          <p:cNvPr id="125" name="Rectangle 124"/>
          <p:cNvSpPr/>
          <p:nvPr/>
        </p:nvSpPr>
        <p:spPr>
          <a:xfrm>
            <a:off x="1783080" y="3278124"/>
            <a:ext cx="3200399" cy="27432"/>
          </a:xfrm>
          <a:prstGeom prst="rect">
            <a:avLst/>
          </a:prstGeom>
          <a:solidFill>
            <a:srgbClr val="DFDDD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6" name="Oval 125"/>
          <p:cNvSpPr/>
          <p:nvPr/>
        </p:nvSpPr>
        <p:spPr>
          <a:xfrm>
            <a:off x="1325880" y="3154680"/>
            <a:ext cx="274320" cy="274320"/>
          </a:xfrm>
          <a:prstGeom prst="ellipse">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7" name="TextBox 126"/>
          <p:cNvSpPr txBox="1"/>
          <p:nvPr/>
        </p:nvSpPr>
        <p:spPr>
          <a:xfrm>
            <a:off x="274320" y="3493008"/>
            <a:ext cx="2377440" cy="457200"/>
          </a:xfrm>
          <a:prstGeom prst="rect">
            <a:avLst/>
          </a:prstGeom>
          <a:noFill/>
        </p:spPr>
        <p:txBody>
          <a:bodyPr wrap="square" lIns="0" rIns="0" tIns="0" bIns="0" anchor="t">
            <a:spAutoFit/>
          </a:bodyPr>
          <a:lstStyle/>
          <a:p>
            <a:pPr algn="ctr">
              <a:lnSpc>
                <a:spcPct val="112000"/>
              </a:lnSpc>
              <a:spcAft>
                <a:spcPts val="600"/>
              </a:spcAft>
            </a:pPr>
            <a:r>
              <a:rPr sz="2200" b="1">
                <a:solidFill>
                  <a:srgbClr val="0E0F11"/>
                </a:solidFill>
                <a:latin typeface="Instrument Sans"/>
              </a:rPr>
              <a:t>Warehouse</a:t>
            </a:r>
          </a:p>
        </p:txBody>
      </p:sp>
      <p:sp>
        <p:nvSpPr>
          <p:cNvPr id="128" name="Rectangle 127"/>
          <p:cNvSpPr/>
          <p:nvPr/>
        </p:nvSpPr>
        <p:spPr>
          <a:xfrm>
            <a:off x="5623559" y="3278124"/>
            <a:ext cx="3200399" cy="27432"/>
          </a:xfrm>
          <a:prstGeom prst="rect">
            <a:avLst/>
          </a:prstGeom>
          <a:solidFill>
            <a:srgbClr val="DFDDD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9" name="Oval 128"/>
          <p:cNvSpPr/>
          <p:nvPr/>
        </p:nvSpPr>
        <p:spPr>
          <a:xfrm>
            <a:off x="5166359" y="3154680"/>
            <a:ext cx="274320" cy="274320"/>
          </a:xfrm>
          <a:prstGeom prst="ellipse">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0" name="TextBox 129"/>
          <p:cNvSpPr txBox="1"/>
          <p:nvPr/>
        </p:nvSpPr>
        <p:spPr>
          <a:xfrm>
            <a:off x="4114799" y="3493008"/>
            <a:ext cx="2377440" cy="457200"/>
          </a:xfrm>
          <a:prstGeom prst="rect">
            <a:avLst/>
          </a:prstGeom>
          <a:noFill/>
        </p:spPr>
        <p:txBody>
          <a:bodyPr wrap="square" lIns="0" rIns="0" tIns="0" bIns="0" anchor="t">
            <a:spAutoFit/>
          </a:bodyPr>
          <a:lstStyle/>
          <a:p>
            <a:pPr algn="ctr">
              <a:lnSpc>
                <a:spcPct val="112000"/>
              </a:lnSpc>
              <a:spcAft>
                <a:spcPts val="600"/>
              </a:spcAft>
            </a:pPr>
            <a:r>
              <a:rPr sz="2200" b="1">
                <a:solidFill>
                  <a:srgbClr val="0E0F11"/>
                </a:solidFill>
                <a:latin typeface="Instrument Sans"/>
              </a:rPr>
              <a:t>Port</a:t>
            </a:r>
          </a:p>
        </p:txBody>
      </p:sp>
      <p:sp>
        <p:nvSpPr>
          <p:cNvPr id="131" name="Rectangle 130"/>
          <p:cNvSpPr/>
          <p:nvPr/>
        </p:nvSpPr>
        <p:spPr>
          <a:xfrm>
            <a:off x="9464039" y="3278124"/>
            <a:ext cx="3200399" cy="27432"/>
          </a:xfrm>
          <a:prstGeom prst="rect">
            <a:avLst/>
          </a:prstGeom>
          <a:solidFill>
            <a:srgbClr val="DFDDD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2" name="Oval 131"/>
          <p:cNvSpPr/>
          <p:nvPr/>
        </p:nvSpPr>
        <p:spPr>
          <a:xfrm>
            <a:off x="9006839" y="3154680"/>
            <a:ext cx="274320" cy="274320"/>
          </a:xfrm>
          <a:prstGeom prst="ellipse">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3" name="TextBox 132"/>
          <p:cNvSpPr txBox="1"/>
          <p:nvPr/>
        </p:nvSpPr>
        <p:spPr>
          <a:xfrm>
            <a:off x="7955279" y="3493008"/>
            <a:ext cx="2377440" cy="457200"/>
          </a:xfrm>
          <a:prstGeom prst="rect">
            <a:avLst/>
          </a:prstGeom>
          <a:noFill/>
        </p:spPr>
        <p:txBody>
          <a:bodyPr wrap="square" lIns="0" rIns="0" tIns="0" bIns="0" anchor="t">
            <a:spAutoFit/>
          </a:bodyPr>
          <a:lstStyle/>
          <a:p>
            <a:pPr algn="ctr">
              <a:lnSpc>
                <a:spcPct val="112000"/>
              </a:lnSpc>
              <a:spcAft>
                <a:spcPts val="600"/>
              </a:spcAft>
            </a:pPr>
            <a:r>
              <a:rPr sz="2200" b="1">
                <a:solidFill>
                  <a:srgbClr val="0E0F11"/>
                </a:solidFill>
                <a:latin typeface="Instrument Sans"/>
              </a:rPr>
              <a:t>Carrier</a:t>
            </a:r>
          </a:p>
        </p:txBody>
      </p:sp>
      <p:sp>
        <p:nvSpPr>
          <p:cNvPr id="134" name="Rectangle 133"/>
          <p:cNvSpPr/>
          <p:nvPr/>
        </p:nvSpPr>
        <p:spPr>
          <a:xfrm>
            <a:off x="13304519" y="3278124"/>
            <a:ext cx="3200399" cy="27432"/>
          </a:xfrm>
          <a:prstGeom prst="rect">
            <a:avLst/>
          </a:prstGeom>
          <a:solidFill>
            <a:srgbClr val="DFDDD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5" name="Oval 134"/>
          <p:cNvSpPr/>
          <p:nvPr/>
        </p:nvSpPr>
        <p:spPr>
          <a:xfrm>
            <a:off x="12847319" y="3154680"/>
            <a:ext cx="274320" cy="274320"/>
          </a:xfrm>
          <a:prstGeom prst="ellipse">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6" name="TextBox 135"/>
          <p:cNvSpPr txBox="1"/>
          <p:nvPr/>
        </p:nvSpPr>
        <p:spPr>
          <a:xfrm>
            <a:off x="11795759" y="3493008"/>
            <a:ext cx="2377440" cy="457200"/>
          </a:xfrm>
          <a:prstGeom prst="rect">
            <a:avLst/>
          </a:prstGeom>
          <a:noFill/>
        </p:spPr>
        <p:txBody>
          <a:bodyPr wrap="square" lIns="0" rIns="0" tIns="0" bIns="0" anchor="t">
            <a:spAutoFit/>
          </a:bodyPr>
          <a:lstStyle/>
          <a:p>
            <a:pPr algn="ctr">
              <a:lnSpc>
                <a:spcPct val="112000"/>
              </a:lnSpc>
              <a:spcAft>
                <a:spcPts val="600"/>
              </a:spcAft>
            </a:pPr>
            <a:r>
              <a:rPr sz="2200" b="1">
                <a:solidFill>
                  <a:srgbClr val="0E0F11"/>
                </a:solidFill>
                <a:latin typeface="Instrument Sans"/>
              </a:rPr>
              <a:t>Customs</a:t>
            </a:r>
          </a:p>
        </p:txBody>
      </p:sp>
      <p:sp>
        <p:nvSpPr>
          <p:cNvPr id="137" name="Oval 136"/>
          <p:cNvSpPr/>
          <p:nvPr/>
        </p:nvSpPr>
        <p:spPr>
          <a:xfrm>
            <a:off x="16687800" y="3154680"/>
            <a:ext cx="274320" cy="274320"/>
          </a:xfrm>
          <a:prstGeom prst="ellipse">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8" name="TextBox 137"/>
          <p:cNvSpPr txBox="1"/>
          <p:nvPr/>
        </p:nvSpPr>
        <p:spPr>
          <a:xfrm>
            <a:off x="15636239" y="3493008"/>
            <a:ext cx="2377440" cy="457200"/>
          </a:xfrm>
          <a:prstGeom prst="rect">
            <a:avLst/>
          </a:prstGeom>
          <a:noFill/>
        </p:spPr>
        <p:txBody>
          <a:bodyPr wrap="square" lIns="0" rIns="0" tIns="0" bIns="0" anchor="t">
            <a:spAutoFit/>
          </a:bodyPr>
          <a:lstStyle/>
          <a:p>
            <a:pPr algn="ctr">
              <a:lnSpc>
                <a:spcPct val="112000"/>
              </a:lnSpc>
              <a:spcAft>
                <a:spcPts val="600"/>
              </a:spcAft>
            </a:pPr>
            <a:r>
              <a:rPr sz="2200" b="1">
                <a:solidFill>
                  <a:srgbClr val="0E0F11"/>
                </a:solidFill>
                <a:latin typeface="Instrument Sans"/>
              </a:rPr>
              <a:t>Recipient</a:t>
            </a:r>
          </a:p>
        </p:txBody>
      </p:sp>
      <p:sp>
        <p:nvSpPr>
          <p:cNvPr id="139" name="TextBox 138"/>
          <p:cNvSpPr txBox="1"/>
          <p:nvPr/>
        </p:nvSpPr>
        <p:spPr>
          <a:xfrm>
            <a:off x="914400" y="4069080"/>
            <a:ext cx="16459200" cy="457200"/>
          </a:xfrm>
          <a:prstGeom prst="rect">
            <a:avLst/>
          </a:prstGeom>
          <a:noFill/>
        </p:spPr>
        <p:txBody>
          <a:bodyPr wrap="square" lIns="0" rIns="0" tIns="0" bIns="0" anchor="t">
            <a:spAutoFit/>
          </a:bodyPr>
          <a:lstStyle/>
          <a:p>
            <a:pPr algn="l">
              <a:lnSpc>
                <a:spcPct val="112000"/>
              </a:lnSpc>
              <a:spcAft>
                <a:spcPts val="600"/>
              </a:spcAft>
            </a:pPr>
            <a:r>
              <a:rPr sz="2200" b="1">
                <a:solidFill>
                  <a:srgbClr val="556F00"/>
                </a:solidFill>
                <a:latin typeface="Instrument Sans"/>
              </a:rPr>
              <a:t>The gap: </a:t>
            </a:r>
            <a:r>
              <a:rPr sz="2200" b="0">
                <a:solidFill>
                  <a:srgbClr val="0E0F11"/>
                </a:solidFill>
                <a:latin typeface="Instrument Sans"/>
              </a:rPr>
              <a:t>each company records only its own leg, and no shared record follows the goods.</a:t>
            </a:r>
          </a:p>
        </p:txBody>
      </p:sp>
      <p:sp>
        <p:nvSpPr>
          <p:cNvPr id="140" name="Rectangle 139"/>
          <p:cNvSpPr/>
          <p:nvPr/>
        </p:nvSpPr>
        <p:spPr>
          <a:xfrm>
            <a:off x="914400" y="4695444"/>
            <a:ext cx="5120640" cy="27432"/>
          </a:xfrm>
          <a:prstGeom prst="rect">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1" name="TextBox 140"/>
          <p:cNvSpPr txBox="1"/>
          <p:nvPr/>
        </p:nvSpPr>
        <p:spPr>
          <a:xfrm>
            <a:off x="914400" y="4892040"/>
            <a:ext cx="5120640" cy="1097280"/>
          </a:xfrm>
          <a:prstGeom prst="rect">
            <a:avLst/>
          </a:prstGeom>
          <a:noFill/>
        </p:spPr>
        <p:txBody>
          <a:bodyPr wrap="square" lIns="0" rIns="0" tIns="0" bIns="0" anchor="t">
            <a:spAutoFit/>
          </a:bodyPr>
          <a:lstStyle/>
          <a:p>
            <a:pPr algn="l">
              <a:lnSpc>
                <a:spcPct val="95000"/>
              </a:lnSpc>
              <a:spcAft>
                <a:spcPts val="600"/>
              </a:spcAft>
            </a:pPr>
            <a:r>
              <a:rPr sz="6400" b="1">
                <a:solidFill>
                  <a:srgbClr val="0E0F11"/>
                </a:solidFill>
                <a:latin typeface="Inter Tight"/>
              </a:rPr>
              <a:t>45M</a:t>
            </a:r>
          </a:p>
        </p:txBody>
      </p:sp>
      <p:sp>
        <p:nvSpPr>
          <p:cNvPr id="142" name="TextBox 141"/>
          <p:cNvSpPr txBox="1"/>
          <p:nvPr/>
        </p:nvSpPr>
        <p:spPr>
          <a:xfrm>
            <a:off x="914400" y="6035040"/>
            <a:ext cx="5120640" cy="914400"/>
          </a:xfrm>
          <a:prstGeom prst="rect">
            <a:avLst/>
          </a:prstGeom>
          <a:noFill/>
        </p:spPr>
        <p:txBody>
          <a:bodyPr wrap="square" lIns="0" rIns="0" tIns="0" bIns="0" anchor="t">
            <a:spAutoFit/>
          </a:bodyPr>
          <a:lstStyle/>
          <a:p>
            <a:pPr algn="l">
              <a:lnSpc>
                <a:spcPct val="112000"/>
              </a:lnSpc>
              <a:spcAft>
                <a:spcPts val="600"/>
              </a:spcAft>
            </a:pPr>
            <a:r>
              <a:rPr sz="2400" b="1">
                <a:solidFill>
                  <a:srgbClr val="0E0F11"/>
                </a:solidFill>
                <a:latin typeface="Instrument Sans"/>
              </a:rPr>
              <a:t>ocean bills of lading issued a year</a:t>
            </a:r>
          </a:p>
        </p:txBody>
      </p:sp>
      <p:sp>
        <p:nvSpPr>
          <p:cNvPr id="143" name="TextBox 142"/>
          <p:cNvSpPr txBox="1"/>
          <p:nvPr/>
        </p:nvSpPr>
        <p:spPr>
          <a:xfrm>
            <a:off x="914400" y="6949440"/>
            <a:ext cx="5120640" cy="822960"/>
          </a:xfrm>
          <a:prstGeom prst="rect">
            <a:avLst/>
          </a:prstGeom>
          <a:noFill/>
        </p:spPr>
        <p:txBody>
          <a:bodyPr wrap="square" lIns="0" rIns="0" tIns="0" bIns="0" anchor="t">
            <a:spAutoFit/>
          </a:bodyPr>
          <a:lstStyle/>
          <a:p>
            <a:pPr algn="l">
              <a:lnSpc>
                <a:spcPct val="112000"/>
              </a:lnSpc>
              <a:spcAft>
                <a:spcPts val="600"/>
              </a:spcAft>
            </a:pPr>
            <a:r>
              <a:rPr sz="1800" b="0">
                <a:solidFill>
                  <a:srgbClr val="4D5560"/>
                </a:solidFill>
                <a:latin typeface="Instrument Sans"/>
              </a:rPr>
              <a:t>DCSA, Feb 2023</a:t>
            </a:r>
          </a:p>
        </p:txBody>
      </p:sp>
      <p:sp>
        <p:nvSpPr>
          <p:cNvPr id="144" name="Rectangle 143"/>
          <p:cNvSpPr/>
          <p:nvPr/>
        </p:nvSpPr>
        <p:spPr>
          <a:xfrm>
            <a:off x="6492240" y="4695444"/>
            <a:ext cx="5120640" cy="27432"/>
          </a:xfrm>
          <a:prstGeom prst="rect">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5" name="TextBox 144"/>
          <p:cNvSpPr txBox="1"/>
          <p:nvPr/>
        </p:nvSpPr>
        <p:spPr>
          <a:xfrm>
            <a:off x="6492240" y="4892040"/>
            <a:ext cx="5120640" cy="1097280"/>
          </a:xfrm>
          <a:prstGeom prst="rect">
            <a:avLst/>
          </a:prstGeom>
          <a:noFill/>
        </p:spPr>
        <p:txBody>
          <a:bodyPr wrap="square" lIns="0" rIns="0" tIns="0" bIns="0" anchor="t">
            <a:spAutoFit/>
          </a:bodyPr>
          <a:lstStyle/>
          <a:p>
            <a:pPr algn="l">
              <a:lnSpc>
                <a:spcPct val="95000"/>
              </a:lnSpc>
              <a:spcAft>
                <a:spcPts val="600"/>
              </a:spcAft>
            </a:pPr>
            <a:r>
              <a:rPr sz="6400" b="1">
                <a:solidFill>
                  <a:srgbClr val="0E0F11"/>
                </a:solidFill>
                <a:latin typeface="Inter Tight"/>
              </a:rPr>
              <a:t>~11%</a:t>
            </a:r>
          </a:p>
        </p:txBody>
      </p:sp>
      <p:sp>
        <p:nvSpPr>
          <p:cNvPr id="146" name="TextBox 145"/>
          <p:cNvSpPr txBox="1"/>
          <p:nvPr/>
        </p:nvSpPr>
        <p:spPr>
          <a:xfrm>
            <a:off x="6492240" y="6035040"/>
            <a:ext cx="5120640" cy="914400"/>
          </a:xfrm>
          <a:prstGeom prst="rect">
            <a:avLst/>
          </a:prstGeom>
          <a:noFill/>
        </p:spPr>
        <p:txBody>
          <a:bodyPr wrap="square" lIns="0" rIns="0" tIns="0" bIns="0" anchor="t">
            <a:spAutoFit/>
          </a:bodyPr>
          <a:lstStyle/>
          <a:p>
            <a:pPr algn="l">
              <a:lnSpc>
                <a:spcPct val="112000"/>
              </a:lnSpc>
              <a:spcAft>
                <a:spcPts val="600"/>
              </a:spcAft>
            </a:pPr>
            <a:r>
              <a:rPr sz="2400" b="1">
                <a:solidFill>
                  <a:srgbClr val="0E0F11"/>
                </a:solidFill>
                <a:latin typeface="Instrument Sans"/>
              </a:rPr>
              <a:t>of bills of lading issued electronically, 2025</a:t>
            </a:r>
          </a:p>
        </p:txBody>
      </p:sp>
      <p:sp>
        <p:nvSpPr>
          <p:cNvPr id="147" name="TextBox 146"/>
          <p:cNvSpPr txBox="1"/>
          <p:nvPr/>
        </p:nvSpPr>
        <p:spPr>
          <a:xfrm>
            <a:off x="6492240" y="6949440"/>
            <a:ext cx="5120640" cy="822960"/>
          </a:xfrm>
          <a:prstGeom prst="rect">
            <a:avLst/>
          </a:prstGeom>
          <a:noFill/>
        </p:spPr>
        <p:txBody>
          <a:bodyPr wrap="square" lIns="0" rIns="0" tIns="0" bIns="0" anchor="t">
            <a:spAutoFit/>
          </a:bodyPr>
          <a:lstStyle/>
          <a:p>
            <a:pPr algn="l">
              <a:lnSpc>
                <a:spcPct val="112000"/>
              </a:lnSpc>
              <a:spcAft>
                <a:spcPts val="600"/>
              </a:spcAft>
            </a:pPr>
            <a:r>
              <a:rPr sz="1800" b="0">
                <a:solidFill>
                  <a:srgbClr val="4D5560"/>
                </a:solidFill>
                <a:latin typeface="Instrument Sans"/>
              </a:rPr>
              <a:t>DCSA, as of 2025</a:t>
            </a:r>
          </a:p>
        </p:txBody>
      </p:sp>
      <p:sp>
        <p:nvSpPr>
          <p:cNvPr id="148" name="Rectangle 147"/>
          <p:cNvSpPr/>
          <p:nvPr/>
        </p:nvSpPr>
        <p:spPr>
          <a:xfrm>
            <a:off x="12070080" y="4695444"/>
            <a:ext cx="5120640" cy="27432"/>
          </a:xfrm>
          <a:prstGeom prst="rect">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9" name="TextBox 148"/>
          <p:cNvSpPr txBox="1"/>
          <p:nvPr/>
        </p:nvSpPr>
        <p:spPr>
          <a:xfrm>
            <a:off x="12070080" y="4892040"/>
            <a:ext cx="5120640" cy="1097280"/>
          </a:xfrm>
          <a:prstGeom prst="rect">
            <a:avLst/>
          </a:prstGeom>
          <a:noFill/>
        </p:spPr>
        <p:txBody>
          <a:bodyPr wrap="square" lIns="0" rIns="0" tIns="0" bIns="0" anchor="t">
            <a:spAutoFit/>
          </a:bodyPr>
          <a:lstStyle/>
          <a:p>
            <a:pPr algn="l">
              <a:lnSpc>
                <a:spcPct val="95000"/>
              </a:lnSpc>
              <a:spcAft>
                <a:spcPts val="600"/>
              </a:spcAft>
            </a:pPr>
            <a:r>
              <a:rPr sz="6400" b="1">
                <a:solidFill>
                  <a:srgbClr val="0E0F11"/>
                </a:solidFill>
                <a:latin typeface="Inter Tight"/>
              </a:rPr>
              <a:t>22%</a:t>
            </a:r>
          </a:p>
        </p:txBody>
      </p:sp>
      <p:sp>
        <p:nvSpPr>
          <p:cNvPr id="150" name="TextBox 149"/>
          <p:cNvSpPr txBox="1"/>
          <p:nvPr/>
        </p:nvSpPr>
        <p:spPr>
          <a:xfrm>
            <a:off x="12070080" y="6035040"/>
            <a:ext cx="5120640" cy="914400"/>
          </a:xfrm>
          <a:prstGeom prst="rect">
            <a:avLst/>
          </a:prstGeom>
          <a:noFill/>
        </p:spPr>
        <p:txBody>
          <a:bodyPr wrap="square" lIns="0" rIns="0" tIns="0" bIns="0" anchor="t">
            <a:spAutoFit/>
          </a:bodyPr>
          <a:lstStyle/>
          <a:p>
            <a:pPr algn="l">
              <a:lnSpc>
                <a:spcPct val="112000"/>
              </a:lnSpc>
              <a:spcAft>
                <a:spcPts val="600"/>
              </a:spcAft>
            </a:pPr>
            <a:r>
              <a:rPr sz="2400" b="1">
                <a:solidFill>
                  <a:srgbClr val="0E0F11"/>
                </a:solidFill>
                <a:latin typeface="Instrument Sans"/>
              </a:rPr>
              <a:t>of recorded cargo thefts in 2025 involved insiders</a:t>
            </a:r>
          </a:p>
        </p:txBody>
      </p:sp>
      <p:sp>
        <p:nvSpPr>
          <p:cNvPr id="151" name="TextBox 150"/>
          <p:cNvSpPr txBox="1"/>
          <p:nvPr/>
        </p:nvSpPr>
        <p:spPr>
          <a:xfrm>
            <a:off x="12070080" y="6949440"/>
            <a:ext cx="5120640" cy="822960"/>
          </a:xfrm>
          <a:prstGeom prst="rect">
            <a:avLst/>
          </a:prstGeom>
          <a:noFill/>
        </p:spPr>
        <p:txBody>
          <a:bodyPr wrap="square" lIns="0" rIns="0" tIns="0" bIns="0" anchor="t">
            <a:spAutoFit/>
          </a:bodyPr>
          <a:lstStyle/>
          <a:p>
            <a:pPr algn="l">
              <a:lnSpc>
                <a:spcPct val="112000"/>
              </a:lnSpc>
              <a:spcAft>
                <a:spcPts val="600"/>
              </a:spcAft>
            </a:pPr>
            <a:r>
              <a:rPr sz="1800" b="0">
                <a:solidFill>
                  <a:srgbClr val="4D5560"/>
                </a:solidFill>
                <a:latin typeface="Instrument Sans"/>
              </a:rPr>
              <a:t>TT Club &amp; BSI Cargo Theft Report, Apr 2026</a:t>
            </a:r>
          </a:p>
        </p:txBody>
      </p:sp>
      <p:sp>
        <p:nvSpPr>
          <p:cNvPr id="152" name="TextBox 151"/>
          <p:cNvSpPr txBox="1"/>
          <p:nvPr/>
        </p:nvSpPr>
        <p:spPr>
          <a:xfrm>
            <a:off x="914400" y="7772400"/>
            <a:ext cx="16459200" cy="1097280"/>
          </a:xfrm>
          <a:prstGeom prst="rect">
            <a:avLst/>
          </a:prstGeom>
          <a:noFill/>
        </p:spPr>
        <p:txBody>
          <a:bodyPr wrap="square" lIns="0" rIns="0" tIns="0" bIns="0" anchor="t">
            <a:spAutoFit/>
          </a:bodyPr>
          <a:lstStyle/>
          <a:p>
            <a:pPr algn="l">
              <a:lnSpc>
                <a:spcPct val="112000"/>
              </a:lnSpc>
              <a:spcAft>
                <a:spcPts val="400"/>
              </a:spcAft>
            </a:pPr>
            <a:r>
              <a:rPr sz="1800" b="1">
                <a:solidFill>
                  <a:srgbClr val="0E0F11"/>
                </a:solidFill>
                <a:latin typeface="Instrument Sans"/>
              </a:rPr>
              <a:t>Ports run legacy systems: </a:t>
            </a:r>
            <a:r>
              <a:rPr sz="1800" b="0">
                <a:solidFill>
                  <a:srgbClr val="4D5560"/>
                </a:solidFill>
                <a:latin typeface="Instrument Sans"/>
              </a:rPr>
              <a:t>over 90% of ports in low- and middle-income countries have no port community system (World Bank remark relayed by IAPH, Nov 2023); IMO guidance plans for legacy systems with proprietary formats (FAL.5/Circ.54, 2024).</a:t>
            </a:r>
          </a:p>
          <a:p>
            <a:pPr algn="l">
              <a:lnSpc>
                <a:spcPct val="112000"/>
              </a:lnSpc>
              <a:spcAft>
                <a:spcPts val="400"/>
              </a:spcAft>
            </a:pPr>
            <a:r>
              <a:rPr sz="1800" b="0">
                <a:solidFill>
                  <a:srgbClr val="4D5560"/>
                </a:solidFill>
                <a:latin typeface="Instrument Sans"/>
              </a:rPr>
              <a:t>Context: our explainer video on a Rio–Miami trade-corridor initiative; this project is its custody layer.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6F2"/>
        </a:solidFill>
      </p:bgPr>
    </p:bg>
    <p:spTree>
      <p:nvGrpSpPr>
        <p:cNvPr id="1" name=""/>
        <p:cNvGrpSpPr/>
        <p:nvPr/>
      </p:nvGrpSpPr>
      <p:grpSpPr/>
      <p:sp>
        <p:nvSpPr>
          <p:cNvPr id="106" name="Google Shape;106;p14"/>
          <p:cNvSpPr/>
          <p:nvPr/>
        </p:nvSpPr>
        <p:spPr>
          <a:xfrm>
            <a:off x="0" y="0"/>
            <a:ext cx="18288000" cy="731520"/>
          </a:xfrm>
          <a:prstGeom prst="rect">
            <a:avLst/>
          </a:prstGeom>
          <a:solidFill>
            <a:srgbClr val="0F0F0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07" name="Google Shape;107;p14"/>
          <p:cNvSpPr txBox="1"/>
          <p:nvPr/>
        </p:nvSpPr>
        <p:spPr>
          <a:xfrm>
            <a:off x="914400" y="201168"/>
            <a:ext cx="4572000" cy="32918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PLATFORM 03 / 10</a:t>
            </a:r>
            <a:endParaRPr/>
          </a:p>
        </p:txBody>
      </p:sp>
      <p:sp>
        <p:nvSpPr>
          <p:cNvPr id="108" name="Google Shape;108;p14"/>
          <p:cNvSpPr txBox="1"/>
          <p:nvPr/>
        </p:nvSpPr>
        <p:spPr>
          <a:xfrm>
            <a:off x="5486400" y="201168"/>
            <a:ext cx="7315200" cy="32918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i="0" lang="en-US" sz="1400" u="none" cap="none" strike="noStrike">
                <a:solidFill>
                  <a:srgbClr val="FFFFFF"/>
                </a:solidFill>
                <a:latin typeface="JetBrains Mono"/>
                <a:ea typeface="JetBrains Mono"/>
                <a:cs typeface="JetBrains Mono"/>
                <a:sym typeface="JetBrains Mono"/>
              </a:rPr>
              <a:t>HACKMERIDIAN 2026 · LISBON</a:t>
            </a:r>
            <a:endParaRPr/>
          </a:p>
        </p:txBody>
      </p:sp>
      <p:sp>
        <p:nvSpPr>
          <p:cNvPr id="109" name="Google Shape;109;p14"/>
          <p:cNvSpPr txBox="1"/>
          <p:nvPr/>
        </p:nvSpPr>
        <p:spPr>
          <a:xfrm>
            <a:off x="12801600" y="201168"/>
            <a:ext cx="4572000" cy="329184"/>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NEXT ▸ THE STANDARD</a:t>
            </a:r>
            <a:endParaRPr/>
          </a:p>
        </p:txBody>
      </p:sp>
      <p:sp>
        <p:nvSpPr>
          <p:cNvPr id="110" name="Google Shape;110;p14"/>
          <p:cNvSpPr/>
          <p:nvPr/>
        </p:nvSpPr>
        <p:spPr>
          <a:xfrm>
            <a:off x="914400" y="1417320"/>
            <a:ext cx="3429000" cy="475488"/>
          </a:xfrm>
          <a:prstGeom prst="roundRect">
            <a:avLst>
              <a:gd fmla="val 50000" name="adj"/>
            </a:avLst>
          </a:prstGeom>
          <a:solidFill>
            <a:srgbClr val="C6F24E"/>
          </a:solid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1800" u="none" cap="none" strike="noStrike">
                <a:solidFill>
                  <a:srgbClr val="0E0F11"/>
                </a:solidFill>
                <a:latin typeface="JetBrains Mono"/>
                <a:ea typeface="JetBrains Mono"/>
                <a:cs typeface="JetBrains Mono"/>
                <a:sym typeface="JetBrains Mono"/>
              </a:rPr>
              <a:t>PMF · WHAT IT COSTS</a:t>
            </a:r>
            <a:endParaRPr/>
          </a:p>
        </p:txBody>
      </p:sp>
      <p:sp>
        <p:nvSpPr>
          <p:cNvPr id="121" name="Google Shape;121;p14"/>
          <p:cNvSpPr/>
          <p:nvPr/>
        </p:nvSpPr>
        <p:spPr>
          <a:xfrm>
            <a:off x="914400" y="8915400"/>
            <a:ext cx="16459200" cy="13716"/>
          </a:xfrm>
          <a:prstGeom prst="rect">
            <a:avLst/>
          </a:prstGeom>
          <a:solidFill>
            <a:srgbClr val="DFDDD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22" name="Google Shape;122;p14"/>
          <p:cNvSpPr txBox="1"/>
          <p:nvPr/>
        </p:nvSpPr>
        <p:spPr>
          <a:xfrm>
            <a:off x="914400" y="9253728"/>
            <a:ext cx="9144000" cy="32004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i="0" lang="en-US" sz="1200" u="none" cap="none" strike="noStrike">
                <a:solidFill>
                  <a:srgbClr val="5C5C5C"/>
                </a:solidFill>
                <a:latin typeface="JetBrains Mono"/>
                <a:ea typeface="JetBrains Mono"/>
                <a:cs typeface="JetBrains Mono"/>
                <a:sym typeface="JetBrains Mono"/>
              </a:rPr>
              <a:t>© 2026 HackMeridian · Lisbon  ·  #HackMeridian26</a:t>
            </a:r>
            <a:endParaRPr/>
          </a:p>
        </p:txBody>
      </p:sp>
      <p:pic>
        <p:nvPicPr>
          <p:cNvPr id="123" name="Picture 122" descr="image.png"/>
          <p:cNvPicPr>
            <a:picLocks noChangeAspect="1"/>
          </p:cNvPicPr>
          <p:nvPr/>
        </p:nvPicPr>
        <p:blipFill>
          <a:blip r:embed="rId2"/>
          <a:stretch>
            <a:fillRect/>
          </a:stretch>
        </p:blipFill>
        <p:spPr>
          <a:xfrm>
            <a:off x="14859000" y="9171432"/>
            <a:ext cx="2517969" cy="438912"/>
          </a:xfrm>
          <a:prstGeom prst="rect">
            <a:avLst/>
          </a:prstGeom>
        </p:spPr>
      </p:pic>
      <p:sp>
        <p:nvSpPr>
          <p:cNvPr id="124" name="TextBox 123"/>
          <p:cNvSpPr txBox="1"/>
          <p:nvPr/>
        </p:nvSpPr>
        <p:spPr>
          <a:xfrm>
            <a:off x="914400" y="2011680"/>
            <a:ext cx="16459200" cy="1005840"/>
          </a:xfrm>
          <a:prstGeom prst="rect">
            <a:avLst/>
          </a:prstGeom>
          <a:noFill/>
        </p:spPr>
        <p:txBody>
          <a:bodyPr wrap="square" lIns="0" rIns="0" tIns="0" bIns="0" anchor="t">
            <a:spAutoFit/>
          </a:bodyPr>
          <a:lstStyle/>
          <a:p>
            <a:pPr algn="l">
              <a:lnSpc>
                <a:spcPct val="100000"/>
              </a:lnSpc>
              <a:spcAft>
                <a:spcPts val="600"/>
              </a:spcAft>
            </a:pPr>
            <a:r>
              <a:rPr sz="5800" b="1">
                <a:solidFill>
                  <a:srgbClr val="0E0F11"/>
                </a:solidFill>
                <a:latin typeface="Inter Tight"/>
              </a:rPr>
              <a:t>Cargo goes missing. A bank got fooled.</a:t>
            </a:r>
          </a:p>
        </p:txBody>
      </p:sp>
      <p:sp>
        <p:nvSpPr>
          <p:cNvPr id="125" name="TextBox 124"/>
          <p:cNvSpPr txBox="1"/>
          <p:nvPr/>
        </p:nvSpPr>
        <p:spPr>
          <a:xfrm>
            <a:off x="914400" y="3108960"/>
            <a:ext cx="16459200" cy="822960"/>
          </a:xfrm>
          <a:prstGeom prst="rect">
            <a:avLst/>
          </a:prstGeom>
          <a:noFill/>
        </p:spPr>
        <p:txBody>
          <a:bodyPr wrap="square" lIns="0" rIns="0" tIns="0" bIns="0" anchor="t">
            <a:spAutoFit/>
          </a:bodyPr>
          <a:lstStyle/>
          <a:p>
            <a:pPr algn="l">
              <a:lnSpc>
                <a:spcPct val="112000"/>
              </a:lnSpc>
              <a:spcAft>
                <a:spcPts val="600"/>
              </a:spcAft>
            </a:pPr>
            <a:r>
              <a:rPr sz="2400" b="1">
                <a:solidFill>
                  <a:srgbClr val="556F00"/>
                </a:solidFill>
                <a:latin typeface="Instrument Sans"/>
              </a:rPr>
              <a:t>The gap: </a:t>
            </a:r>
            <a:r>
              <a:rPr sz="2400" b="0">
                <a:solidFill>
                  <a:srgbClr val="0E0F11"/>
                </a:solidFill>
                <a:latin typeface="Instrument Sans"/>
              </a:rPr>
              <a:t>a financier cannot see who holds the goods before paying.</a:t>
            </a:r>
          </a:p>
        </p:txBody>
      </p:sp>
      <p:sp>
        <p:nvSpPr>
          <p:cNvPr id="126" name="Rectangle 125"/>
          <p:cNvSpPr/>
          <p:nvPr/>
        </p:nvSpPr>
        <p:spPr>
          <a:xfrm>
            <a:off x="914400" y="4192524"/>
            <a:ext cx="5120640" cy="27432"/>
          </a:xfrm>
          <a:prstGeom prst="rect">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7" name="TextBox 126"/>
          <p:cNvSpPr txBox="1"/>
          <p:nvPr/>
        </p:nvSpPr>
        <p:spPr>
          <a:xfrm>
            <a:off x="914400" y="4389120"/>
            <a:ext cx="5120640" cy="1097280"/>
          </a:xfrm>
          <a:prstGeom prst="rect">
            <a:avLst/>
          </a:prstGeom>
          <a:noFill/>
        </p:spPr>
        <p:txBody>
          <a:bodyPr wrap="square" lIns="0" rIns="0" tIns="0" bIns="0" anchor="t">
            <a:spAutoFit/>
          </a:bodyPr>
          <a:lstStyle/>
          <a:p>
            <a:pPr algn="l">
              <a:lnSpc>
                <a:spcPct val="95000"/>
              </a:lnSpc>
              <a:spcAft>
                <a:spcPts val="600"/>
              </a:spcAft>
            </a:pPr>
            <a:r>
              <a:rPr sz="6400" b="1">
                <a:solidFill>
                  <a:srgbClr val="0E0F11"/>
                </a:solidFill>
                <a:latin typeface="Inter Tight"/>
              </a:rPr>
              <a:t>R$900M</a:t>
            </a:r>
          </a:p>
        </p:txBody>
      </p:sp>
      <p:sp>
        <p:nvSpPr>
          <p:cNvPr id="128" name="TextBox 127"/>
          <p:cNvSpPr txBox="1"/>
          <p:nvPr/>
        </p:nvSpPr>
        <p:spPr>
          <a:xfrm>
            <a:off x="914400" y="5532120"/>
            <a:ext cx="5120640" cy="914400"/>
          </a:xfrm>
          <a:prstGeom prst="rect">
            <a:avLst/>
          </a:prstGeom>
          <a:noFill/>
        </p:spPr>
        <p:txBody>
          <a:bodyPr wrap="square" lIns="0" rIns="0" tIns="0" bIns="0" anchor="t">
            <a:spAutoFit/>
          </a:bodyPr>
          <a:lstStyle/>
          <a:p>
            <a:pPr algn="l">
              <a:lnSpc>
                <a:spcPct val="112000"/>
              </a:lnSpc>
              <a:spcAft>
                <a:spcPts val="600"/>
              </a:spcAft>
            </a:pPr>
            <a:r>
              <a:rPr sz="2400" b="1">
                <a:solidFill>
                  <a:srgbClr val="0E0F11"/>
                </a:solidFill>
                <a:latin typeface="Instrument Sans"/>
              </a:rPr>
              <a:t>est. direct loss, 8,570 cargo robberies in Brazil, 2025</a:t>
            </a:r>
          </a:p>
        </p:txBody>
      </p:sp>
      <p:sp>
        <p:nvSpPr>
          <p:cNvPr id="129" name="TextBox 128"/>
          <p:cNvSpPr txBox="1"/>
          <p:nvPr/>
        </p:nvSpPr>
        <p:spPr>
          <a:xfrm>
            <a:off x="914400" y="6446520"/>
            <a:ext cx="5120640" cy="822960"/>
          </a:xfrm>
          <a:prstGeom prst="rect">
            <a:avLst/>
          </a:prstGeom>
          <a:noFill/>
        </p:spPr>
        <p:txBody>
          <a:bodyPr wrap="square" lIns="0" rIns="0" tIns="0" bIns="0" anchor="t">
            <a:spAutoFit/>
          </a:bodyPr>
          <a:lstStyle/>
          <a:p>
            <a:pPr algn="l">
              <a:lnSpc>
                <a:spcPct val="112000"/>
              </a:lnSpc>
              <a:spcAft>
                <a:spcPts val="600"/>
              </a:spcAft>
            </a:pPr>
            <a:r>
              <a:rPr sz="1800" b="0">
                <a:solidFill>
                  <a:srgbClr val="4D5560"/>
                </a:solidFill>
                <a:latin typeface="Instrument Sans"/>
              </a:rPr>
              <a:t>NTC&amp;Logística survey, 28 Mar 2026</a:t>
            </a:r>
          </a:p>
        </p:txBody>
      </p:sp>
      <p:sp>
        <p:nvSpPr>
          <p:cNvPr id="130" name="Rectangle 129"/>
          <p:cNvSpPr/>
          <p:nvPr/>
        </p:nvSpPr>
        <p:spPr>
          <a:xfrm>
            <a:off x="6492240" y="4192524"/>
            <a:ext cx="5120640" cy="27432"/>
          </a:xfrm>
          <a:prstGeom prst="rect">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1" name="TextBox 130"/>
          <p:cNvSpPr txBox="1"/>
          <p:nvPr/>
        </p:nvSpPr>
        <p:spPr>
          <a:xfrm>
            <a:off x="6492240" y="4389120"/>
            <a:ext cx="5120640" cy="1097280"/>
          </a:xfrm>
          <a:prstGeom prst="rect">
            <a:avLst/>
          </a:prstGeom>
          <a:noFill/>
        </p:spPr>
        <p:txBody>
          <a:bodyPr wrap="square" lIns="0" rIns="0" tIns="0" bIns="0" anchor="t">
            <a:spAutoFit/>
          </a:bodyPr>
          <a:lstStyle/>
          <a:p>
            <a:pPr algn="l">
              <a:lnSpc>
                <a:spcPct val="95000"/>
              </a:lnSpc>
              <a:spcAft>
                <a:spcPts val="600"/>
              </a:spcAft>
            </a:pPr>
            <a:r>
              <a:rPr sz="6400" b="1">
                <a:solidFill>
                  <a:srgbClr val="0E0F11"/>
                </a:solidFill>
                <a:latin typeface="Inter Tight"/>
              </a:rPr>
              <a:t>US$85M</a:t>
            </a:r>
          </a:p>
        </p:txBody>
      </p:sp>
      <p:sp>
        <p:nvSpPr>
          <p:cNvPr id="132" name="TextBox 131"/>
          <p:cNvSpPr txBox="1"/>
          <p:nvPr/>
        </p:nvSpPr>
        <p:spPr>
          <a:xfrm>
            <a:off x="6492240" y="5532120"/>
            <a:ext cx="5120640" cy="914400"/>
          </a:xfrm>
          <a:prstGeom prst="rect">
            <a:avLst/>
          </a:prstGeom>
          <a:noFill/>
        </p:spPr>
        <p:txBody>
          <a:bodyPr wrap="square" lIns="0" rIns="0" tIns="0" bIns="0" anchor="t">
            <a:spAutoFit/>
          </a:bodyPr>
          <a:lstStyle/>
          <a:p>
            <a:pPr algn="l">
              <a:lnSpc>
                <a:spcPct val="112000"/>
              </a:lnSpc>
              <a:spcAft>
                <a:spcPts val="600"/>
              </a:spcAft>
            </a:pPr>
            <a:r>
              <a:rPr sz="2400" b="1">
                <a:solidFill>
                  <a:srgbClr val="0E0F11"/>
                </a:solidFill>
                <a:latin typeface="Instrument Sans"/>
              </a:rPr>
              <a:t>HSBC's loss on forged documents for oil trades that never happened</a:t>
            </a:r>
          </a:p>
        </p:txBody>
      </p:sp>
      <p:sp>
        <p:nvSpPr>
          <p:cNvPr id="133" name="TextBox 132"/>
          <p:cNvSpPr txBox="1"/>
          <p:nvPr/>
        </p:nvSpPr>
        <p:spPr>
          <a:xfrm>
            <a:off x="6492240" y="6446520"/>
            <a:ext cx="5120640" cy="822960"/>
          </a:xfrm>
          <a:prstGeom prst="rect">
            <a:avLst/>
          </a:prstGeom>
          <a:noFill/>
        </p:spPr>
        <p:txBody>
          <a:bodyPr wrap="square" lIns="0" rIns="0" tIns="0" bIns="0" anchor="t">
            <a:spAutoFit/>
          </a:bodyPr>
          <a:lstStyle/>
          <a:p>
            <a:pPr algn="l">
              <a:lnSpc>
                <a:spcPct val="112000"/>
              </a:lnSpc>
              <a:spcAft>
                <a:spcPts val="600"/>
              </a:spcAft>
            </a:pPr>
            <a:r>
              <a:rPr sz="1800" b="0">
                <a:solidFill>
                  <a:srgbClr val="4D5560"/>
                </a:solidFill>
                <a:latin typeface="Instrument Sans"/>
              </a:rPr>
              <a:t>Hin Leong case, Global Trade Review, 18 Nov 2024</a:t>
            </a:r>
          </a:p>
        </p:txBody>
      </p:sp>
      <p:sp>
        <p:nvSpPr>
          <p:cNvPr id="134" name="Rectangle 133"/>
          <p:cNvSpPr/>
          <p:nvPr/>
        </p:nvSpPr>
        <p:spPr>
          <a:xfrm>
            <a:off x="12070080" y="4192524"/>
            <a:ext cx="5120640" cy="27432"/>
          </a:xfrm>
          <a:prstGeom prst="rect">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5" name="TextBox 134"/>
          <p:cNvSpPr txBox="1"/>
          <p:nvPr/>
        </p:nvSpPr>
        <p:spPr>
          <a:xfrm>
            <a:off x="12070080" y="4389120"/>
            <a:ext cx="5120640" cy="1097280"/>
          </a:xfrm>
          <a:prstGeom prst="rect">
            <a:avLst/>
          </a:prstGeom>
          <a:noFill/>
        </p:spPr>
        <p:txBody>
          <a:bodyPr wrap="square" lIns="0" rIns="0" tIns="0" bIns="0" anchor="t">
            <a:spAutoFit/>
          </a:bodyPr>
          <a:lstStyle/>
          <a:p>
            <a:pPr algn="l">
              <a:lnSpc>
                <a:spcPct val="95000"/>
              </a:lnSpc>
              <a:spcAft>
                <a:spcPts val="600"/>
              </a:spcAft>
            </a:pPr>
            <a:r>
              <a:rPr sz="6400" b="1">
                <a:solidFill>
                  <a:srgbClr val="0E0F11"/>
                </a:solidFill>
                <a:latin typeface="Inter Tight"/>
              </a:rPr>
              <a:t>US$2.5T</a:t>
            </a:r>
          </a:p>
        </p:txBody>
      </p:sp>
      <p:sp>
        <p:nvSpPr>
          <p:cNvPr id="136" name="TextBox 135"/>
          <p:cNvSpPr txBox="1"/>
          <p:nvPr/>
        </p:nvSpPr>
        <p:spPr>
          <a:xfrm>
            <a:off x="12070080" y="5532120"/>
            <a:ext cx="5120640" cy="914400"/>
          </a:xfrm>
          <a:prstGeom prst="rect">
            <a:avLst/>
          </a:prstGeom>
          <a:noFill/>
        </p:spPr>
        <p:txBody>
          <a:bodyPr wrap="square" lIns="0" rIns="0" tIns="0" bIns="0" anchor="t">
            <a:spAutoFit/>
          </a:bodyPr>
          <a:lstStyle/>
          <a:p>
            <a:pPr algn="l">
              <a:lnSpc>
                <a:spcPct val="112000"/>
              </a:lnSpc>
              <a:spcAft>
                <a:spcPts val="600"/>
              </a:spcAft>
            </a:pPr>
            <a:r>
              <a:rPr sz="2400" b="1">
                <a:solidFill>
                  <a:srgbClr val="0E0F11"/>
                </a:solidFill>
                <a:latin typeface="Instrument Sans"/>
              </a:rPr>
              <a:t>global trade finance gap (market size)</a:t>
            </a:r>
          </a:p>
        </p:txBody>
      </p:sp>
      <p:sp>
        <p:nvSpPr>
          <p:cNvPr id="137" name="TextBox 136"/>
          <p:cNvSpPr txBox="1"/>
          <p:nvPr/>
        </p:nvSpPr>
        <p:spPr>
          <a:xfrm>
            <a:off x="12070080" y="6446520"/>
            <a:ext cx="5120640" cy="822960"/>
          </a:xfrm>
          <a:prstGeom prst="rect">
            <a:avLst/>
          </a:prstGeom>
          <a:noFill/>
        </p:spPr>
        <p:txBody>
          <a:bodyPr wrap="square" lIns="0" rIns="0" tIns="0" bIns="0" anchor="t">
            <a:spAutoFit/>
          </a:bodyPr>
          <a:lstStyle/>
          <a:p>
            <a:pPr algn="l">
              <a:lnSpc>
                <a:spcPct val="112000"/>
              </a:lnSpc>
              <a:spcAft>
                <a:spcPts val="600"/>
              </a:spcAft>
            </a:pPr>
            <a:r>
              <a:rPr sz="1800" b="0">
                <a:solidFill>
                  <a:srgbClr val="4D5560"/>
                </a:solidFill>
                <a:latin typeface="Instrument Sans"/>
              </a:rPr>
              <a:t>ADB survey of banks, Dec 2025</a:t>
            </a:r>
          </a:p>
        </p:txBody>
      </p:sp>
      <p:sp>
        <p:nvSpPr>
          <p:cNvPr id="138" name="TextBox 137"/>
          <p:cNvSpPr txBox="1"/>
          <p:nvPr/>
        </p:nvSpPr>
        <p:spPr>
          <a:xfrm>
            <a:off x="914400" y="7498079"/>
            <a:ext cx="16459200" cy="822960"/>
          </a:xfrm>
          <a:prstGeom prst="rect">
            <a:avLst/>
          </a:prstGeom>
          <a:noFill/>
        </p:spPr>
        <p:txBody>
          <a:bodyPr wrap="square" lIns="0" rIns="0" tIns="0" bIns="0" anchor="t">
            <a:spAutoFit/>
          </a:bodyPr>
          <a:lstStyle/>
          <a:p>
            <a:pPr algn="l">
              <a:lnSpc>
                <a:spcPct val="112000"/>
              </a:lnSpc>
              <a:spcAft>
                <a:spcPts val="600"/>
              </a:spcAft>
            </a:pPr>
            <a:r>
              <a:rPr sz="2000" b="0">
                <a:solidFill>
                  <a:srgbClr val="4D5560"/>
                </a:solidFill>
                <a:latin typeface="Instrument Sans"/>
              </a:rPr>
              <a:t>These figures size the market problem the rail addresses. Sources under each number.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6F2"/>
        </a:solidFill>
      </p:bgPr>
    </p:bg>
    <p:spTree>
      <p:nvGrpSpPr>
        <p:cNvPr id="1" name=""/>
        <p:cNvGrpSpPr/>
        <p:nvPr/>
      </p:nvGrpSpPr>
      <p:grpSpPr/>
      <p:sp>
        <p:nvSpPr>
          <p:cNvPr id="106" name="Google Shape;106;p14"/>
          <p:cNvSpPr/>
          <p:nvPr/>
        </p:nvSpPr>
        <p:spPr>
          <a:xfrm>
            <a:off x="0" y="0"/>
            <a:ext cx="18288000" cy="731520"/>
          </a:xfrm>
          <a:prstGeom prst="rect">
            <a:avLst/>
          </a:prstGeom>
          <a:solidFill>
            <a:srgbClr val="0F0F0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07" name="Google Shape;107;p14"/>
          <p:cNvSpPr txBox="1"/>
          <p:nvPr/>
        </p:nvSpPr>
        <p:spPr>
          <a:xfrm>
            <a:off x="914400" y="201168"/>
            <a:ext cx="4572000" cy="32918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PLATFORM 04 / 10</a:t>
            </a:r>
            <a:endParaRPr/>
          </a:p>
        </p:txBody>
      </p:sp>
      <p:sp>
        <p:nvSpPr>
          <p:cNvPr id="108" name="Google Shape;108;p14"/>
          <p:cNvSpPr txBox="1"/>
          <p:nvPr/>
        </p:nvSpPr>
        <p:spPr>
          <a:xfrm>
            <a:off x="5486400" y="201168"/>
            <a:ext cx="7315200" cy="32918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i="0" lang="en-US" sz="1400" u="none" cap="none" strike="noStrike">
                <a:solidFill>
                  <a:srgbClr val="FFFFFF"/>
                </a:solidFill>
                <a:latin typeface="JetBrains Mono"/>
                <a:ea typeface="JetBrains Mono"/>
                <a:cs typeface="JetBrains Mono"/>
                <a:sym typeface="JetBrains Mono"/>
              </a:rPr>
              <a:t>HACKMERIDIAN 2026 · LISBON</a:t>
            </a:r>
            <a:endParaRPr/>
          </a:p>
        </p:txBody>
      </p:sp>
      <p:sp>
        <p:nvSpPr>
          <p:cNvPr id="109" name="Google Shape;109;p14"/>
          <p:cNvSpPr txBox="1"/>
          <p:nvPr/>
        </p:nvSpPr>
        <p:spPr>
          <a:xfrm>
            <a:off x="12801600" y="201168"/>
            <a:ext cx="4572000" cy="329184"/>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NEXT ▸ THE RAIL</a:t>
            </a:r>
            <a:endParaRPr/>
          </a:p>
        </p:txBody>
      </p:sp>
      <p:sp>
        <p:nvSpPr>
          <p:cNvPr id="110" name="Google Shape;110;p14"/>
          <p:cNvSpPr/>
          <p:nvPr/>
        </p:nvSpPr>
        <p:spPr>
          <a:xfrm>
            <a:off x="914400" y="1417320"/>
            <a:ext cx="5212080" cy="475488"/>
          </a:xfrm>
          <a:prstGeom prst="roundRect">
            <a:avLst>
              <a:gd fmla="val 50000" name="adj"/>
            </a:avLst>
          </a:prstGeom>
          <a:solidFill>
            <a:srgbClr val="C6F24E"/>
          </a:solid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1800" u="none" cap="none" strike="noStrike">
                <a:solidFill>
                  <a:srgbClr val="0E0F11"/>
                </a:solidFill>
                <a:latin typeface="JetBrains Mono"/>
                <a:ea typeface="JetBrains Mono"/>
                <a:cs typeface="JetBrains Mono"/>
                <a:sym typeface="JetBrains Mono"/>
              </a:rPr>
              <a:t>THE PROPOSAL · A PUBLIC STANDARD</a:t>
            </a:r>
            <a:endParaRPr/>
          </a:p>
        </p:txBody>
      </p:sp>
      <p:sp>
        <p:nvSpPr>
          <p:cNvPr id="121" name="Google Shape;121;p14"/>
          <p:cNvSpPr/>
          <p:nvPr/>
        </p:nvSpPr>
        <p:spPr>
          <a:xfrm>
            <a:off x="914400" y="8915400"/>
            <a:ext cx="16459200" cy="13716"/>
          </a:xfrm>
          <a:prstGeom prst="rect">
            <a:avLst/>
          </a:prstGeom>
          <a:solidFill>
            <a:srgbClr val="DFDDD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22" name="Google Shape;122;p14"/>
          <p:cNvSpPr txBox="1"/>
          <p:nvPr/>
        </p:nvSpPr>
        <p:spPr>
          <a:xfrm>
            <a:off x="914400" y="9253728"/>
            <a:ext cx="9144000" cy="32004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i="0" lang="en-US" sz="1200" u="none" cap="none" strike="noStrike">
                <a:solidFill>
                  <a:srgbClr val="5C5C5C"/>
                </a:solidFill>
                <a:latin typeface="JetBrains Mono"/>
                <a:ea typeface="JetBrains Mono"/>
                <a:cs typeface="JetBrains Mono"/>
                <a:sym typeface="JetBrains Mono"/>
              </a:rPr>
              <a:t>© 2026 HackMeridian · Lisbon  ·  #HackMeridian26</a:t>
            </a:r>
            <a:endParaRPr/>
          </a:p>
        </p:txBody>
      </p:sp>
      <p:pic>
        <p:nvPicPr>
          <p:cNvPr id="123" name="Picture 122" descr="image.png"/>
          <p:cNvPicPr>
            <a:picLocks noChangeAspect="1"/>
          </p:cNvPicPr>
          <p:nvPr/>
        </p:nvPicPr>
        <p:blipFill>
          <a:blip r:embed="rId2"/>
          <a:stretch>
            <a:fillRect/>
          </a:stretch>
        </p:blipFill>
        <p:spPr>
          <a:xfrm>
            <a:off x="14859000" y="9171432"/>
            <a:ext cx="2517969" cy="438912"/>
          </a:xfrm>
          <a:prstGeom prst="rect">
            <a:avLst/>
          </a:prstGeom>
        </p:spPr>
      </p:pic>
      <p:sp>
        <p:nvSpPr>
          <p:cNvPr id="124" name="TextBox 123"/>
          <p:cNvSpPr txBox="1"/>
          <p:nvPr/>
        </p:nvSpPr>
        <p:spPr>
          <a:xfrm>
            <a:off x="914400" y="2011680"/>
            <a:ext cx="16459200" cy="1005840"/>
          </a:xfrm>
          <a:prstGeom prst="rect">
            <a:avLst/>
          </a:prstGeom>
          <a:noFill/>
        </p:spPr>
        <p:txBody>
          <a:bodyPr wrap="square" lIns="0" rIns="0" tIns="0" bIns="0" anchor="t">
            <a:spAutoFit/>
          </a:bodyPr>
          <a:lstStyle/>
          <a:p>
            <a:pPr algn="l">
              <a:lnSpc>
                <a:spcPct val="100000"/>
              </a:lnSpc>
              <a:spcAft>
                <a:spcPts val="600"/>
              </a:spcAft>
            </a:pPr>
            <a:r>
              <a:rPr sz="5800" b="1">
                <a:solidFill>
                  <a:srgbClr val="0E0F11"/>
                </a:solidFill>
                <a:latin typeface="Inter Tight"/>
              </a:rPr>
              <a:t>A SWIFT-like standard: integrate once</a:t>
            </a:r>
          </a:p>
        </p:txBody>
      </p:sp>
      <p:sp>
        <p:nvSpPr>
          <p:cNvPr id="125" name="TextBox 124"/>
          <p:cNvSpPr txBox="1"/>
          <p:nvPr/>
        </p:nvSpPr>
        <p:spPr>
          <a:xfrm>
            <a:off x="914400" y="3063240"/>
            <a:ext cx="16459200" cy="1097280"/>
          </a:xfrm>
          <a:prstGeom prst="rect">
            <a:avLst/>
          </a:prstGeom>
          <a:noFill/>
        </p:spPr>
        <p:txBody>
          <a:bodyPr wrap="square" lIns="0" rIns="0" tIns="0" bIns="0" anchor="t">
            <a:spAutoFit/>
          </a:bodyPr>
          <a:lstStyle/>
          <a:p>
            <a:pPr algn="l">
              <a:lnSpc>
                <a:spcPct val="112000"/>
              </a:lnSpc>
              <a:spcAft>
                <a:spcPts val="600"/>
              </a:spcAft>
            </a:pPr>
            <a:r>
              <a:rPr sz="2400" b="1">
                <a:solidFill>
                  <a:srgbClr val="0E0F11"/>
                </a:solidFill>
                <a:latin typeface="Instrument Sans"/>
              </a:rPr>
              <a:t>The goal is </a:t>
            </a:r>
            <a:r>
              <a:rPr sz="2400" b="0">
                <a:solidFill>
                  <a:srgbClr val="0E0F11"/>
                </a:solidFill>
                <a:latin typeface="Instrument Sans"/>
              </a:rPr>
              <a:t>a shared, SWIFT-like custody standard that companies along a supply chain, from origin to destination, will use. </a:t>
            </a:r>
            <a:r>
              <a:rPr sz="2400" b="1">
                <a:solidFill>
                  <a:srgbClr val="0E0F11"/>
                </a:solidFill>
                <a:latin typeface="Instrument Sans"/>
              </a:rPr>
              <a:t>We are building it on Stellar, starting with the custody rail.</a:t>
            </a:r>
          </a:p>
        </p:txBody>
      </p:sp>
      <p:cxnSp>
        <p:nvCxnSpPr>
          <p:cNvPr id="126" name="Connector 125"/>
          <p:cNvCxnSpPr/>
          <p:nvPr/>
        </p:nvCxnSpPr>
        <p:spPr>
          <a:xfrm>
            <a:off x="2560320" y="4572000"/>
            <a:ext cx="826163" cy="600243"/>
          </a:xfrm>
          <a:prstGeom prst="line">
            <a:avLst/>
          </a:prstGeom>
          <a:ln w="15875">
            <a:solidFill>
              <a:srgbClr val="4D5560"/>
            </a:solidFill>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a:off x="2560320" y="4572000"/>
            <a:ext cx="510597" cy="1571456"/>
          </a:xfrm>
          <a:prstGeom prst="line">
            <a:avLst/>
          </a:prstGeom>
          <a:ln w="15875">
            <a:solidFill>
              <a:srgbClr val="4D5560"/>
            </a:solidFill>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flipH="1">
            <a:off x="2049722" y="4572000"/>
            <a:ext cx="510598" cy="1571456"/>
          </a:xfrm>
          <a:prstGeom prst="line">
            <a:avLst/>
          </a:prstGeom>
          <a:ln w="15875">
            <a:solidFill>
              <a:srgbClr val="4D5560"/>
            </a:solidFill>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flipH="1">
            <a:off x="1734156" y="4572000"/>
            <a:ext cx="826164" cy="600243"/>
          </a:xfrm>
          <a:prstGeom prst="line">
            <a:avLst/>
          </a:prstGeom>
          <a:ln w="15875">
            <a:solidFill>
              <a:srgbClr val="4D5560"/>
            </a:solidFill>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flipH="1">
            <a:off x="3070917" y="5172243"/>
            <a:ext cx="315566" cy="971213"/>
          </a:xfrm>
          <a:prstGeom prst="line">
            <a:avLst/>
          </a:prstGeom>
          <a:ln w="15875">
            <a:solidFill>
              <a:srgbClr val="4D5560"/>
            </a:solidFill>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flipH="1">
            <a:off x="2049722" y="5172243"/>
            <a:ext cx="1336761" cy="971213"/>
          </a:xfrm>
          <a:prstGeom prst="line">
            <a:avLst/>
          </a:prstGeom>
          <a:ln w="15875">
            <a:solidFill>
              <a:srgbClr val="4D5560"/>
            </a:solidFill>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flipH="1">
            <a:off x="1734156" y="5172243"/>
            <a:ext cx="1652327" cy="0"/>
          </a:xfrm>
          <a:prstGeom prst="line">
            <a:avLst/>
          </a:prstGeom>
          <a:ln w="15875">
            <a:solidFill>
              <a:srgbClr val="4D5560"/>
            </a:solidFill>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flipH="1">
            <a:off x="2049722" y="6143456"/>
            <a:ext cx="1021195" cy="0"/>
          </a:xfrm>
          <a:prstGeom prst="line">
            <a:avLst/>
          </a:prstGeom>
          <a:ln w="15875">
            <a:solidFill>
              <a:srgbClr val="4D5560"/>
            </a:solidFill>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flipH="1" flipV="1">
            <a:off x="1734156" y="5172243"/>
            <a:ext cx="1336761" cy="971213"/>
          </a:xfrm>
          <a:prstGeom prst="line">
            <a:avLst/>
          </a:prstGeom>
          <a:ln w="15875">
            <a:solidFill>
              <a:srgbClr val="4D5560"/>
            </a:solidFill>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flipH="1" flipV="1">
            <a:off x="1734156" y="5172243"/>
            <a:ext cx="315566" cy="971213"/>
          </a:xfrm>
          <a:prstGeom prst="line">
            <a:avLst/>
          </a:prstGeom>
          <a:ln w="15875">
            <a:solidFill>
              <a:srgbClr val="4D5560"/>
            </a:solidFill>
          </a:ln>
        </p:spPr>
        <p:style>
          <a:lnRef idx="2">
            <a:schemeClr val="accent1"/>
          </a:lnRef>
          <a:fillRef idx="0">
            <a:schemeClr val="accent1"/>
          </a:fillRef>
          <a:effectRef idx="1">
            <a:schemeClr val="accent1"/>
          </a:effectRef>
          <a:fontRef idx="minor">
            <a:schemeClr val="tx1"/>
          </a:fontRef>
        </p:style>
      </p:cxnSp>
      <p:sp>
        <p:nvSpPr>
          <p:cNvPr id="136" name="Oval 135"/>
          <p:cNvSpPr/>
          <p:nvPr/>
        </p:nvSpPr>
        <p:spPr>
          <a:xfrm>
            <a:off x="2441448" y="4453128"/>
            <a:ext cx="237744" cy="237744"/>
          </a:xfrm>
          <a:prstGeom prst="ellipse">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7" name="Oval 136"/>
          <p:cNvSpPr/>
          <p:nvPr/>
        </p:nvSpPr>
        <p:spPr>
          <a:xfrm>
            <a:off x="3267611" y="5053371"/>
            <a:ext cx="237744" cy="237744"/>
          </a:xfrm>
          <a:prstGeom prst="ellipse">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8" name="Oval 137"/>
          <p:cNvSpPr/>
          <p:nvPr/>
        </p:nvSpPr>
        <p:spPr>
          <a:xfrm>
            <a:off x="2952045" y="6024584"/>
            <a:ext cx="237744" cy="237744"/>
          </a:xfrm>
          <a:prstGeom prst="ellipse">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9" name="Oval 138"/>
          <p:cNvSpPr/>
          <p:nvPr/>
        </p:nvSpPr>
        <p:spPr>
          <a:xfrm>
            <a:off x="1930850" y="6024584"/>
            <a:ext cx="237744" cy="237744"/>
          </a:xfrm>
          <a:prstGeom prst="ellipse">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0" name="Oval 139"/>
          <p:cNvSpPr/>
          <p:nvPr/>
        </p:nvSpPr>
        <p:spPr>
          <a:xfrm>
            <a:off x="1615284" y="5053371"/>
            <a:ext cx="237744" cy="237744"/>
          </a:xfrm>
          <a:prstGeom prst="ellipse">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1" name="TextBox 140"/>
          <p:cNvSpPr txBox="1"/>
          <p:nvPr/>
        </p:nvSpPr>
        <p:spPr>
          <a:xfrm>
            <a:off x="914399" y="4069080"/>
            <a:ext cx="3291840" cy="411480"/>
          </a:xfrm>
          <a:prstGeom prst="rect">
            <a:avLst/>
          </a:prstGeom>
          <a:noFill/>
        </p:spPr>
        <p:txBody>
          <a:bodyPr wrap="square" lIns="0" rIns="0" tIns="0" bIns="0" anchor="t">
            <a:spAutoFit/>
          </a:bodyPr>
          <a:lstStyle/>
          <a:p>
            <a:pPr algn="ctr">
              <a:lnSpc>
                <a:spcPct val="112000"/>
              </a:lnSpc>
              <a:spcAft>
                <a:spcPts val="600"/>
              </a:spcAft>
            </a:pPr>
            <a:r>
              <a:rPr sz="1800" b="1">
                <a:solidFill>
                  <a:srgbClr val="4D5560"/>
                </a:solidFill>
                <a:latin typeface="JetBrains Mono"/>
              </a:rPr>
              <a:t>PAIR BY PAIR · 10 LINKS</a:t>
            </a:r>
          </a:p>
        </p:txBody>
      </p:sp>
      <p:cxnSp>
        <p:nvCxnSpPr>
          <p:cNvPr id="142" name="Connector 141"/>
          <p:cNvCxnSpPr/>
          <p:nvPr/>
        </p:nvCxnSpPr>
        <p:spPr>
          <a:xfrm flipV="1">
            <a:off x="6080760" y="4572000"/>
            <a:ext cx="0" cy="868680"/>
          </a:xfrm>
          <a:prstGeom prst="line">
            <a:avLst/>
          </a:prstGeom>
          <a:ln w="25400">
            <a:solidFill>
              <a:srgbClr val="556F00"/>
            </a:solidFill>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flipV="1">
            <a:off x="6080760" y="5172243"/>
            <a:ext cx="826163" cy="268437"/>
          </a:xfrm>
          <a:prstGeom prst="line">
            <a:avLst/>
          </a:prstGeom>
          <a:ln w="25400">
            <a:solidFill>
              <a:srgbClr val="556F00"/>
            </a:solidFill>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a:off x="6080760" y="5440680"/>
            <a:ext cx="510597" cy="702776"/>
          </a:xfrm>
          <a:prstGeom prst="line">
            <a:avLst/>
          </a:prstGeom>
          <a:ln w="25400">
            <a:solidFill>
              <a:srgbClr val="556F00"/>
            </a:solidFill>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flipH="1">
            <a:off x="5570162" y="5440680"/>
            <a:ext cx="510598" cy="702776"/>
          </a:xfrm>
          <a:prstGeom prst="line">
            <a:avLst/>
          </a:prstGeom>
          <a:ln w="25400">
            <a:solidFill>
              <a:srgbClr val="556F00"/>
            </a:solidFill>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flipH="1" flipV="1">
            <a:off x="5254596" y="5172243"/>
            <a:ext cx="826164" cy="268437"/>
          </a:xfrm>
          <a:prstGeom prst="line">
            <a:avLst/>
          </a:prstGeom>
          <a:ln w="25400">
            <a:solidFill>
              <a:srgbClr val="556F00"/>
            </a:solidFill>
          </a:ln>
        </p:spPr>
        <p:style>
          <a:lnRef idx="2">
            <a:schemeClr val="accent1"/>
          </a:lnRef>
          <a:fillRef idx="0">
            <a:schemeClr val="accent1"/>
          </a:fillRef>
          <a:effectRef idx="1">
            <a:schemeClr val="accent1"/>
          </a:effectRef>
          <a:fontRef idx="minor">
            <a:schemeClr val="tx1"/>
          </a:fontRef>
        </p:style>
      </p:cxnSp>
      <p:sp>
        <p:nvSpPr>
          <p:cNvPr id="147" name="Oval 146"/>
          <p:cNvSpPr/>
          <p:nvPr/>
        </p:nvSpPr>
        <p:spPr>
          <a:xfrm>
            <a:off x="5888736" y="5248656"/>
            <a:ext cx="384048" cy="384048"/>
          </a:xfrm>
          <a:prstGeom prst="ellipse">
            <a:avLst/>
          </a:prstGeom>
          <a:solidFill>
            <a:srgbClr val="C6F24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8" name="Oval 147"/>
          <p:cNvSpPr/>
          <p:nvPr/>
        </p:nvSpPr>
        <p:spPr>
          <a:xfrm>
            <a:off x="5961888" y="4453128"/>
            <a:ext cx="237744" cy="237744"/>
          </a:xfrm>
          <a:prstGeom prst="ellipse">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9" name="Oval 148"/>
          <p:cNvSpPr/>
          <p:nvPr/>
        </p:nvSpPr>
        <p:spPr>
          <a:xfrm>
            <a:off x="6788051" y="5053371"/>
            <a:ext cx="237744" cy="237744"/>
          </a:xfrm>
          <a:prstGeom prst="ellipse">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0" name="Oval 149"/>
          <p:cNvSpPr/>
          <p:nvPr/>
        </p:nvSpPr>
        <p:spPr>
          <a:xfrm>
            <a:off x="6472485" y="6024584"/>
            <a:ext cx="237744" cy="237744"/>
          </a:xfrm>
          <a:prstGeom prst="ellipse">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1" name="Oval 150"/>
          <p:cNvSpPr/>
          <p:nvPr/>
        </p:nvSpPr>
        <p:spPr>
          <a:xfrm>
            <a:off x="5451290" y="6024584"/>
            <a:ext cx="237744" cy="237744"/>
          </a:xfrm>
          <a:prstGeom prst="ellipse">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2" name="Oval 151"/>
          <p:cNvSpPr/>
          <p:nvPr/>
        </p:nvSpPr>
        <p:spPr>
          <a:xfrm>
            <a:off x="5135724" y="5053371"/>
            <a:ext cx="237744" cy="237744"/>
          </a:xfrm>
          <a:prstGeom prst="ellipse">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3" name="TextBox 152"/>
          <p:cNvSpPr txBox="1"/>
          <p:nvPr/>
        </p:nvSpPr>
        <p:spPr>
          <a:xfrm>
            <a:off x="4434840" y="4069080"/>
            <a:ext cx="3291840" cy="411480"/>
          </a:xfrm>
          <a:prstGeom prst="rect">
            <a:avLst/>
          </a:prstGeom>
          <a:noFill/>
        </p:spPr>
        <p:txBody>
          <a:bodyPr wrap="square" lIns="0" rIns="0" tIns="0" bIns="0" anchor="t">
            <a:spAutoFit/>
          </a:bodyPr>
          <a:lstStyle/>
          <a:p>
            <a:pPr algn="ctr">
              <a:lnSpc>
                <a:spcPct val="112000"/>
              </a:lnSpc>
              <a:spcAft>
                <a:spcPts val="600"/>
              </a:spcAft>
            </a:pPr>
            <a:r>
              <a:rPr sz="1800" b="1">
                <a:solidFill>
                  <a:srgbClr val="556F00"/>
                </a:solidFill>
                <a:latin typeface="JetBrains Mono"/>
              </a:rPr>
              <a:t>ONE STANDARD · 5 LINKS</a:t>
            </a:r>
          </a:p>
        </p:txBody>
      </p:sp>
      <p:sp>
        <p:nvSpPr>
          <p:cNvPr id="154" name="TextBox 153"/>
          <p:cNvSpPr txBox="1"/>
          <p:nvPr/>
        </p:nvSpPr>
        <p:spPr>
          <a:xfrm>
            <a:off x="914400" y="6583680"/>
            <a:ext cx="7132320" cy="822960"/>
          </a:xfrm>
          <a:prstGeom prst="rect">
            <a:avLst/>
          </a:prstGeom>
          <a:noFill/>
        </p:spPr>
        <p:txBody>
          <a:bodyPr wrap="square" lIns="0" rIns="0" tIns="0" bIns="0" anchor="t">
            <a:spAutoFit/>
          </a:bodyPr>
          <a:lstStyle/>
          <a:p>
            <a:pPr algn="ctr">
              <a:lnSpc>
                <a:spcPct val="112000"/>
              </a:lnSpc>
              <a:spcAft>
                <a:spcPts val="600"/>
              </a:spcAft>
            </a:pPr>
            <a:r>
              <a:rPr sz="2000" b="0">
                <a:solidFill>
                  <a:srgbClr val="4D5560"/>
                </a:solidFill>
                <a:latin typeface="Instrument Sans"/>
              </a:rPr>
              <a:t>Example, 5 companies: 10 custom links, or 5 links to one standard.</a:t>
            </a:r>
          </a:p>
        </p:txBody>
      </p:sp>
      <p:sp>
        <p:nvSpPr>
          <p:cNvPr id="155" name="TextBox 154"/>
          <p:cNvSpPr txBox="1"/>
          <p:nvPr/>
        </p:nvSpPr>
        <p:spPr>
          <a:xfrm>
            <a:off x="8503920" y="4069080"/>
            <a:ext cx="4389120" cy="411480"/>
          </a:xfrm>
          <a:prstGeom prst="rect">
            <a:avLst/>
          </a:prstGeom>
          <a:noFill/>
        </p:spPr>
        <p:txBody>
          <a:bodyPr wrap="square" lIns="0" rIns="0" tIns="0" bIns="0" anchor="t">
            <a:spAutoFit/>
          </a:bodyPr>
          <a:lstStyle/>
          <a:p>
            <a:pPr algn="l">
              <a:lnSpc>
                <a:spcPct val="112000"/>
              </a:lnSpc>
              <a:spcAft>
                <a:spcPts val="600"/>
              </a:spcAft>
            </a:pPr>
            <a:r>
              <a:rPr sz="1800" b="1">
                <a:solidFill>
                  <a:srgbClr val="556F00"/>
                </a:solidFill>
                <a:latin typeface="JetBrains Mono"/>
              </a:rPr>
              <a:t>OPEN · ANYONE</a:t>
            </a:r>
          </a:p>
        </p:txBody>
      </p:sp>
      <p:sp>
        <p:nvSpPr>
          <p:cNvPr id="156" name="Rectangle 155"/>
          <p:cNvSpPr/>
          <p:nvPr/>
        </p:nvSpPr>
        <p:spPr>
          <a:xfrm>
            <a:off x="8503920" y="4539996"/>
            <a:ext cx="4251960" cy="27432"/>
          </a:xfrm>
          <a:prstGeom prst="rect">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7" name="TextBox 156"/>
          <p:cNvSpPr txBox="1"/>
          <p:nvPr/>
        </p:nvSpPr>
        <p:spPr>
          <a:xfrm>
            <a:off x="8503920" y="4709160"/>
            <a:ext cx="4343400" cy="2743200"/>
          </a:xfrm>
          <a:prstGeom prst="rect">
            <a:avLst/>
          </a:prstGeom>
          <a:noFill/>
        </p:spPr>
        <p:txBody>
          <a:bodyPr wrap="square" lIns="0" rIns="0" tIns="0" bIns="0" anchor="t">
            <a:spAutoFit/>
          </a:bodyPr>
          <a:lstStyle/>
          <a:p>
            <a:pPr algn="l">
              <a:lnSpc>
                <a:spcPct val="112000"/>
              </a:lnSpc>
              <a:spcAft>
                <a:spcPts val="800"/>
              </a:spcAft>
            </a:pPr>
            <a:r>
              <a:rPr sz="2100" b="0">
                <a:solidFill>
                  <a:srgbClr val="556F00"/>
                </a:solidFill>
                <a:latin typeface="Instrument Sans"/>
              </a:rPr>
              <a:t>— </a:t>
            </a:r>
            <a:r>
              <a:rPr sz="2100" b="0">
                <a:solidFill>
                  <a:srgbClr val="0E0F11"/>
                </a:solidFill>
                <a:latin typeface="Instrument Sans"/>
              </a:rPr>
              <a:t>Record format, roles and events: the custody_registry contract (Apache-2.0)</a:t>
            </a:r>
          </a:p>
          <a:p>
            <a:pPr algn="l">
              <a:lnSpc>
                <a:spcPct val="112000"/>
              </a:lnSpc>
              <a:spcAft>
                <a:spcPts val="800"/>
              </a:spcAft>
            </a:pPr>
            <a:r>
              <a:rPr sz="2100" b="0">
                <a:solidFill>
                  <a:srgbClr val="556F00"/>
                </a:solidFill>
                <a:latin typeface="Instrument Sans"/>
              </a:rPr>
              <a:t>— </a:t>
            </a:r>
            <a:r>
              <a:rPr sz="2100" b="0">
                <a:solidFill>
                  <a:srgbClr val="0E0F11"/>
                </a:solidFill>
                <a:latin typeface="Instrument Sans"/>
              </a:rPr>
              <a:t>Verify any shipment, no login (slide 6)</a:t>
            </a:r>
          </a:p>
        </p:txBody>
      </p:sp>
      <p:sp>
        <p:nvSpPr>
          <p:cNvPr id="158" name="TextBox 157"/>
          <p:cNvSpPr txBox="1"/>
          <p:nvPr/>
        </p:nvSpPr>
        <p:spPr>
          <a:xfrm>
            <a:off x="13121640" y="4069080"/>
            <a:ext cx="4389120" cy="411480"/>
          </a:xfrm>
          <a:prstGeom prst="rect">
            <a:avLst/>
          </a:prstGeom>
          <a:noFill/>
        </p:spPr>
        <p:txBody>
          <a:bodyPr wrap="square" lIns="0" rIns="0" tIns="0" bIns="0" anchor="t">
            <a:spAutoFit/>
          </a:bodyPr>
          <a:lstStyle/>
          <a:p>
            <a:pPr algn="l">
              <a:lnSpc>
                <a:spcPct val="112000"/>
              </a:lnSpc>
              <a:spcAft>
                <a:spcPts val="600"/>
              </a:spcAft>
            </a:pPr>
            <a:r>
              <a:rPr sz="1800" b="1">
                <a:solidFill>
                  <a:srgbClr val="0E0F11"/>
                </a:solidFill>
                <a:latin typeface="JetBrains Mono"/>
              </a:rPr>
              <a:t>RADOX WILL OPERATE · CLIENT PAYS</a:t>
            </a:r>
          </a:p>
        </p:txBody>
      </p:sp>
      <p:sp>
        <p:nvSpPr>
          <p:cNvPr id="159" name="Rectangle 158"/>
          <p:cNvSpPr/>
          <p:nvPr/>
        </p:nvSpPr>
        <p:spPr>
          <a:xfrm>
            <a:off x="13121640" y="4539996"/>
            <a:ext cx="4251960" cy="27432"/>
          </a:xfrm>
          <a:prstGeom prst="rect">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0" name="TextBox 159"/>
          <p:cNvSpPr txBox="1"/>
          <p:nvPr/>
        </p:nvSpPr>
        <p:spPr>
          <a:xfrm>
            <a:off x="13121640" y="4709160"/>
            <a:ext cx="4343400" cy="2743200"/>
          </a:xfrm>
          <a:prstGeom prst="rect">
            <a:avLst/>
          </a:prstGeom>
          <a:noFill/>
        </p:spPr>
        <p:txBody>
          <a:bodyPr wrap="square" lIns="0" rIns="0" tIns="0" bIns="0" anchor="t">
            <a:spAutoFit/>
          </a:bodyPr>
          <a:lstStyle/>
          <a:p>
            <a:pPr algn="l">
              <a:lnSpc>
                <a:spcPct val="112000"/>
              </a:lnSpc>
              <a:spcAft>
                <a:spcPts val="800"/>
              </a:spcAft>
            </a:pPr>
            <a:r>
              <a:rPr sz="2100" b="0">
                <a:solidFill>
                  <a:srgbClr val="0E0F11"/>
                </a:solidFill>
                <a:latin typeface="Instrument Sans"/>
              </a:rPr>
              <a:t>— </a:t>
            </a:r>
            <a:r>
              <a:rPr sz="2100" b="0">
                <a:solidFill>
                  <a:srgbClr val="0E0F11"/>
                </a:solidFill>
                <a:latin typeface="Instrument Sans"/>
              </a:rPr>
              <a:t>Onboarding, issuance controls, operation of the rail</a:t>
            </a:r>
          </a:p>
          <a:p>
            <a:pPr algn="l">
              <a:lnSpc>
                <a:spcPct val="112000"/>
              </a:lnSpc>
              <a:spcAft>
                <a:spcPts val="800"/>
              </a:spcAft>
            </a:pPr>
            <a:r>
              <a:rPr sz="2100" b="0">
                <a:solidFill>
                  <a:srgbClr val="0E0F11"/>
                </a:solidFill>
                <a:latin typeface="Instrument Sans"/>
              </a:rPr>
              <a:t>— </a:t>
            </a:r>
            <a:r>
              <a:rPr sz="2100" b="0">
                <a:solidFill>
                  <a:srgbClr val="0E0F11"/>
                </a:solidFill>
                <a:latin typeface="Instrument Sans"/>
              </a:rPr>
              <a:t>The API and backend: closed, not self-hostable</a:t>
            </a:r>
          </a:p>
          <a:p>
            <a:pPr algn="l">
              <a:lnSpc>
                <a:spcPct val="112000"/>
              </a:lnSpc>
              <a:spcAft>
                <a:spcPts val="800"/>
              </a:spcAft>
            </a:pPr>
            <a:r>
              <a:rPr sz="2100" b="0">
                <a:solidFill>
                  <a:srgbClr val="0E0F11"/>
                </a:solidFill>
                <a:latin typeface="Instrument Sans"/>
              </a:rPr>
              <a:t>— </a:t>
            </a:r>
            <a:r>
              <a:rPr sz="2100" b="0">
                <a:solidFill>
                  <a:srgbClr val="0E0F11"/>
                </a:solidFill>
                <a:latin typeface="Instrument Sans"/>
              </a:rPr>
              <a:t>Per-institution subscription + fee per shipment (slide 9)</a:t>
            </a:r>
          </a:p>
        </p:txBody>
      </p:sp>
      <p:sp>
        <p:nvSpPr>
          <p:cNvPr id="161" name="Rectangle 160"/>
          <p:cNvSpPr/>
          <p:nvPr/>
        </p:nvSpPr>
        <p:spPr>
          <a:xfrm>
            <a:off x="914400" y="7580376"/>
            <a:ext cx="16459200" cy="18288"/>
          </a:xfrm>
          <a:prstGeom prst="rect">
            <a:avLst/>
          </a:prstGeom>
          <a:solidFill>
            <a:srgbClr val="DFDDD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2" name="TextBox 161"/>
          <p:cNvSpPr txBox="1"/>
          <p:nvPr/>
        </p:nvSpPr>
        <p:spPr>
          <a:xfrm>
            <a:off x="914400" y="7699248"/>
            <a:ext cx="16459200" cy="822960"/>
          </a:xfrm>
          <a:prstGeom prst="rect">
            <a:avLst/>
          </a:prstGeom>
          <a:noFill/>
        </p:spPr>
        <p:txBody>
          <a:bodyPr wrap="square" lIns="0" rIns="0" tIns="0" bIns="0" anchor="t">
            <a:spAutoFit/>
          </a:bodyPr>
          <a:lstStyle/>
          <a:p>
            <a:pPr algn="l">
              <a:lnSpc>
                <a:spcPct val="112000"/>
              </a:lnSpc>
              <a:spcAft>
                <a:spcPts val="200"/>
              </a:spcAft>
            </a:pPr>
            <a:r>
              <a:rPr sz="1800" b="0">
                <a:solidFill>
                  <a:srgbClr val="0E0F11"/>
                </a:solidFill>
                <a:latin typeface="Instrument Sans"/>
              </a:rPr>
              <a:t>Each company integrates once instead of pair by pair. Radox is part of the Rio–Miami trade-corridor initiative and its technology rail: every port, airport and chamber that joins it will join the rail, through one adapter to the Radox API. Radox is in conversations with chambers of commerce in Brazil and Miami.</a:t>
            </a:r>
          </a:p>
          <a:p>
            <a:pPr algn="l">
              <a:lnSpc>
                <a:spcPct val="112000"/>
              </a:lnSpc>
              <a:spcAft>
                <a:spcPts val="200"/>
              </a:spcAft>
            </a:pPr>
            <a:r>
              <a:rPr sz="1800" b="0">
                <a:solidFill>
                  <a:srgbClr val="4D5560"/>
                </a:solidFill>
                <a:latin typeface="Instrument Sans"/>
              </a:rPr>
              <a:t>Radox is the rail, never the issuer. Regulation and licences stay with the client and its local counsel.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6F2"/>
        </a:solidFill>
      </p:bgPr>
    </p:bg>
    <p:spTree>
      <p:nvGrpSpPr>
        <p:cNvPr id="1" name=""/>
        <p:cNvGrpSpPr/>
        <p:nvPr/>
      </p:nvGrpSpPr>
      <p:grpSpPr/>
      <p:sp>
        <p:nvSpPr>
          <p:cNvPr id="106" name="Google Shape;106;p14"/>
          <p:cNvSpPr/>
          <p:nvPr/>
        </p:nvSpPr>
        <p:spPr>
          <a:xfrm>
            <a:off x="0" y="0"/>
            <a:ext cx="18288000" cy="731520"/>
          </a:xfrm>
          <a:prstGeom prst="rect">
            <a:avLst/>
          </a:prstGeom>
          <a:solidFill>
            <a:srgbClr val="0F0F0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07" name="Google Shape;107;p14"/>
          <p:cNvSpPr txBox="1"/>
          <p:nvPr/>
        </p:nvSpPr>
        <p:spPr>
          <a:xfrm>
            <a:off x="914400" y="201168"/>
            <a:ext cx="4572000" cy="32918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PLATFORM 05 / 10</a:t>
            </a:r>
            <a:endParaRPr/>
          </a:p>
        </p:txBody>
      </p:sp>
      <p:sp>
        <p:nvSpPr>
          <p:cNvPr id="108" name="Google Shape;108;p14"/>
          <p:cNvSpPr txBox="1"/>
          <p:nvPr/>
        </p:nvSpPr>
        <p:spPr>
          <a:xfrm>
            <a:off x="5486400" y="201168"/>
            <a:ext cx="7315200" cy="32918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i="0" lang="en-US" sz="1400" u="none" cap="none" strike="noStrike">
                <a:solidFill>
                  <a:srgbClr val="FFFFFF"/>
                </a:solidFill>
                <a:latin typeface="JetBrains Mono"/>
                <a:ea typeface="JetBrains Mono"/>
                <a:cs typeface="JetBrains Mono"/>
                <a:sym typeface="JetBrains Mono"/>
              </a:rPr>
              <a:t>HACKMERIDIAN 2026 · LISBON</a:t>
            </a:r>
            <a:endParaRPr/>
          </a:p>
        </p:txBody>
      </p:sp>
      <p:sp>
        <p:nvSpPr>
          <p:cNvPr id="109" name="Google Shape;109;p14"/>
          <p:cNvSpPr txBox="1"/>
          <p:nvPr/>
        </p:nvSpPr>
        <p:spPr>
          <a:xfrm>
            <a:off x="12801600" y="201168"/>
            <a:ext cx="4572000" cy="329184"/>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NEXT ▸ LIVE ON TESTNET</a:t>
            </a:r>
            <a:endParaRPr/>
          </a:p>
        </p:txBody>
      </p:sp>
      <p:sp>
        <p:nvSpPr>
          <p:cNvPr id="110" name="Google Shape;110;p14"/>
          <p:cNvSpPr/>
          <p:nvPr/>
        </p:nvSpPr>
        <p:spPr>
          <a:xfrm>
            <a:off x="914400" y="1417320"/>
            <a:ext cx="4389120" cy="475488"/>
          </a:xfrm>
          <a:prstGeom prst="roundRect">
            <a:avLst>
              <a:gd fmla="val 50000" name="adj"/>
            </a:avLst>
          </a:prstGeom>
          <a:solidFill>
            <a:srgbClr val="C6F24E"/>
          </a:solid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1800" u="none" cap="none" strike="noStrike">
                <a:solidFill>
                  <a:srgbClr val="0E0F11"/>
                </a:solidFill>
                <a:latin typeface="JetBrains Mono"/>
                <a:ea typeface="JetBrains Mono"/>
                <a:cs typeface="JetBrains Mono"/>
                <a:sym typeface="JetBrains Mono"/>
              </a:rPr>
              <a:t>THE RAIL · LIFECYCLE BUILT</a:t>
            </a:r>
            <a:endParaRPr/>
          </a:p>
        </p:txBody>
      </p:sp>
      <p:sp>
        <p:nvSpPr>
          <p:cNvPr id="121" name="Google Shape;121;p14"/>
          <p:cNvSpPr/>
          <p:nvPr/>
        </p:nvSpPr>
        <p:spPr>
          <a:xfrm>
            <a:off x="914400" y="8915400"/>
            <a:ext cx="16459200" cy="13716"/>
          </a:xfrm>
          <a:prstGeom prst="rect">
            <a:avLst/>
          </a:prstGeom>
          <a:solidFill>
            <a:srgbClr val="DFDDD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22" name="Google Shape;122;p14"/>
          <p:cNvSpPr txBox="1"/>
          <p:nvPr/>
        </p:nvSpPr>
        <p:spPr>
          <a:xfrm>
            <a:off x="914400" y="9253728"/>
            <a:ext cx="9144000" cy="32004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i="0" lang="en-US" sz="1200" u="none" cap="none" strike="noStrike">
                <a:solidFill>
                  <a:srgbClr val="5C5C5C"/>
                </a:solidFill>
                <a:latin typeface="JetBrains Mono"/>
                <a:ea typeface="JetBrains Mono"/>
                <a:cs typeface="JetBrains Mono"/>
                <a:sym typeface="JetBrains Mono"/>
              </a:rPr>
              <a:t>© 2026 HackMeridian · Lisbon  ·  #HackMeridian26</a:t>
            </a:r>
            <a:endParaRPr/>
          </a:p>
        </p:txBody>
      </p:sp>
      <p:pic>
        <p:nvPicPr>
          <p:cNvPr id="123" name="Picture 122" descr="image.png"/>
          <p:cNvPicPr>
            <a:picLocks noChangeAspect="1"/>
          </p:cNvPicPr>
          <p:nvPr/>
        </p:nvPicPr>
        <p:blipFill>
          <a:blip r:embed="rId2"/>
          <a:stretch>
            <a:fillRect/>
          </a:stretch>
        </p:blipFill>
        <p:spPr>
          <a:xfrm>
            <a:off x="14859000" y="9171432"/>
            <a:ext cx="2517969" cy="438912"/>
          </a:xfrm>
          <a:prstGeom prst="rect">
            <a:avLst/>
          </a:prstGeom>
        </p:spPr>
      </p:pic>
      <p:sp>
        <p:nvSpPr>
          <p:cNvPr id="124" name="TextBox 123"/>
          <p:cNvSpPr txBox="1"/>
          <p:nvPr/>
        </p:nvSpPr>
        <p:spPr>
          <a:xfrm>
            <a:off x="914400" y="2011680"/>
            <a:ext cx="16459200" cy="1005840"/>
          </a:xfrm>
          <a:prstGeom prst="rect">
            <a:avLst/>
          </a:prstGeom>
          <a:noFill/>
        </p:spPr>
        <p:txBody>
          <a:bodyPr wrap="square" lIns="0" rIns="0" tIns="0" bIns="0" anchor="t">
            <a:spAutoFit/>
          </a:bodyPr>
          <a:lstStyle/>
          <a:p>
            <a:pPr algn="l">
              <a:lnSpc>
                <a:spcPct val="100000"/>
              </a:lnSpc>
              <a:spcAft>
                <a:spcPts val="600"/>
              </a:spcAft>
            </a:pPr>
            <a:r>
              <a:rPr sz="5800" b="1">
                <a:solidFill>
                  <a:srgbClr val="0E0F11"/>
                </a:solidFill>
                <a:latin typeface="Inter Tight"/>
              </a:rPr>
              <a:t>One rail, origin to delivery</a:t>
            </a:r>
          </a:p>
        </p:txBody>
      </p:sp>
      <p:sp>
        <p:nvSpPr>
          <p:cNvPr id="125" name="TextBox 124"/>
          <p:cNvSpPr txBox="1"/>
          <p:nvPr/>
        </p:nvSpPr>
        <p:spPr>
          <a:xfrm>
            <a:off x="914400" y="3063240"/>
            <a:ext cx="16459200" cy="548640"/>
          </a:xfrm>
          <a:prstGeom prst="rect">
            <a:avLst/>
          </a:prstGeom>
          <a:noFill/>
        </p:spPr>
        <p:txBody>
          <a:bodyPr wrap="square" lIns="0" rIns="0" tIns="0" bIns="0" anchor="t">
            <a:spAutoFit/>
          </a:bodyPr>
          <a:lstStyle/>
          <a:p>
            <a:pPr algn="l">
              <a:lnSpc>
                <a:spcPct val="112000"/>
              </a:lnSpc>
              <a:spcAft>
                <a:spcPts val="600"/>
              </a:spcAft>
            </a:pPr>
            <a:r>
              <a:rPr sz="2400" b="0">
                <a:solidFill>
                  <a:srgbClr val="0E0F11"/>
                </a:solidFill>
                <a:latin typeface="Instrument Sans"/>
              </a:rPr>
              <a:t>One record will follow the goods across company boundaries; port and airport systems will connect by API, not a rewrite.</a:t>
            </a:r>
          </a:p>
        </p:txBody>
      </p:sp>
      <p:sp>
        <p:nvSpPr>
          <p:cNvPr id="126" name="Rectangle 125"/>
          <p:cNvSpPr/>
          <p:nvPr/>
        </p:nvSpPr>
        <p:spPr>
          <a:xfrm>
            <a:off x="1188720" y="4553712"/>
            <a:ext cx="15910559" cy="36576"/>
          </a:xfrm>
          <a:prstGeom prst="rect">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7" name="Oval 126"/>
          <p:cNvSpPr/>
          <p:nvPr/>
        </p:nvSpPr>
        <p:spPr>
          <a:xfrm>
            <a:off x="1033272" y="4416552"/>
            <a:ext cx="310896" cy="310896"/>
          </a:xfrm>
          <a:prstGeom prst="ellipse">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8" name="TextBox 127"/>
          <p:cNvSpPr txBox="1"/>
          <p:nvPr/>
        </p:nvSpPr>
        <p:spPr>
          <a:xfrm>
            <a:off x="45720" y="4828032"/>
            <a:ext cx="2286000" cy="457200"/>
          </a:xfrm>
          <a:prstGeom prst="rect">
            <a:avLst/>
          </a:prstGeom>
          <a:noFill/>
        </p:spPr>
        <p:txBody>
          <a:bodyPr wrap="square" lIns="0" rIns="0" tIns="0" bIns="0" anchor="t">
            <a:spAutoFit/>
          </a:bodyPr>
          <a:lstStyle/>
          <a:p>
            <a:pPr algn="ctr">
              <a:lnSpc>
                <a:spcPct val="112000"/>
              </a:lnSpc>
              <a:spcAft>
                <a:spcPts val="600"/>
              </a:spcAft>
            </a:pPr>
            <a:r>
              <a:rPr sz="2100" b="1">
                <a:solidFill>
                  <a:srgbClr val="0E0F11"/>
                </a:solidFill>
                <a:latin typeface="Instrument Sans"/>
              </a:rPr>
              <a:t>Open</a:t>
            </a:r>
          </a:p>
        </p:txBody>
      </p:sp>
      <p:sp>
        <p:nvSpPr>
          <p:cNvPr id="129" name="TextBox 128"/>
          <p:cNvSpPr txBox="1"/>
          <p:nvPr/>
        </p:nvSpPr>
        <p:spPr>
          <a:xfrm>
            <a:off x="45720" y="5230368"/>
            <a:ext cx="2286000" cy="457200"/>
          </a:xfrm>
          <a:prstGeom prst="rect">
            <a:avLst/>
          </a:prstGeom>
          <a:noFill/>
        </p:spPr>
        <p:txBody>
          <a:bodyPr wrap="square" lIns="0" rIns="0" tIns="0" bIns="0" anchor="t">
            <a:spAutoFit/>
          </a:bodyPr>
          <a:lstStyle/>
          <a:p>
            <a:pPr algn="ctr">
              <a:lnSpc>
                <a:spcPct val="112000"/>
              </a:lnSpc>
              <a:spcAft>
                <a:spcPts val="600"/>
              </a:spcAft>
            </a:pPr>
            <a:r>
              <a:rPr sz="1800" b="0">
                <a:solidFill>
                  <a:srgbClr val="4D5560"/>
                </a:solidFill>
                <a:latin typeface="Instrument Sans"/>
              </a:rPr>
              <a:t>operator</a:t>
            </a:r>
          </a:p>
        </p:txBody>
      </p:sp>
      <p:sp>
        <p:nvSpPr>
          <p:cNvPr id="130" name="Oval 129"/>
          <p:cNvSpPr/>
          <p:nvPr/>
        </p:nvSpPr>
        <p:spPr>
          <a:xfrm>
            <a:off x="3306209" y="4416552"/>
            <a:ext cx="310896" cy="310896"/>
          </a:xfrm>
          <a:prstGeom prst="ellipse">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1" name="TextBox 130"/>
          <p:cNvSpPr txBox="1"/>
          <p:nvPr/>
        </p:nvSpPr>
        <p:spPr>
          <a:xfrm>
            <a:off x="2318657" y="4828032"/>
            <a:ext cx="2286000" cy="457200"/>
          </a:xfrm>
          <a:prstGeom prst="rect">
            <a:avLst/>
          </a:prstGeom>
          <a:noFill/>
        </p:spPr>
        <p:txBody>
          <a:bodyPr wrap="square" lIns="0" rIns="0" tIns="0" bIns="0" anchor="t">
            <a:spAutoFit/>
          </a:bodyPr>
          <a:lstStyle/>
          <a:p>
            <a:pPr algn="ctr">
              <a:lnSpc>
                <a:spcPct val="112000"/>
              </a:lnSpc>
              <a:spcAft>
                <a:spcPts val="600"/>
              </a:spcAft>
            </a:pPr>
            <a:r>
              <a:rPr sz="2100" b="1">
                <a:solidFill>
                  <a:srgbClr val="0E0F11"/>
                </a:solidFill>
                <a:latin typeface="Instrument Sans"/>
              </a:rPr>
              <a:t>Warehouse</a:t>
            </a:r>
          </a:p>
        </p:txBody>
      </p:sp>
      <p:sp>
        <p:nvSpPr>
          <p:cNvPr id="132" name="TextBox 131"/>
          <p:cNvSpPr txBox="1"/>
          <p:nvPr/>
        </p:nvSpPr>
        <p:spPr>
          <a:xfrm>
            <a:off x="3598817" y="4005072"/>
            <a:ext cx="1998617" cy="411480"/>
          </a:xfrm>
          <a:prstGeom prst="rect">
            <a:avLst/>
          </a:prstGeom>
          <a:noFill/>
        </p:spPr>
        <p:txBody>
          <a:bodyPr wrap="square" lIns="0" rIns="0" tIns="0" bIns="0" anchor="t">
            <a:spAutoFit/>
          </a:bodyPr>
          <a:lstStyle/>
          <a:p>
            <a:pPr algn="ctr">
              <a:lnSpc>
                <a:spcPct val="112000"/>
              </a:lnSpc>
              <a:spcAft>
                <a:spcPts val="600"/>
              </a:spcAft>
            </a:pPr>
            <a:r>
              <a:rPr sz="1800" b="0">
                <a:solidFill>
                  <a:srgbClr val="556F00"/>
                </a:solidFill>
                <a:latin typeface="JetBrains Mono"/>
              </a:rPr>
              <a:t>2 signatures</a:t>
            </a:r>
          </a:p>
        </p:txBody>
      </p:sp>
      <p:sp>
        <p:nvSpPr>
          <p:cNvPr id="133" name="Oval 132"/>
          <p:cNvSpPr/>
          <p:nvPr/>
        </p:nvSpPr>
        <p:spPr>
          <a:xfrm>
            <a:off x="5579146" y="4416552"/>
            <a:ext cx="310896" cy="310896"/>
          </a:xfrm>
          <a:prstGeom prst="ellipse">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4" name="TextBox 133"/>
          <p:cNvSpPr txBox="1"/>
          <p:nvPr/>
        </p:nvSpPr>
        <p:spPr>
          <a:xfrm>
            <a:off x="4591594" y="4828032"/>
            <a:ext cx="2286000" cy="457200"/>
          </a:xfrm>
          <a:prstGeom prst="rect">
            <a:avLst/>
          </a:prstGeom>
          <a:noFill/>
        </p:spPr>
        <p:txBody>
          <a:bodyPr wrap="square" lIns="0" rIns="0" tIns="0" bIns="0" anchor="t">
            <a:spAutoFit/>
          </a:bodyPr>
          <a:lstStyle/>
          <a:p>
            <a:pPr algn="ctr">
              <a:lnSpc>
                <a:spcPct val="112000"/>
              </a:lnSpc>
              <a:spcAft>
                <a:spcPts val="600"/>
              </a:spcAft>
            </a:pPr>
            <a:r>
              <a:rPr sz="2100" b="1">
                <a:solidFill>
                  <a:srgbClr val="0E0F11"/>
                </a:solidFill>
                <a:latin typeface="Instrument Sans"/>
              </a:rPr>
              <a:t>Port</a:t>
            </a:r>
          </a:p>
        </p:txBody>
      </p:sp>
      <p:sp>
        <p:nvSpPr>
          <p:cNvPr id="135" name="TextBox 134"/>
          <p:cNvSpPr txBox="1"/>
          <p:nvPr/>
        </p:nvSpPr>
        <p:spPr>
          <a:xfrm>
            <a:off x="5871754" y="4005072"/>
            <a:ext cx="1998617" cy="411480"/>
          </a:xfrm>
          <a:prstGeom prst="rect">
            <a:avLst/>
          </a:prstGeom>
          <a:noFill/>
        </p:spPr>
        <p:txBody>
          <a:bodyPr wrap="square" lIns="0" rIns="0" tIns="0" bIns="0" anchor="t">
            <a:spAutoFit/>
          </a:bodyPr>
          <a:lstStyle/>
          <a:p>
            <a:pPr algn="ctr">
              <a:lnSpc>
                <a:spcPct val="112000"/>
              </a:lnSpc>
              <a:spcAft>
                <a:spcPts val="600"/>
              </a:spcAft>
            </a:pPr>
            <a:r>
              <a:rPr sz="1800" b="0">
                <a:solidFill>
                  <a:srgbClr val="556F00"/>
                </a:solidFill>
                <a:latin typeface="JetBrains Mono"/>
              </a:rPr>
              <a:t>2 signatures</a:t>
            </a:r>
          </a:p>
        </p:txBody>
      </p:sp>
      <p:sp>
        <p:nvSpPr>
          <p:cNvPr id="136" name="Oval 135"/>
          <p:cNvSpPr/>
          <p:nvPr/>
        </p:nvSpPr>
        <p:spPr>
          <a:xfrm>
            <a:off x="7852083" y="4416552"/>
            <a:ext cx="310896" cy="310896"/>
          </a:xfrm>
          <a:prstGeom prst="ellipse">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7" name="TextBox 136"/>
          <p:cNvSpPr txBox="1"/>
          <p:nvPr/>
        </p:nvSpPr>
        <p:spPr>
          <a:xfrm>
            <a:off x="6864531" y="4828032"/>
            <a:ext cx="2286000" cy="457200"/>
          </a:xfrm>
          <a:prstGeom prst="rect">
            <a:avLst/>
          </a:prstGeom>
          <a:noFill/>
        </p:spPr>
        <p:txBody>
          <a:bodyPr wrap="square" lIns="0" rIns="0" tIns="0" bIns="0" anchor="t">
            <a:spAutoFit/>
          </a:bodyPr>
          <a:lstStyle/>
          <a:p>
            <a:pPr algn="ctr">
              <a:lnSpc>
                <a:spcPct val="112000"/>
              </a:lnSpc>
              <a:spcAft>
                <a:spcPts val="600"/>
              </a:spcAft>
            </a:pPr>
            <a:r>
              <a:rPr sz="2100" b="1">
                <a:solidFill>
                  <a:srgbClr val="0E0F11"/>
                </a:solidFill>
                <a:latin typeface="Instrument Sans"/>
              </a:rPr>
              <a:t>Carrier</a:t>
            </a:r>
          </a:p>
        </p:txBody>
      </p:sp>
      <p:sp>
        <p:nvSpPr>
          <p:cNvPr id="138" name="TextBox 137"/>
          <p:cNvSpPr txBox="1"/>
          <p:nvPr/>
        </p:nvSpPr>
        <p:spPr>
          <a:xfrm>
            <a:off x="8144691" y="4005072"/>
            <a:ext cx="1998617" cy="411480"/>
          </a:xfrm>
          <a:prstGeom prst="rect">
            <a:avLst/>
          </a:prstGeom>
          <a:noFill/>
        </p:spPr>
        <p:txBody>
          <a:bodyPr wrap="square" lIns="0" rIns="0" tIns="0" bIns="0" anchor="t">
            <a:spAutoFit/>
          </a:bodyPr>
          <a:lstStyle/>
          <a:p>
            <a:pPr algn="ctr">
              <a:lnSpc>
                <a:spcPct val="112000"/>
              </a:lnSpc>
              <a:spcAft>
                <a:spcPts val="600"/>
              </a:spcAft>
            </a:pPr>
            <a:r>
              <a:rPr sz="1800" b="0">
                <a:solidFill>
                  <a:srgbClr val="556F00"/>
                </a:solidFill>
                <a:latin typeface="JetBrains Mono"/>
              </a:rPr>
              <a:t>2 signatures</a:t>
            </a:r>
          </a:p>
        </p:txBody>
      </p:sp>
      <p:sp>
        <p:nvSpPr>
          <p:cNvPr id="139" name="Oval 138"/>
          <p:cNvSpPr/>
          <p:nvPr/>
        </p:nvSpPr>
        <p:spPr>
          <a:xfrm>
            <a:off x="10125020" y="4416552"/>
            <a:ext cx="310896" cy="310896"/>
          </a:xfrm>
          <a:prstGeom prst="ellipse">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0" name="TextBox 139"/>
          <p:cNvSpPr txBox="1"/>
          <p:nvPr/>
        </p:nvSpPr>
        <p:spPr>
          <a:xfrm>
            <a:off x="9137468" y="4828032"/>
            <a:ext cx="2286000" cy="457200"/>
          </a:xfrm>
          <a:prstGeom prst="rect">
            <a:avLst/>
          </a:prstGeom>
          <a:noFill/>
        </p:spPr>
        <p:txBody>
          <a:bodyPr wrap="square" lIns="0" rIns="0" tIns="0" bIns="0" anchor="t">
            <a:spAutoFit/>
          </a:bodyPr>
          <a:lstStyle/>
          <a:p>
            <a:pPr algn="ctr">
              <a:lnSpc>
                <a:spcPct val="112000"/>
              </a:lnSpc>
              <a:spcAft>
                <a:spcPts val="600"/>
              </a:spcAft>
            </a:pPr>
            <a:r>
              <a:rPr sz="2100" b="1">
                <a:solidFill>
                  <a:srgbClr val="0E0F11"/>
                </a:solidFill>
                <a:latin typeface="Instrument Sans"/>
              </a:rPr>
              <a:t>Customs</a:t>
            </a:r>
          </a:p>
        </p:txBody>
      </p:sp>
      <p:sp>
        <p:nvSpPr>
          <p:cNvPr id="141" name="TextBox 140"/>
          <p:cNvSpPr txBox="1"/>
          <p:nvPr/>
        </p:nvSpPr>
        <p:spPr>
          <a:xfrm>
            <a:off x="10417628" y="4005072"/>
            <a:ext cx="1998617" cy="411480"/>
          </a:xfrm>
          <a:prstGeom prst="rect">
            <a:avLst/>
          </a:prstGeom>
          <a:noFill/>
        </p:spPr>
        <p:txBody>
          <a:bodyPr wrap="square" lIns="0" rIns="0" tIns="0" bIns="0" anchor="t">
            <a:spAutoFit/>
          </a:bodyPr>
          <a:lstStyle/>
          <a:p>
            <a:pPr algn="ctr">
              <a:lnSpc>
                <a:spcPct val="112000"/>
              </a:lnSpc>
              <a:spcAft>
                <a:spcPts val="600"/>
              </a:spcAft>
            </a:pPr>
            <a:r>
              <a:rPr sz="1800" b="0">
                <a:solidFill>
                  <a:srgbClr val="556F00"/>
                </a:solidFill>
                <a:latin typeface="JetBrains Mono"/>
              </a:rPr>
              <a:t>2 signatures</a:t>
            </a:r>
          </a:p>
        </p:txBody>
      </p:sp>
      <p:sp>
        <p:nvSpPr>
          <p:cNvPr id="142" name="Oval 141"/>
          <p:cNvSpPr/>
          <p:nvPr/>
        </p:nvSpPr>
        <p:spPr>
          <a:xfrm>
            <a:off x="12397957" y="4416552"/>
            <a:ext cx="310896" cy="310896"/>
          </a:xfrm>
          <a:prstGeom prst="ellipse">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3" name="TextBox 142"/>
          <p:cNvSpPr txBox="1"/>
          <p:nvPr/>
        </p:nvSpPr>
        <p:spPr>
          <a:xfrm>
            <a:off x="11410405" y="4828032"/>
            <a:ext cx="2286000" cy="457200"/>
          </a:xfrm>
          <a:prstGeom prst="rect">
            <a:avLst/>
          </a:prstGeom>
          <a:noFill/>
        </p:spPr>
        <p:txBody>
          <a:bodyPr wrap="square" lIns="0" rIns="0" tIns="0" bIns="0" anchor="t">
            <a:spAutoFit/>
          </a:bodyPr>
          <a:lstStyle/>
          <a:p>
            <a:pPr algn="ctr">
              <a:lnSpc>
                <a:spcPct val="112000"/>
              </a:lnSpc>
              <a:spcAft>
                <a:spcPts val="600"/>
              </a:spcAft>
            </a:pPr>
            <a:r>
              <a:rPr sz="2100" b="1">
                <a:solidFill>
                  <a:srgbClr val="0E0F11"/>
                </a:solidFill>
                <a:latin typeface="Instrument Sans"/>
              </a:rPr>
              <a:t>Recipient</a:t>
            </a:r>
          </a:p>
        </p:txBody>
      </p:sp>
      <p:sp>
        <p:nvSpPr>
          <p:cNvPr id="144" name="TextBox 143"/>
          <p:cNvSpPr txBox="1"/>
          <p:nvPr/>
        </p:nvSpPr>
        <p:spPr>
          <a:xfrm>
            <a:off x="12690565" y="4005072"/>
            <a:ext cx="1998617" cy="411480"/>
          </a:xfrm>
          <a:prstGeom prst="rect">
            <a:avLst/>
          </a:prstGeom>
          <a:noFill/>
        </p:spPr>
        <p:txBody>
          <a:bodyPr wrap="square" lIns="0" rIns="0" tIns="0" bIns="0" anchor="t">
            <a:spAutoFit/>
          </a:bodyPr>
          <a:lstStyle/>
          <a:p>
            <a:pPr algn="ctr">
              <a:lnSpc>
                <a:spcPct val="112000"/>
              </a:lnSpc>
              <a:spcAft>
                <a:spcPts val="600"/>
              </a:spcAft>
            </a:pPr>
            <a:r>
              <a:rPr sz="1800" b="0">
                <a:solidFill>
                  <a:srgbClr val="556F00"/>
                </a:solidFill>
                <a:latin typeface="JetBrains Mono"/>
              </a:rPr>
              <a:t>2 signatures</a:t>
            </a:r>
          </a:p>
        </p:txBody>
      </p:sp>
      <p:sp>
        <p:nvSpPr>
          <p:cNvPr id="145" name="Oval 144"/>
          <p:cNvSpPr/>
          <p:nvPr/>
        </p:nvSpPr>
        <p:spPr>
          <a:xfrm>
            <a:off x="14670894" y="4416552"/>
            <a:ext cx="310896" cy="310896"/>
          </a:xfrm>
          <a:prstGeom prst="ellipse">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6" name="TextBox 145"/>
          <p:cNvSpPr txBox="1"/>
          <p:nvPr/>
        </p:nvSpPr>
        <p:spPr>
          <a:xfrm>
            <a:off x="13683342" y="4828032"/>
            <a:ext cx="2286000" cy="457200"/>
          </a:xfrm>
          <a:prstGeom prst="rect">
            <a:avLst/>
          </a:prstGeom>
          <a:noFill/>
        </p:spPr>
        <p:txBody>
          <a:bodyPr wrap="square" lIns="0" rIns="0" tIns="0" bIns="0" anchor="t">
            <a:spAutoFit/>
          </a:bodyPr>
          <a:lstStyle/>
          <a:p>
            <a:pPr algn="ctr">
              <a:lnSpc>
                <a:spcPct val="112000"/>
              </a:lnSpc>
              <a:spcAft>
                <a:spcPts val="600"/>
              </a:spcAft>
            </a:pPr>
            <a:r>
              <a:rPr sz="2100" b="1">
                <a:solidFill>
                  <a:srgbClr val="0E0F11"/>
                </a:solidFill>
                <a:latin typeface="Instrument Sans"/>
              </a:rPr>
              <a:t>Delivered</a:t>
            </a:r>
          </a:p>
        </p:txBody>
      </p:sp>
      <p:sp>
        <p:nvSpPr>
          <p:cNvPr id="147" name="TextBox 146"/>
          <p:cNvSpPr txBox="1"/>
          <p:nvPr/>
        </p:nvSpPr>
        <p:spPr>
          <a:xfrm>
            <a:off x="13683342" y="5230368"/>
            <a:ext cx="2286000" cy="457200"/>
          </a:xfrm>
          <a:prstGeom prst="rect">
            <a:avLst/>
          </a:prstGeom>
          <a:noFill/>
        </p:spPr>
        <p:txBody>
          <a:bodyPr wrap="square" lIns="0" rIns="0" tIns="0" bIns="0" anchor="t">
            <a:spAutoFit/>
          </a:bodyPr>
          <a:lstStyle/>
          <a:p>
            <a:pPr algn="ctr">
              <a:lnSpc>
                <a:spcPct val="112000"/>
              </a:lnSpc>
              <a:spcAft>
                <a:spcPts val="600"/>
              </a:spcAft>
            </a:pPr>
            <a:r>
              <a:rPr sz="1800" b="0">
                <a:solidFill>
                  <a:srgbClr val="4D5560"/>
                </a:solidFill>
                <a:latin typeface="Instrument Sans"/>
              </a:rPr>
              <a:t>to the holder</a:t>
            </a:r>
          </a:p>
        </p:txBody>
      </p:sp>
      <p:sp>
        <p:nvSpPr>
          <p:cNvPr id="148" name="Oval 147"/>
          <p:cNvSpPr/>
          <p:nvPr/>
        </p:nvSpPr>
        <p:spPr>
          <a:xfrm>
            <a:off x="16943831" y="4416552"/>
            <a:ext cx="310896" cy="310896"/>
          </a:xfrm>
          <a:prstGeom prst="ellipse">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9" name="TextBox 148"/>
          <p:cNvSpPr txBox="1"/>
          <p:nvPr/>
        </p:nvSpPr>
        <p:spPr>
          <a:xfrm>
            <a:off x="15956280" y="4828032"/>
            <a:ext cx="2286000" cy="457200"/>
          </a:xfrm>
          <a:prstGeom prst="rect">
            <a:avLst/>
          </a:prstGeom>
          <a:noFill/>
        </p:spPr>
        <p:txBody>
          <a:bodyPr wrap="square" lIns="0" rIns="0" tIns="0" bIns="0" anchor="t">
            <a:spAutoFit/>
          </a:bodyPr>
          <a:lstStyle/>
          <a:p>
            <a:pPr algn="ctr">
              <a:lnSpc>
                <a:spcPct val="112000"/>
              </a:lnSpc>
              <a:spcAft>
                <a:spcPts val="600"/>
              </a:spcAft>
            </a:pPr>
            <a:r>
              <a:rPr sz="2100" b="1">
                <a:solidFill>
                  <a:srgbClr val="0E0F11"/>
                </a:solidFill>
                <a:latin typeface="Instrument Sans"/>
              </a:rPr>
              <a:t>Burned</a:t>
            </a:r>
          </a:p>
        </p:txBody>
      </p:sp>
      <p:sp>
        <p:nvSpPr>
          <p:cNvPr id="150" name="TextBox 149"/>
          <p:cNvSpPr txBox="1"/>
          <p:nvPr/>
        </p:nvSpPr>
        <p:spPr>
          <a:xfrm>
            <a:off x="15956280" y="5230368"/>
            <a:ext cx="2286000" cy="457200"/>
          </a:xfrm>
          <a:prstGeom prst="rect">
            <a:avLst/>
          </a:prstGeom>
          <a:noFill/>
        </p:spPr>
        <p:txBody>
          <a:bodyPr wrap="square" lIns="0" rIns="0" tIns="0" bIns="0" anchor="t">
            <a:spAutoFit/>
          </a:bodyPr>
          <a:lstStyle/>
          <a:p>
            <a:pPr algn="ctr">
              <a:lnSpc>
                <a:spcPct val="112000"/>
              </a:lnSpc>
              <a:spcAft>
                <a:spcPts val="600"/>
              </a:spcAft>
            </a:pPr>
            <a:r>
              <a:rPr sz="1800" b="0">
                <a:solidFill>
                  <a:srgbClr val="4D5560"/>
                </a:solidFill>
                <a:latin typeface="Instrument Sans"/>
              </a:rPr>
              <a:t>existing redeem¹</a:t>
            </a:r>
          </a:p>
        </p:txBody>
      </p:sp>
      <p:sp>
        <p:nvSpPr>
          <p:cNvPr id="151" name="TextBox 150"/>
          <p:cNvSpPr txBox="1"/>
          <p:nvPr/>
        </p:nvSpPr>
        <p:spPr>
          <a:xfrm>
            <a:off x="914400" y="5897880"/>
            <a:ext cx="16459200" cy="1554480"/>
          </a:xfrm>
          <a:prstGeom prst="rect">
            <a:avLst/>
          </a:prstGeom>
          <a:noFill/>
        </p:spPr>
        <p:txBody>
          <a:bodyPr wrap="square" lIns="0" rIns="0" tIns="0" bIns="0" anchor="t">
            <a:spAutoFit/>
          </a:bodyPr>
          <a:lstStyle/>
          <a:p>
            <a:pPr algn="l">
              <a:lnSpc>
                <a:spcPct val="112000"/>
              </a:lnSpc>
              <a:spcAft>
                <a:spcPts val="600"/>
              </a:spcAft>
            </a:pPr>
            <a:r>
              <a:rPr sz="2300" b="0">
                <a:solidFill>
                  <a:srgbClr val="556F00"/>
                </a:solidFill>
                <a:latin typeface="Instrument Sans"/>
              </a:rPr>
              <a:t>— </a:t>
            </a:r>
            <a:r>
              <a:rPr sz="2300" b="1">
                <a:solidFill>
                  <a:srgbClr val="0E0F11"/>
                </a:solidFill>
                <a:latin typeface="Instrument Sans"/>
              </a:rPr>
              <a:t>Rule of every link: </a:t>
            </a:r>
            <a:r>
              <a:rPr sz="2300" b="0">
                <a:solidFill>
                  <a:srgbClr val="0E0F11"/>
                </a:solidFill>
                <a:latin typeface="Instrument Sans"/>
              </a:rPr>
              <a:t>both sides sign one Stellar transaction (delivery: recipient and holder), or the call fails.</a:t>
            </a:r>
          </a:p>
          <a:p>
            <a:pPr algn="l">
              <a:lnSpc>
                <a:spcPct val="112000"/>
              </a:lnSpc>
              <a:spcAft>
                <a:spcPts val="600"/>
              </a:spcAft>
            </a:pPr>
            <a:r>
              <a:rPr sz="2300" b="0">
                <a:solidFill>
                  <a:srgbClr val="556F00"/>
                </a:solidFill>
                <a:latin typeface="Instrument Sans"/>
              </a:rPr>
              <a:t>— </a:t>
            </a:r>
            <a:r>
              <a:rPr sz="2300" b="0">
                <a:solidFill>
                  <a:srgbClr val="0E0F11"/>
                </a:solidFill>
                <a:latin typeface="Instrument Sans"/>
              </a:rPr>
              <a:t>Each step extends the on-chain </a:t>
            </a:r>
            <a:r>
              <a:rPr sz="2300" b="0">
                <a:solidFill>
                  <a:srgbClr val="0E0F11"/>
                </a:solidFill>
                <a:latin typeface="JetBrains Mono"/>
              </a:rPr>
              <a:t>head</a:t>
            </a:r>
            <a:r>
              <a:rPr sz="2300" b="0">
                <a:solidFill>
                  <a:srgbClr val="0E0F11"/>
                </a:solidFill>
                <a:latin typeface="Instrument Sans"/>
              </a:rPr>
              <a:t>: anyone can replay the history from Horizon and check it against the head.</a:t>
            </a:r>
          </a:p>
          <a:p>
            <a:pPr algn="l">
              <a:lnSpc>
                <a:spcPct val="112000"/>
              </a:lnSpc>
              <a:spcAft>
                <a:spcPts val="600"/>
              </a:spcAft>
            </a:pPr>
            <a:r>
              <a:rPr sz="2300" b="0">
                <a:solidFill>
                  <a:srgbClr val="556F00"/>
                </a:solidFill>
                <a:latin typeface="Instrument Sans"/>
              </a:rPr>
              <a:t>— </a:t>
            </a:r>
            <a:r>
              <a:rPr sz="2300" b="0">
                <a:solidFill>
                  <a:srgbClr val="0E0F11"/>
                </a:solidFill>
                <a:latin typeface="Instrument Sans"/>
              </a:rPr>
              <a:t>The token stays with its holder in transit; only custody moves.</a:t>
            </a:r>
          </a:p>
        </p:txBody>
      </p:sp>
      <p:sp>
        <p:nvSpPr>
          <p:cNvPr id="152" name="TextBox 151"/>
          <p:cNvSpPr txBox="1"/>
          <p:nvPr/>
        </p:nvSpPr>
        <p:spPr>
          <a:xfrm>
            <a:off x="914400" y="7818120"/>
            <a:ext cx="16459200" cy="1005840"/>
          </a:xfrm>
          <a:prstGeom prst="rect">
            <a:avLst/>
          </a:prstGeom>
          <a:noFill/>
        </p:spPr>
        <p:txBody>
          <a:bodyPr wrap="square" lIns="0" rIns="0" tIns="0" bIns="0" anchor="t">
            <a:spAutoFit/>
          </a:bodyPr>
          <a:lstStyle/>
          <a:p>
            <a:pPr algn="l">
              <a:lnSpc>
                <a:spcPct val="112000"/>
              </a:lnSpc>
              <a:spcAft>
                <a:spcPts val="200"/>
              </a:spcAft>
            </a:pPr>
            <a:r>
              <a:rPr sz="1800" b="1">
                <a:solidFill>
                  <a:srgbClr val="0E0F11"/>
                </a:solidFill>
                <a:latin typeface="Instrument Sans"/>
              </a:rPr>
              <a:t>Built: this lifecycle on testnet, test keys. Next: real companies on the rail, the standard, integrations.</a:t>
            </a:r>
          </a:p>
          <a:p>
            <a:pPr algn="l">
              <a:lnSpc>
                <a:spcPct val="112000"/>
              </a:lnSpc>
              <a:spcAft>
                <a:spcPts val="200"/>
              </a:spcAft>
            </a:pPr>
            <a:r>
              <a:rPr sz="1800" b="0">
                <a:solidFill>
                  <a:srgbClr val="4D5560"/>
                </a:solidFill>
                <a:latin typeface="Instrument Sans"/>
              </a:rPr>
              <a:t>Keyed by sha256(container | origin); sits beside the carrier's bill of lading. ¹ Radox policy, not enforced on-chain; redeem needs the holder's signature.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E0F11"/>
        </a:solidFill>
      </p:bgPr>
    </p:bg>
    <p:spTree>
      <p:nvGrpSpPr>
        <p:cNvPr id="1" name=""/>
        <p:cNvGrpSpPr/>
        <p:nvPr/>
      </p:nvGrpSpPr>
      <p:grpSpPr/>
      <p:sp>
        <p:nvSpPr>
          <p:cNvPr id="106" name="Google Shape;106;p14"/>
          <p:cNvSpPr/>
          <p:nvPr/>
        </p:nvSpPr>
        <p:spPr>
          <a:xfrm>
            <a:off x="0" y="0"/>
            <a:ext cx="18288000" cy="731520"/>
          </a:xfrm>
          <a:prstGeom prst="rect">
            <a:avLst/>
          </a:prstGeom>
          <a:solidFill>
            <a:srgbClr val="131517"/>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07" name="Google Shape;107;p14"/>
          <p:cNvSpPr txBox="1"/>
          <p:nvPr/>
        </p:nvSpPr>
        <p:spPr>
          <a:xfrm>
            <a:off x="914400" y="201168"/>
            <a:ext cx="4572000" cy="32918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PLATFORM 06 / 10</a:t>
            </a:r>
            <a:endParaRPr/>
          </a:p>
        </p:txBody>
      </p:sp>
      <p:sp>
        <p:nvSpPr>
          <p:cNvPr id="108" name="Google Shape;108;p14"/>
          <p:cNvSpPr txBox="1"/>
          <p:nvPr/>
        </p:nvSpPr>
        <p:spPr>
          <a:xfrm>
            <a:off x="5486400" y="201168"/>
            <a:ext cx="7315200" cy="32918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i="0" lang="en-US" sz="1400" u="none" cap="none" strike="noStrike">
                <a:solidFill>
                  <a:srgbClr val="FFFFFF"/>
                </a:solidFill>
                <a:latin typeface="JetBrains Mono"/>
                <a:ea typeface="JetBrains Mono"/>
                <a:cs typeface="JetBrains Mono"/>
                <a:sym typeface="JetBrains Mono"/>
              </a:rPr>
              <a:t>HACKMERIDIAN 2026 · LISBON</a:t>
            </a:r>
            <a:endParaRPr/>
          </a:p>
        </p:txBody>
      </p:sp>
      <p:sp>
        <p:nvSpPr>
          <p:cNvPr id="109" name="Google Shape;109;p14"/>
          <p:cNvSpPr txBox="1"/>
          <p:nvPr/>
        </p:nvSpPr>
        <p:spPr>
          <a:xfrm>
            <a:off x="12801600" y="201168"/>
            <a:ext cx="4572000" cy="329184"/>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NEXT ▸ WHY STELLAR</a:t>
            </a:r>
            <a:endParaRPr/>
          </a:p>
        </p:txBody>
      </p:sp>
      <p:sp>
        <p:nvSpPr>
          <p:cNvPr id="110" name="Google Shape;110;p14"/>
          <p:cNvSpPr/>
          <p:nvPr/>
        </p:nvSpPr>
        <p:spPr>
          <a:xfrm>
            <a:off x="914400" y="1417320"/>
            <a:ext cx="4526280" cy="475488"/>
          </a:xfrm>
          <a:prstGeom prst="roundRect">
            <a:avLst>
              <a:gd fmla="val 50000" name="adj"/>
            </a:avLst>
          </a:prstGeom>
          <a:solidFill>
            <a:srgbClr val="C6F24E"/>
          </a:solid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1800" u="none" cap="none" strike="noStrike">
                <a:solidFill>
                  <a:srgbClr val="0E0F11"/>
                </a:solidFill>
                <a:latin typeface="JetBrains Mono"/>
                <a:ea typeface="JetBrains Mono"/>
                <a:cs typeface="JetBrains Mono"/>
                <a:sym typeface="JetBrains Mono"/>
              </a:rPr>
              <a:t>THE PROOF · LIVE ON TESTNET</a:t>
            </a:r>
            <a:endParaRPr/>
          </a:p>
        </p:txBody>
      </p:sp>
      <p:sp>
        <p:nvSpPr>
          <p:cNvPr id="121" name="Google Shape;121;p14"/>
          <p:cNvSpPr/>
          <p:nvPr/>
        </p:nvSpPr>
        <p:spPr>
          <a:xfrm>
            <a:off x="914400" y="8915400"/>
            <a:ext cx="16459200" cy="13716"/>
          </a:xfrm>
          <a:prstGeom prst="rect">
            <a:avLst/>
          </a:prstGeom>
          <a:solidFill>
            <a:srgbClr val="2A2F3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22" name="Google Shape;122;p14"/>
          <p:cNvSpPr txBox="1"/>
          <p:nvPr/>
        </p:nvSpPr>
        <p:spPr>
          <a:xfrm>
            <a:off x="914400" y="9253728"/>
            <a:ext cx="9144000" cy="32004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i="0" lang="en-US" sz="1200" u="none" cap="none" strike="noStrike">
                <a:solidFill>
                  <a:srgbClr val="A3A8B0"/>
                </a:solidFill>
                <a:latin typeface="JetBrains Mono"/>
                <a:ea typeface="JetBrains Mono"/>
                <a:cs typeface="JetBrains Mono"/>
                <a:sym typeface="JetBrains Mono"/>
              </a:rPr>
              <a:t>© 2026 HackMeridian · Lisbon  ·  #HackMeridian26</a:t>
            </a:r>
            <a:endParaRPr/>
          </a:p>
        </p:txBody>
      </p:sp>
      <p:pic>
        <p:nvPicPr>
          <p:cNvPr id="123" name="Picture 122" descr="image.png"/>
          <p:cNvPicPr>
            <a:picLocks noChangeAspect="1"/>
          </p:cNvPicPr>
          <p:nvPr/>
        </p:nvPicPr>
        <p:blipFill>
          <a:blip r:embed="rId2"/>
          <a:stretch>
            <a:fillRect/>
          </a:stretch>
        </p:blipFill>
        <p:spPr>
          <a:xfrm>
            <a:off x="14859000" y="9171432"/>
            <a:ext cx="2517969" cy="438912"/>
          </a:xfrm>
          <a:prstGeom prst="rect">
            <a:avLst/>
          </a:prstGeom>
        </p:spPr>
      </p:pic>
      <p:sp>
        <p:nvSpPr>
          <p:cNvPr id="124" name="TextBox 123"/>
          <p:cNvSpPr txBox="1"/>
          <p:nvPr/>
        </p:nvSpPr>
        <p:spPr>
          <a:xfrm>
            <a:off x="914400" y="2011680"/>
            <a:ext cx="16459200" cy="1005840"/>
          </a:xfrm>
          <a:prstGeom prst="rect">
            <a:avLst/>
          </a:prstGeom>
          <a:noFill/>
        </p:spPr>
        <p:txBody>
          <a:bodyPr wrap="square" lIns="0" rIns="0" tIns="0" bIns="0" anchor="t">
            <a:spAutoFit/>
          </a:bodyPr>
          <a:lstStyle/>
          <a:p>
            <a:pPr algn="l">
              <a:lnSpc>
                <a:spcPct val="100000"/>
              </a:lnSpc>
              <a:spcAft>
                <a:spcPts val="600"/>
              </a:spcAft>
            </a:pPr>
            <a:r>
              <a:rPr sz="5800" b="1">
                <a:solidFill>
                  <a:srgbClr val="E7E8EA"/>
                </a:solidFill>
                <a:latin typeface="Inter Tight"/>
              </a:rPr>
              <a:t>The lifecycle ran on testnet</a:t>
            </a:r>
          </a:p>
        </p:txBody>
      </p:sp>
      <p:pic>
        <p:nvPicPr>
          <p:cNvPr id="125" name="Picture 124" descr="page-handovers-rows.png"/>
          <p:cNvPicPr>
            <a:picLocks noChangeAspect="1"/>
          </p:cNvPicPr>
          <p:nvPr/>
        </p:nvPicPr>
        <p:blipFill>
          <a:blip r:embed="rId3"/>
          <a:stretch>
            <a:fillRect/>
          </a:stretch>
        </p:blipFill>
        <p:spPr>
          <a:xfrm>
            <a:off x="914400" y="3108960"/>
            <a:ext cx="6766560" cy="4591594"/>
          </a:xfrm>
          <a:prstGeom prst="rect">
            <a:avLst/>
          </a:prstGeom>
        </p:spPr>
      </p:pic>
      <p:sp>
        <p:nvSpPr>
          <p:cNvPr id="126" name="Rectangle 125"/>
          <p:cNvSpPr/>
          <p:nvPr/>
        </p:nvSpPr>
        <p:spPr>
          <a:xfrm>
            <a:off x="914400" y="3108960"/>
            <a:ext cx="6766560" cy="4591594"/>
          </a:xfrm>
          <a:prstGeom prst="rect">
            <a:avLst/>
          </a:prstGeom>
          <a:noFill/>
          <a:ln w="12700">
            <a:solidFill>
              <a:srgbClr val="2A2F3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7" name="TextBox 126"/>
          <p:cNvSpPr txBox="1"/>
          <p:nvPr/>
        </p:nvSpPr>
        <p:spPr>
          <a:xfrm>
            <a:off x="8229600" y="3017520"/>
            <a:ext cx="9144000" cy="365760"/>
          </a:xfrm>
          <a:prstGeom prst="rect">
            <a:avLst/>
          </a:prstGeom>
          <a:noFill/>
        </p:spPr>
        <p:txBody>
          <a:bodyPr wrap="square" lIns="0" rIns="0" tIns="0" bIns="0" anchor="t">
            <a:spAutoFit/>
          </a:bodyPr>
          <a:lstStyle/>
          <a:p>
            <a:pPr algn="l">
              <a:lnSpc>
                <a:spcPct val="112000"/>
              </a:lnSpc>
              <a:spcAft>
                <a:spcPts val="600"/>
              </a:spcAft>
            </a:pPr>
            <a:r>
              <a:rPr sz="1800" b="0">
                <a:solidFill>
                  <a:srgbClr val="C6F24E"/>
                </a:solidFill>
                <a:latin typeface="JetBrains Mono"/>
              </a:rPr>
              <a:t>2b3d51f0</a:t>
            </a:r>
            <a:r>
              <a:rPr sz="1800" b="0">
                <a:solidFill>
                  <a:srgbClr val="E7E8EA"/>
                </a:solidFill>
                <a:latin typeface="Instrument Sans"/>
              </a:rPr>
              <a:t>   open · operator</a:t>
            </a:r>
          </a:p>
        </p:txBody>
      </p:sp>
      <p:sp>
        <p:nvSpPr>
          <p:cNvPr id="128" name="TextBox 127"/>
          <p:cNvSpPr txBox="1"/>
          <p:nvPr/>
        </p:nvSpPr>
        <p:spPr>
          <a:xfrm>
            <a:off x="8229600" y="3355848"/>
            <a:ext cx="9144000" cy="365760"/>
          </a:xfrm>
          <a:prstGeom prst="rect">
            <a:avLst/>
          </a:prstGeom>
          <a:noFill/>
        </p:spPr>
        <p:txBody>
          <a:bodyPr wrap="square" lIns="0" rIns="0" tIns="0" bIns="0" anchor="t">
            <a:spAutoFit/>
          </a:bodyPr>
          <a:lstStyle/>
          <a:p>
            <a:pPr algn="l">
              <a:lnSpc>
                <a:spcPct val="112000"/>
              </a:lnSpc>
              <a:spcAft>
                <a:spcPts val="600"/>
              </a:spcAft>
            </a:pPr>
            <a:r>
              <a:rPr sz="1800" b="0">
                <a:solidFill>
                  <a:srgbClr val="C6F24E"/>
                </a:solidFill>
                <a:latin typeface="JetBrains Mono"/>
              </a:rPr>
              <a:t>635c99ac</a:t>
            </a:r>
            <a:r>
              <a:rPr sz="1800" b="0">
                <a:solidFill>
                  <a:srgbClr val="E7E8EA"/>
                </a:solidFill>
                <a:latin typeface="Instrument Sans"/>
              </a:rPr>
              <a:t>   handover 1 · Warehouse → Port</a:t>
            </a:r>
          </a:p>
        </p:txBody>
      </p:sp>
      <p:sp>
        <p:nvSpPr>
          <p:cNvPr id="129" name="TextBox 128"/>
          <p:cNvSpPr txBox="1"/>
          <p:nvPr/>
        </p:nvSpPr>
        <p:spPr>
          <a:xfrm>
            <a:off x="8229600" y="3694176"/>
            <a:ext cx="9144000" cy="365760"/>
          </a:xfrm>
          <a:prstGeom prst="rect">
            <a:avLst/>
          </a:prstGeom>
          <a:noFill/>
        </p:spPr>
        <p:txBody>
          <a:bodyPr wrap="square" lIns="0" rIns="0" tIns="0" bIns="0" anchor="t">
            <a:spAutoFit/>
          </a:bodyPr>
          <a:lstStyle/>
          <a:p>
            <a:pPr algn="l">
              <a:lnSpc>
                <a:spcPct val="112000"/>
              </a:lnSpc>
              <a:spcAft>
                <a:spcPts val="600"/>
              </a:spcAft>
            </a:pPr>
            <a:r>
              <a:rPr sz="1800" b="0">
                <a:solidFill>
                  <a:srgbClr val="C6F24E"/>
                </a:solidFill>
                <a:latin typeface="JetBrains Mono"/>
              </a:rPr>
              <a:t>56a0f006</a:t>
            </a:r>
            <a:r>
              <a:rPr sz="1800" b="0">
                <a:solidFill>
                  <a:srgbClr val="E7E8EA"/>
                </a:solidFill>
                <a:latin typeface="Instrument Sans"/>
              </a:rPr>
              <a:t>   handover 2 · Port → Carrier</a:t>
            </a:r>
          </a:p>
        </p:txBody>
      </p:sp>
      <p:sp>
        <p:nvSpPr>
          <p:cNvPr id="130" name="TextBox 129"/>
          <p:cNvSpPr txBox="1"/>
          <p:nvPr/>
        </p:nvSpPr>
        <p:spPr>
          <a:xfrm>
            <a:off x="8229600" y="4032504"/>
            <a:ext cx="9144000" cy="365760"/>
          </a:xfrm>
          <a:prstGeom prst="rect">
            <a:avLst/>
          </a:prstGeom>
          <a:noFill/>
        </p:spPr>
        <p:txBody>
          <a:bodyPr wrap="square" lIns="0" rIns="0" tIns="0" bIns="0" anchor="t">
            <a:spAutoFit/>
          </a:bodyPr>
          <a:lstStyle/>
          <a:p>
            <a:pPr algn="l">
              <a:lnSpc>
                <a:spcPct val="112000"/>
              </a:lnSpc>
              <a:spcAft>
                <a:spcPts val="600"/>
              </a:spcAft>
            </a:pPr>
            <a:r>
              <a:rPr sz="1800" b="0">
                <a:solidFill>
                  <a:srgbClr val="C6F24E"/>
                </a:solidFill>
                <a:latin typeface="JetBrains Mono"/>
              </a:rPr>
              <a:t>ac268a49</a:t>
            </a:r>
            <a:r>
              <a:rPr sz="1800" b="0">
                <a:solidFill>
                  <a:srgbClr val="E7E8EA"/>
                </a:solidFill>
                <a:latin typeface="Instrument Sans"/>
              </a:rPr>
              <a:t>   handover 3 · Carrier → Customs</a:t>
            </a:r>
          </a:p>
        </p:txBody>
      </p:sp>
      <p:sp>
        <p:nvSpPr>
          <p:cNvPr id="131" name="TextBox 130"/>
          <p:cNvSpPr txBox="1"/>
          <p:nvPr/>
        </p:nvSpPr>
        <p:spPr>
          <a:xfrm>
            <a:off x="8229600" y="4370831"/>
            <a:ext cx="9144000" cy="365760"/>
          </a:xfrm>
          <a:prstGeom prst="rect">
            <a:avLst/>
          </a:prstGeom>
          <a:noFill/>
        </p:spPr>
        <p:txBody>
          <a:bodyPr wrap="square" lIns="0" rIns="0" tIns="0" bIns="0" anchor="t">
            <a:spAutoFit/>
          </a:bodyPr>
          <a:lstStyle/>
          <a:p>
            <a:pPr algn="l">
              <a:lnSpc>
                <a:spcPct val="112000"/>
              </a:lnSpc>
              <a:spcAft>
                <a:spcPts val="600"/>
              </a:spcAft>
            </a:pPr>
            <a:r>
              <a:rPr sz="1800" b="0">
                <a:solidFill>
                  <a:srgbClr val="C6F24E"/>
                </a:solidFill>
                <a:latin typeface="JetBrains Mono"/>
              </a:rPr>
              <a:t>5199d4fb</a:t>
            </a:r>
            <a:r>
              <a:rPr sz="1800" b="0">
                <a:solidFill>
                  <a:srgbClr val="E7E8EA"/>
                </a:solidFill>
                <a:latin typeface="Instrument Sans"/>
              </a:rPr>
              <a:t>   handover 4 · Customs → Recipient</a:t>
            </a:r>
          </a:p>
        </p:txBody>
      </p:sp>
      <p:sp>
        <p:nvSpPr>
          <p:cNvPr id="132" name="TextBox 131"/>
          <p:cNvSpPr txBox="1"/>
          <p:nvPr/>
        </p:nvSpPr>
        <p:spPr>
          <a:xfrm>
            <a:off x="8229600" y="4709160"/>
            <a:ext cx="9144000" cy="365760"/>
          </a:xfrm>
          <a:prstGeom prst="rect">
            <a:avLst/>
          </a:prstGeom>
          <a:noFill/>
        </p:spPr>
        <p:txBody>
          <a:bodyPr wrap="square" lIns="0" rIns="0" tIns="0" bIns="0" anchor="t">
            <a:spAutoFit/>
          </a:bodyPr>
          <a:lstStyle/>
          <a:p>
            <a:pPr algn="l">
              <a:lnSpc>
                <a:spcPct val="112000"/>
              </a:lnSpc>
              <a:spcAft>
                <a:spcPts val="600"/>
              </a:spcAft>
            </a:pPr>
            <a:r>
              <a:rPr sz="1800" b="0">
                <a:solidFill>
                  <a:srgbClr val="C6F24E"/>
                </a:solidFill>
                <a:latin typeface="JetBrains Mono"/>
              </a:rPr>
              <a:t>919def8c</a:t>
            </a:r>
            <a:r>
              <a:rPr sz="1800" b="0">
                <a:solidFill>
                  <a:srgbClr val="E7E8EA"/>
                </a:solidFill>
                <a:latin typeface="Instrument Sans"/>
              </a:rPr>
              <a:t>   deliver · Recipient → Holder</a:t>
            </a:r>
          </a:p>
        </p:txBody>
      </p:sp>
      <p:sp>
        <p:nvSpPr>
          <p:cNvPr id="133" name="TextBox 132"/>
          <p:cNvSpPr txBox="1"/>
          <p:nvPr/>
        </p:nvSpPr>
        <p:spPr>
          <a:xfrm>
            <a:off x="8229600" y="5047488"/>
            <a:ext cx="9144000" cy="365760"/>
          </a:xfrm>
          <a:prstGeom prst="rect">
            <a:avLst/>
          </a:prstGeom>
          <a:noFill/>
        </p:spPr>
        <p:txBody>
          <a:bodyPr wrap="square" lIns="0" rIns="0" tIns="0" bIns="0" anchor="t">
            <a:spAutoFit/>
          </a:bodyPr>
          <a:lstStyle/>
          <a:p>
            <a:pPr algn="l">
              <a:lnSpc>
                <a:spcPct val="112000"/>
              </a:lnSpc>
              <a:spcAft>
                <a:spcPts val="600"/>
              </a:spcAft>
            </a:pPr>
            <a:r>
              <a:rPr sz="1800" b="0">
                <a:solidFill>
                  <a:srgbClr val="C6F24E"/>
                </a:solidFill>
                <a:latin typeface="JetBrains Mono"/>
              </a:rPr>
              <a:t>864fd164</a:t>
            </a:r>
            <a:r>
              <a:rPr sz="1800" b="0">
                <a:solidFill>
                  <a:srgbClr val="E7E8EA"/>
                </a:solidFill>
                <a:latin typeface="Instrument Sans"/>
              </a:rPr>
              <a:t>   burn · existing redeem</a:t>
            </a:r>
          </a:p>
        </p:txBody>
      </p:sp>
      <p:sp>
        <p:nvSpPr>
          <p:cNvPr id="134" name="TextBox 133"/>
          <p:cNvSpPr txBox="1"/>
          <p:nvPr/>
        </p:nvSpPr>
        <p:spPr>
          <a:xfrm>
            <a:off x="8229600" y="5440680"/>
            <a:ext cx="2286000" cy="731520"/>
          </a:xfrm>
          <a:prstGeom prst="rect">
            <a:avLst/>
          </a:prstGeom>
          <a:noFill/>
        </p:spPr>
        <p:txBody>
          <a:bodyPr wrap="square" lIns="0" rIns="0" tIns="0" bIns="0" anchor="t">
            <a:spAutoFit/>
          </a:bodyPr>
          <a:lstStyle/>
          <a:p>
            <a:pPr algn="l">
              <a:lnSpc>
                <a:spcPct val="90000"/>
              </a:lnSpc>
              <a:spcAft>
                <a:spcPts val="600"/>
              </a:spcAft>
            </a:pPr>
            <a:r>
              <a:rPr sz="4400" b="1">
                <a:solidFill>
                  <a:srgbClr val="C6F24E"/>
                </a:solidFill>
                <a:latin typeface="Inter Tight"/>
              </a:rPr>
              <a:t>7</a:t>
            </a:r>
          </a:p>
        </p:txBody>
      </p:sp>
      <p:sp>
        <p:nvSpPr>
          <p:cNvPr id="135" name="TextBox 134"/>
          <p:cNvSpPr txBox="1"/>
          <p:nvPr/>
        </p:nvSpPr>
        <p:spPr>
          <a:xfrm>
            <a:off x="8229600" y="6144768"/>
            <a:ext cx="2240280" cy="640080"/>
          </a:xfrm>
          <a:prstGeom prst="rect">
            <a:avLst/>
          </a:prstGeom>
          <a:noFill/>
        </p:spPr>
        <p:txBody>
          <a:bodyPr wrap="square" lIns="0" rIns="0" tIns="0" bIns="0" anchor="t">
            <a:spAutoFit/>
          </a:bodyPr>
          <a:lstStyle/>
          <a:p>
            <a:pPr algn="l">
              <a:lnSpc>
                <a:spcPct val="100000"/>
              </a:lnSpc>
              <a:spcAft>
                <a:spcPts val="0"/>
              </a:spcAft>
            </a:pPr>
            <a:r>
              <a:rPr sz="1800" b="0">
                <a:solidFill>
                  <a:srgbClr val="E7E8EA"/>
                </a:solidFill>
                <a:latin typeface="Instrument Sans"/>
              </a:rPr>
              <a:t>successful</a:t>
            </a:r>
          </a:p>
        </p:txBody>
      </p:sp>
      <p:sp>
        <p:nvSpPr>
          <p:cNvPr id="136" name="TextBox 135"/>
          <p:cNvSpPr txBox="1"/>
          <p:nvPr/>
        </p:nvSpPr>
        <p:spPr>
          <a:xfrm>
            <a:off x="10561320" y="5440680"/>
            <a:ext cx="2286000" cy="731520"/>
          </a:xfrm>
          <a:prstGeom prst="rect">
            <a:avLst/>
          </a:prstGeom>
          <a:noFill/>
        </p:spPr>
        <p:txBody>
          <a:bodyPr wrap="square" lIns="0" rIns="0" tIns="0" bIns="0" anchor="t">
            <a:spAutoFit/>
          </a:bodyPr>
          <a:lstStyle/>
          <a:p>
            <a:pPr algn="l">
              <a:lnSpc>
                <a:spcPct val="90000"/>
              </a:lnSpc>
              <a:spcAft>
                <a:spcPts val="600"/>
              </a:spcAft>
            </a:pPr>
            <a:r>
              <a:rPr sz="4400" b="1">
                <a:solidFill>
                  <a:srgbClr val="C6F24E"/>
                </a:solidFill>
                <a:latin typeface="Inter Tight"/>
              </a:rPr>
              <a:t>9</a:t>
            </a:r>
          </a:p>
        </p:txBody>
      </p:sp>
      <p:sp>
        <p:nvSpPr>
          <p:cNvPr id="137" name="TextBox 136"/>
          <p:cNvSpPr txBox="1"/>
          <p:nvPr/>
        </p:nvSpPr>
        <p:spPr>
          <a:xfrm>
            <a:off x="10561320" y="6144768"/>
            <a:ext cx="2240280" cy="640080"/>
          </a:xfrm>
          <a:prstGeom prst="rect">
            <a:avLst/>
          </a:prstGeom>
          <a:noFill/>
        </p:spPr>
        <p:txBody>
          <a:bodyPr wrap="square" lIns="0" rIns="0" tIns="0" bIns="0" anchor="t">
            <a:spAutoFit/>
          </a:bodyPr>
          <a:lstStyle/>
          <a:p>
            <a:pPr algn="l">
              <a:lnSpc>
                <a:spcPct val="100000"/>
              </a:lnSpc>
              <a:spcAft>
                <a:spcPts val="0"/>
              </a:spcAft>
            </a:pPr>
            <a:r>
              <a:rPr sz="1800" b="0">
                <a:solidFill>
                  <a:srgbClr val="E7E8EA"/>
                </a:solidFill>
                <a:latin typeface="Instrument Sans"/>
              </a:rPr>
              <a:t>refused, e.g. wrong signer (simulated)</a:t>
            </a:r>
          </a:p>
        </p:txBody>
      </p:sp>
      <p:sp>
        <p:nvSpPr>
          <p:cNvPr id="138" name="TextBox 137"/>
          <p:cNvSpPr txBox="1"/>
          <p:nvPr/>
        </p:nvSpPr>
        <p:spPr>
          <a:xfrm>
            <a:off x="12893040" y="5440680"/>
            <a:ext cx="2286000" cy="731520"/>
          </a:xfrm>
          <a:prstGeom prst="rect">
            <a:avLst/>
          </a:prstGeom>
          <a:noFill/>
        </p:spPr>
        <p:txBody>
          <a:bodyPr wrap="square" lIns="0" rIns="0" tIns="0" bIns="0" anchor="t">
            <a:spAutoFit/>
          </a:bodyPr>
          <a:lstStyle/>
          <a:p>
            <a:pPr algn="l">
              <a:lnSpc>
                <a:spcPct val="90000"/>
              </a:lnSpc>
              <a:spcAft>
                <a:spcPts val="600"/>
              </a:spcAft>
            </a:pPr>
            <a:r>
              <a:rPr sz="4400" b="1">
                <a:solidFill>
                  <a:srgbClr val="C6F24E"/>
                </a:solidFill>
                <a:latin typeface="Inter Tight"/>
              </a:rPr>
              <a:t>24</a:t>
            </a:r>
          </a:p>
        </p:txBody>
      </p:sp>
      <p:sp>
        <p:nvSpPr>
          <p:cNvPr id="139" name="TextBox 138"/>
          <p:cNvSpPr txBox="1"/>
          <p:nvPr/>
        </p:nvSpPr>
        <p:spPr>
          <a:xfrm>
            <a:off x="12893040" y="6144768"/>
            <a:ext cx="2240280" cy="640080"/>
          </a:xfrm>
          <a:prstGeom prst="rect">
            <a:avLst/>
          </a:prstGeom>
          <a:noFill/>
        </p:spPr>
        <p:txBody>
          <a:bodyPr wrap="square" lIns="0" rIns="0" tIns="0" bIns="0" anchor="t">
            <a:spAutoFit/>
          </a:bodyPr>
          <a:lstStyle/>
          <a:p>
            <a:pPr algn="l">
              <a:lnSpc>
                <a:spcPct val="100000"/>
              </a:lnSpc>
              <a:spcAft>
                <a:spcPts val="0"/>
              </a:spcAft>
            </a:pPr>
            <a:r>
              <a:rPr sz="1800" b="0">
                <a:solidFill>
                  <a:srgbClr val="E7E8EA"/>
                </a:solidFill>
                <a:latin typeface="Instrument Sans"/>
              </a:rPr>
              <a:t>unit tests</a:t>
            </a:r>
          </a:p>
        </p:txBody>
      </p:sp>
      <p:sp>
        <p:nvSpPr>
          <p:cNvPr id="140" name="TextBox 139"/>
          <p:cNvSpPr txBox="1"/>
          <p:nvPr/>
        </p:nvSpPr>
        <p:spPr>
          <a:xfrm>
            <a:off x="15224759" y="5440680"/>
            <a:ext cx="2286000" cy="731520"/>
          </a:xfrm>
          <a:prstGeom prst="rect">
            <a:avLst/>
          </a:prstGeom>
          <a:noFill/>
        </p:spPr>
        <p:txBody>
          <a:bodyPr wrap="square" lIns="0" rIns="0" tIns="0" bIns="0" anchor="t">
            <a:spAutoFit/>
          </a:bodyPr>
          <a:lstStyle/>
          <a:p>
            <a:pPr algn="l">
              <a:lnSpc>
                <a:spcPct val="90000"/>
              </a:lnSpc>
              <a:spcAft>
                <a:spcPts val="600"/>
              </a:spcAft>
            </a:pPr>
            <a:r>
              <a:rPr sz="4400" b="1">
                <a:solidFill>
                  <a:srgbClr val="C6F24E"/>
                </a:solidFill>
                <a:latin typeface="Inter Tight"/>
              </a:rPr>
              <a:t>MATCH</a:t>
            </a:r>
          </a:p>
        </p:txBody>
      </p:sp>
      <p:sp>
        <p:nvSpPr>
          <p:cNvPr id="141" name="TextBox 140"/>
          <p:cNvSpPr txBox="1"/>
          <p:nvPr/>
        </p:nvSpPr>
        <p:spPr>
          <a:xfrm>
            <a:off x="15224759" y="6144768"/>
            <a:ext cx="2240280" cy="640080"/>
          </a:xfrm>
          <a:prstGeom prst="rect">
            <a:avLst/>
          </a:prstGeom>
          <a:noFill/>
        </p:spPr>
        <p:txBody>
          <a:bodyPr wrap="square" lIns="0" rIns="0" tIns="0" bIns="0" anchor="t">
            <a:spAutoFit/>
          </a:bodyPr>
          <a:lstStyle/>
          <a:p>
            <a:pPr algn="l">
              <a:lnSpc>
                <a:spcPct val="100000"/>
              </a:lnSpc>
              <a:spcAft>
                <a:spcPts val="0"/>
              </a:spcAft>
            </a:pPr>
            <a:r>
              <a:rPr sz="1800" b="0">
                <a:solidFill>
                  <a:srgbClr val="E7E8EA"/>
                </a:solidFill>
                <a:latin typeface="Instrument Sans"/>
              </a:rPr>
              <a:t>head check, 25 Oct</a:t>
            </a:r>
          </a:p>
        </p:txBody>
      </p:sp>
      <p:sp>
        <p:nvSpPr>
          <p:cNvPr id="142" name="TextBox 141"/>
          <p:cNvSpPr txBox="1"/>
          <p:nvPr/>
        </p:nvSpPr>
        <p:spPr>
          <a:xfrm>
            <a:off x="8229600" y="6858000"/>
            <a:ext cx="9144000" cy="1828800"/>
          </a:xfrm>
          <a:prstGeom prst="rect">
            <a:avLst/>
          </a:prstGeom>
          <a:noFill/>
        </p:spPr>
        <p:txBody>
          <a:bodyPr wrap="square" lIns="0" rIns="0" tIns="0" bIns="0" anchor="t">
            <a:spAutoFit/>
          </a:bodyPr>
          <a:lstStyle/>
          <a:p>
            <a:pPr algn="l">
              <a:lnSpc>
                <a:spcPct val="112000"/>
              </a:lnSpc>
              <a:spcAft>
                <a:spcPts val="400"/>
              </a:spcAft>
            </a:pPr>
            <a:r>
              <a:rPr sz="1800" b="0">
                <a:solidFill>
                  <a:srgbClr val="A3A8B0"/>
                </a:solidFill>
                <a:latin typeface="JetBrains Mono"/>
              </a:rPr>
              <a:t>custody_registry </a:t>
            </a:r>
            <a:r>
              <a:rPr sz="1800" b="0">
                <a:solidFill>
                  <a:srgbClr val="E7E8EA"/>
                </a:solidFill>
                <a:latin typeface="JetBrains Mono"/>
              </a:rPr>
              <a:t>CCBJVXMJYWPHTDJHDFPRGKPGXGEP24JOPJAMUS5C3BMZJTRTWR2H4LII</a:t>
            </a:r>
          </a:p>
          <a:p>
            <a:pPr algn="l">
              <a:lnSpc>
                <a:spcPct val="112000"/>
              </a:lnSpc>
              <a:spcAft>
                <a:spcPts val="400"/>
              </a:spcAft>
            </a:pPr>
            <a:r>
              <a:rPr sz="1800" b="0">
                <a:solidFill>
                  <a:srgbClr val="A3A8B0"/>
                </a:solidFill>
                <a:latin typeface="Instrument Sans"/>
              </a:rPr>
              <a:t>Also on testnet: handovers signed from separate computers (proofs/three-machine.json); two test companies' chains on one registry, sharing stops, each dual-signed (proofs/multi-chain.json).</a:t>
            </a:r>
          </a:p>
          <a:p>
            <a:pPr algn="l">
              <a:lnSpc>
                <a:spcPct val="112000"/>
              </a:lnSpc>
              <a:spcAft>
                <a:spcPts val="400"/>
              </a:spcAft>
            </a:pPr>
            <a:r>
              <a:rPr sz="1800" b="1">
                <a:solidFill>
                  <a:srgbClr val="E7E8EA"/>
                </a:solidFill>
                <a:latin typeface="Instrument Sans"/>
              </a:rPr>
              <a:t>Testnet, test keys.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6F2"/>
        </a:solidFill>
      </p:bgPr>
    </p:bg>
    <p:spTree>
      <p:nvGrpSpPr>
        <p:cNvPr id="1" name=""/>
        <p:cNvGrpSpPr/>
        <p:nvPr/>
      </p:nvGrpSpPr>
      <p:grpSpPr/>
      <p:sp>
        <p:nvSpPr>
          <p:cNvPr id="106" name="Google Shape;106;p14"/>
          <p:cNvSpPr/>
          <p:nvPr/>
        </p:nvSpPr>
        <p:spPr>
          <a:xfrm>
            <a:off x="0" y="0"/>
            <a:ext cx="18288000" cy="731520"/>
          </a:xfrm>
          <a:prstGeom prst="rect">
            <a:avLst/>
          </a:prstGeom>
          <a:solidFill>
            <a:srgbClr val="0F0F0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07" name="Google Shape;107;p14"/>
          <p:cNvSpPr txBox="1"/>
          <p:nvPr/>
        </p:nvSpPr>
        <p:spPr>
          <a:xfrm>
            <a:off x="914400" y="201168"/>
            <a:ext cx="4572000" cy="32918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PLATFORM 07 / 10</a:t>
            </a:r>
            <a:endParaRPr/>
          </a:p>
        </p:txBody>
      </p:sp>
      <p:sp>
        <p:nvSpPr>
          <p:cNvPr id="108" name="Google Shape;108;p14"/>
          <p:cNvSpPr txBox="1"/>
          <p:nvPr/>
        </p:nvSpPr>
        <p:spPr>
          <a:xfrm>
            <a:off x="5486400" y="201168"/>
            <a:ext cx="7315200" cy="32918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i="0" lang="en-US" sz="1400" u="none" cap="none" strike="noStrike">
                <a:solidFill>
                  <a:srgbClr val="FFFFFF"/>
                </a:solidFill>
                <a:latin typeface="JetBrains Mono"/>
                <a:ea typeface="JetBrains Mono"/>
                <a:cs typeface="JetBrains Mono"/>
                <a:sym typeface="JetBrains Mono"/>
              </a:rPr>
              <a:t>HACKMERIDIAN 2026 · LISBON</a:t>
            </a:r>
            <a:endParaRPr/>
          </a:p>
        </p:txBody>
      </p:sp>
      <p:sp>
        <p:nvSpPr>
          <p:cNvPr id="109" name="Google Shape;109;p14"/>
          <p:cNvSpPr txBox="1"/>
          <p:nvPr/>
        </p:nvSpPr>
        <p:spPr>
          <a:xfrm>
            <a:off x="12801600" y="201168"/>
            <a:ext cx="4572000" cy="329184"/>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NEXT ▸ BUILT THIS WEEKEND</a:t>
            </a:r>
            <a:endParaRPr/>
          </a:p>
        </p:txBody>
      </p:sp>
      <p:sp>
        <p:nvSpPr>
          <p:cNvPr id="110" name="Google Shape;110;p14"/>
          <p:cNvSpPr/>
          <p:nvPr/>
        </p:nvSpPr>
        <p:spPr>
          <a:xfrm>
            <a:off x="914400" y="1417320"/>
            <a:ext cx="3977639" cy="475488"/>
          </a:xfrm>
          <a:prstGeom prst="roundRect">
            <a:avLst>
              <a:gd fmla="val 50000" name="adj"/>
            </a:avLst>
          </a:prstGeom>
          <a:solidFill>
            <a:srgbClr val="C6F24E"/>
          </a:solid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1800" u="none" cap="none" strike="noStrike">
                <a:solidFill>
                  <a:srgbClr val="0E0F11"/>
                </a:solidFill>
                <a:latin typeface="JetBrains Mono"/>
                <a:ea typeface="JetBrains Mono"/>
                <a:cs typeface="JetBrains Mono"/>
                <a:sym typeface="JetBrains Mono"/>
              </a:rPr>
              <a:t>ECOSYSTEM · WHY STELLAR</a:t>
            </a:r>
            <a:endParaRPr/>
          </a:p>
        </p:txBody>
      </p:sp>
      <p:sp>
        <p:nvSpPr>
          <p:cNvPr id="121" name="Google Shape;121;p14"/>
          <p:cNvSpPr/>
          <p:nvPr/>
        </p:nvSpPr>
        <p:spPr>
          <a:xfrm>
            <a:off x="914400" y="8915400"/>
            <a:ext cx="16459200" cy="13716"/>
          </a:xfrm>
          <a:prstGeom prst="rect">
            <a:avLst/>
          </a:prstGeom>
          <a:solidFill>
            <a:srgbClr val="DFDDD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22" name="Google Shape;122;p14"/>
          <p:cNvSpPr txBox="1"/>
          <p:nvPr/>
        </p:nvSpPr>
        <p:spPr>
          <a:xfrm>
            <a:off x="914400" y="9253728"/>
            <a:ext cx="9144000" cy="32004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i="0" lang="en-US" sz="1200" u="none" cap="none" strike="noStrike">
                <a:solidFill>
                  <a:srgbClr val="5C5C5C"/>
                </a:solidFill>
                <a:latin typeface="JetBrains Mono"/>
                <a:ea typeface="JetBrains Mono"/>
                <a:cs typeface="JetBrains Mono"/>
                <a:sym typeface="JetBrains Mono"/>
              </a:rPr>
              <a:t>© 2026 HackMeridian · Lisbon  ·  #HackMeridian26</a:t>
            </a:r>
            <a:endParaRPr/>
          </a:p>
        </p:txBody>
      </p:sp>
      <p:pic>
        <p:nvPicPr>
          <p:cNvPr id="123" name="Picture 122" descr="image.png"/>
          <p:cNvPicPr>
            <a:picLocks noChangeAspect="1"/>
          </p:cNvPicPr>
          <p:nvPr/>
        </p:nvPicPr>
        <p:blipFill>
          <a:blip r:embed="rId2"/>
          <a:stretch>
            <a:fillRect/>
          </a:stretch>
        </p:blipFill>
        <p:spPr>
          <a:xfrm>
            <a:off x="14859000" y="9171432"/>
            <a:ext cx="2517969" cy="438912"/>
          </a:xfrm>
          <a:prstGeom prst="rect">
            <a:avLst/>
          </a:prstGeom>
        </p:spPr>
      </p:pic>
      <p:sp>
        <p:nvSpPr>
          <p:cNvPr id="124" name="TextBox 123"/>
          <p:cNvSpPr txBox="1"/>
          <p:nvPr/>
        </p:nvSpPr>
        <p:spPr>
          <a:xfrm>
            <a:off x="914400" y="2011680"/>
            <a:ext cx="16459200" cy="1005840"/>
          </a:xfrm>
          <a:prstGeom prst="rect">
            <a:avLst/>
          </a:prstGeom>
          <a:noFill/>
        </p:spPr>
        <p:txBody>
          <a:bodyPr wrap="square" lIns="0" rIns="0" tIns="0" bIns="0" anchor="t">
            <a:spAutoFit/>
          </a:bodyPr>
          <a:lstStyle/>
          <a:p>
            <a:pPr algn="l">
              <a:lnSpc>
                <a:spcPct val="100000"/>
              </a:lnSpc>
              <a:spcAft>
                <a:spcPts val="600"/>
              </a:spcAft>
            </a:pPr>
            <a:r>
              <a:rPr sz="5800" b="1">
                <a:solidFill>
                  <a:srgbClr val="0E0F11"/>
                </a:solidFill>
                <a:latin typeface="Inter Tight"/>
              </a:rPr>
              <a:t>Why Stellar: all signers, one call</a:t>
            </a:r>
          </a:p>
        </p:txBody>
      </p:sp>
      <p:sp>
        <p:nvSpPr>
          <p:cNvPr id="125" name="Rectangle 124"/>
          <p:cNvSpPr/>
          <p:nvPr/>
        </p:nvSpPr>
        <p:spPr>
          <a:xfrm>
            <a:off x="914400" y="3127248"/>
            <a:ext cx="16459200" cy="18288"/>
          </a:xfrm>
          <a:prstGeom prst="rect">
            <a:avLst/>
          </a:prstGeom>
          <a:solidFill>
            <a:srgbClr val="DFDDD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6" name="TextBox 125"/>
          <p:cNvSpPr txBox="1"/>
          <p:nvPr/>
        </p:nvSpPr>
        <p:spPr>
          <a:xfrm>
            <a:off x="914400" y="3319272"/>
            <a:ext cx="914400" cy="548640"/>
          </a:xfrm>
          <a:prstGeom prst="rect">
            <a:avLst/>
          </a:prstGeom>
          <a:noFill/>
        </p:spPr>
        <p:txBody>
          <a:bodyPr wrap="square" lIns="0" rIns="0" tIns="0" bIns="0" anchor="t">
            <a:spAutoFit/>
          </a:bodyPr>
          <a:lstStyle/>
          <a:p>
            <a:pPr algn="l">
              <a:lnSpc>
                <a:spcPct val="112000"/>
              </a:lnSpc>
              <a:spcAft>
                <a:spcPts val="600"/>
              </a:spcAft>
            </a:pPr>
            <a:r>
              <a:rPr sz="2400" b="1">
                <a:solidFill>
                  <a:srgbClr val="556F00"/>
                </a:solidFill>
                <a:latin typeface="JetBrains Mono"/>
              </a:rPr>
              <a:t>01</a:t>
            </a:r>
          </a:p>
        </p:txBody>
      </p:sp>
      <p:sp>
        <p:nvSpPr>
          <p:cNvPr id="127" name="TextBox 126"/>
          <p:cNvSpPr txBox="1"/>
          <p:nvPr/>
        </p:nvSpPr>
        <p:spPr>
          <a:xfrm>
            <a:off x="1828800" y="3246120"/>
            <a:ext cx="5852160" cy="1097280"/>
          </a:xfrm>
          <a:prstGeom prst="rect">
            <a:avLst/>
          </a:prstGeom>
          <a:noFill/>
        </p:spPr>
        <p:txBody>
          <a:bodyPr wrap="square" lIns="0" rIns="0" tIns="0" bIns="0" anchor="t">
            <a:spAutoFit/>
          </a:bodyPr>
          <a:lstStyle/>
          <a:p>
            <a:pPr algn="l">
              <a:lnSpc>
                <a:spcPct val="112000"/>
              </a:lnSpc>
              <a:spcAft>
                <a:spcPts val="600"/>
              </a:spcAft>
            </a:pPr>
            <a:r>
              <a:rPr sz="3000" b="1">
                <a:solidFill>
                  <a:srgbClr val="0E0F11"/>
                </a:solidFill>
                <a:latin typeface="Inter Tight"/>
              </a:rPr>
              <a:t>Multi-party auth in one call</a:t>
            </a:r>
          </a:p>
        </p:txBody>
      </p:sp>
      <p:sp>
        <p:nvSpPr>
          <p:cNvPr id="128" name="TextBox 127"/>
          <p:cNvSpPr txBox="1"/>
          <p:nvPr/>
        </p:nvSpPr>
        <p:spPr>
          <a:xfrm>
            <a:off x="7863840" y="3264408"/>
            <a:ext cx="9509760" cy="1188720"/>
          </a:xfrm>
          <a:prstGeom prst="rect">
            <a:avLst/>
          </a:prstGeom>
          <a:noFill/>
        </p:spPr>
        <p:txBody>
          <a:bodyPr wrap="square" lIns="0" rIns="0" tIns="0" bIns="0" anchor="t">
            <a:spAutoFit/>
          </a:bodyPr>
          <a:lstStyle/>
          <a:p>
            <a:pPr algn="l">
              <a:lnSpc>
                <a:spcPct val="112000"/>
              </a:lnSpc>
              <a:spcAft>
                <a:spcPts val="600"/>
              </a:spcAft>
            </a:pPr>
            <a:r>
              <a:rPr sz="2200" b="0">
                <a:solidFill>
                  <a:srgbClr val="0E0F11"/>
                </a:solidFill>
                <a:latin typeface="Instrument Sans"/>
              </a:rPr>
              <a:t>Soroban authorises both companies of a link inside one contract invocation: the handover is atomic.</a:t>
            </a:r>
          </a:p>
        </p:txBody>
      </p:sp>
      <p:sp>
        <p:nvSpPr>
          <p:cNvPr id="129" name="Rectangle 128"/>
          <p:cNvSpPr/>
          <p:nvPr/>
        </p:nvSpPr>
        <p:spPr>
          <a:xfrm>
            <a:off x="914400" y="4498848"/>
            <a:ext cx="16459200" cy="18288"/>
          </a:xfrm>
          <a:prstGeom prst="rect">
            <a:avLst/>
          </a:prstGeom>
          <a:solidFill>
            <a:srgbClr val="DFDDD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0" name="TextBox 129"/>
          <p:cNvSpPr txBox="1"/>
          <p:nvPr/>
        </p:nvSpPr>
        <p:spPr>
          <a:xfrm>
            <a:off x="914400" y="4690872"/>
            <a:ext cx="914400" cy="548640"/>
          </a:xfrm>
          <a:prstGeom prst="rect">
            <a:avLst/>
          </a:prstGeom>
          <a:noFill/>
        </p:spPr>
        <p:txBody>
          <a:bodyPr wrap="square" lIns="0" rIns="0" tIns="0" bIns="0" anchor="t">
            <a:spAutoFit/>
          </a:bodyPr>
          <a:lstStyle/>
          <a:p>
            <a:pPr algn="l">
              <a:lnSpc>
                <a:spcPct val="112000"/>
              </a:lnSpc>
              <a:spcAft>
                <a:spcPts val="600"/>
              </a:spcAft>
            </a:pPr>
            <a:r>
              <a:rPr sz="2400" b="1">
                <a:solidFill>
                  <a:srgbClr val="556F00"/>
                </a:solidFill>
                <a:latin typeface="JetBrains Mono"/>
              </a:rPr>
              <a:t>02</a:t>
            </a:r>
          </a:p>
        </p:txBody>
      </p:sp>
      <p:sp>
        <p:nvSpPr>
          <p:cNvPr id="131" name="TextBox 130"/>
          <p:cNvSpPr txBox="1"/>
          <p:nvPr/>
        </p:nvSpPr>
        <p:spPr>
          <a:xfrm>
            <a:off x="1828800" y="4617720"/>
            <a:ext cx="5852160" cy="1097280"/>
          </a:xfrm>
          <a:prstGeom prst="rect">
            <a:avLst/>
          </a:prstGeom>
          <a:noFill/>
        </p:spPr>
        <p:txBody>
          <a:bodyPr wrap="square" lIns="0" rIns="0" tIns="0" bIns="0" anchor="t">
            <a:spAutoFit/>
          </a:bodyPr>
          <a:lstStyle/>
          <a:p>
            <a:pPr algn="l">
              <a:lnSpc>
                <a:spcPct val="112000"/>
              </a:lnSpc>
              <a:spcAft>
                <a:spcPts val="600"/>
              </a:spcAft>
            </a:pPr>
            <a:r>
              <a:rPr sz="3000" b="1">
                <a:solidFill>
                  <a:srgbClr val="0E0F11"/>
                </a:solidFill>
                <a:latin typeface="Inter Tight"/>
              </a:rPr>
              <a:t>History from Horizon, checked by an on-chain head</a:t>
            </a:r>
          </a:p>
        </p:txBody>
      </p:sp>
      <p:sp>
        <p:nvSpPr>
          <p:cNvPr id="132" name="TextBox 131"/>
          <p:cNvSpPr txBox="1"/>
          <p:nvPr/>
        </p:nvSpPr>
        <p:spPr>
          <a:xfrm>
            <a:off x="7863840" y="4636007"/>
            <a:ext cx="9509760" cy="1188720"/>
          </a:xfrm>
          <a:prstGeom prst="rect">
            <a:avLst/>
          </a:prstGeom>
          <a:noFill/>
        </p:spPr>
        <p:txBody>
          <a:bodyPr wrap="square" lIns="0" rIns="0" tIns="0" bIns="0" anchor="t">
            <a:spAutoFit/>
          </a:bodyPr>
          <a:lstStyle/>
          <a:p>
            <a:pPr algn="l">
              <a:lnSpc>
                <a:spcPct val="112000"/>
              </a:lnSpc>
              <a:spcAft>
                <a:spcPts val="600"/>
              </a:spcAft>
            </a:pPr>
            <a:r>
              <a:rPr sz="2200" b="0">
                <a:solidFill>
                  <a:srgbClr val="0E0F11"/>
                </a:solidFill>
                <a:latin typeface="Instrument Sans"/>
              </a:rPr>
              <a:t>RPC keeps contract events about 7 days, so we replay each shipment's transactions from Horizon and check them against the head stored in the contract.</a:t>
            </a:r>
          </a:p>
        </p:txBody>
      </p:sp>
      <p:sp>
        <p:nvSpPr>
          <p:cNvPr id="133" name="Rectangle 132"/>
          <p:cNvSpPr/>
          <p:nvPr/>
        </p:nvSpPr>
        <p:spPr>
          <a:xfrm>
            <a:off x="914400" y="5870448"/>
            <a:ext cx="16459200" cy="18288"/>
          </a:xfrm>
          <a:prstGeom prst="rect">
            <a:avLst/>
          </a:prstGeom>
          <a:solidFill>
            <a:srgbClr val="DFDDD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4" name="TextBox 133"/>
          <p:cNvSpPr txBox="1"/>
          <p:nvPr/>
        </p:nvSpPr>
        <p:spPr>
          <a:xfrm>
            <a:off x="914400" y="6062472"/>
            <a:ext cx="914400" cy="548640"/>
          </a:xfrm>
          <a:prstGeom prst="rect">
            <a:avLst/>
          </a:prstGeom>
          <a:noFill/>
        </p:spPr>
        <p:txBody>
          <a:bodyPr wrap="square" lIns="0" rIns="0" tIns="0" bIns="0" anchor="t">
            <a:spAutoFit/>
          </a:bodyPr>
          <a:lstStyle/>
          <a:p>
            <a:pPr algn="l">
              <a:lnSpc>
                <a:spcPct val="112000"/>
              </a:lnSpc>
              <a:spcAft>
                <a:spcPts val="600"/>
              </a:spcAft>
            </a:pPr>
            <a:r>
              <a:rPr sz="2400" b="1">
                <a:solidFill>
                  <a:srgbClr val="556F00"/>
                </a:solidFill>
                <a:latin typeface="JetBrains Mono"/>
              </a:rPr>
              <a:t>03</a:t>
            </a:r>
          </a:p>
        </p:txBody>
      </p:sp>
      <p:sp>
        <p:nvSpPr>
          <p:cNvPr id="135" name="TextBox 134"/>
          <p:cNvSpPr txBox="1"/>
          <p:nvPr/>
        </p:nvSpPr>
        <p:spPr>
          <a:xfrm>
            <a:off x="1828800" y="5989320"/>
            <a:ext cx="5852160" cy="1097280"/>
          </a:xfrm>
          <a:prstGeom prst="rect">
            <a:avLst/>
          </a:prstGeom>
          <a:noFill/>
        </p:spPr>
        <p:txBody>
          <a:bodyPr wrap="square" lIns="0" rIns="0" tIns="0" bIns="0" anchor="t">
            <a:spAutoFit/>
          </a:bodyPr>
          <a:lstStyle/>
          <a:p>
            <a:pPr algn="l">
              <a:lnSpc>
                <a:spcPct val="112000"/>
              </a:lnSpc>
              <a:spcAft>
                <a:spcPts val="600"/>
              </a:spcAft>
            </a:pPr>
            <a:r>
              <a:rPr sz="3000" b="1">
                <a:solidFill>
                  <a:srgbClr val="0E0F11"/>
                </a:solidFill>
                <a:latin typeface="Inter Tight"/>
              </a:rPr>
              <a:t>Any Stellar asset</a:t>
            </a:r>
          </a:p>
        </p:txBody>
      </p:sp>
      <p:sp>
        <p:nvSpPr>
          <p:cNvPr id="136" name="TextBox 135"/>
          <p:cNvSpPr txBox="1"/>
          <p:nvPr/>
        </p:nvSpPr>
        <p:spPr>
          <a:xfrm>
            <a:off x="7863840" y="6007607"/>
            <a:ext cx="9509760" cy="1188720"/>
          </a:xfrm>
          <a:prstGeom prst="rect">
            <a:avLst/>
          </a:prstGeom>
          <a:noFill/>
        </p:spPr>
        <p:txBody>
          <a:bodyPr wrap="square" lIns="0" rIns="0" tIns="0" bIns="0" anchor="t">
            <a:spAutoFit/>
          </a:bodyPr>
          <a:lstStyle/>
          <a:p>
            <a:pPr algn="l">
              <a:lnSpc>
                <a:spcPct val="112000"/>
              </a:lnSpc>
              <a:spcAft>
                <a:spcPts val="600"/>
              </a:spcAft>
            </a:pPr>
            <a:r>
              <a:rPr sz="2200" b="0">
                <a:solidFill>
                  <a:srgbClr val="0E0F11"/>
                </a:solidFill>
                <a:latin typeface="Instrument Sans"/>
              </a:rPr>
              <a:t>The record stores a token address and never calls the token, so any tokenized Stellar asset can carry a custody record.</a:t>
            </a:r>
          </a:p>
        </p:txBody>
      </p:sp>
      <p:sp>
        <p:nvSpPr>
          <p:cNvPr id="137" name="Rectangle 136"/>
          <p:cNvSpPr/>
          <p:nvPr/>
        </p:nvSpPr>
        <p:spPr>
          <a:xfrm>
            <a:off x="914400" y="7242048"/>
            <a:ext cx="16459200" cy="18288"/>
          </a:xfrm>
          <a:prstGeom prst="rect">
            <a:avLst/>
          </a:prstGeom>
          <a:solidFill>
            <a:srgbClr val="DFDDD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8" name="TextBox 137"/>
          <p:cNvSpPr txBox="1"/>
          <p:nvPr/>
        </p:nvSpPr>
        <p:spPr>
          <a:xfrm>
            <a:off x="914400" y="7360920"/>
            <a:ext cx="16459200" cy="1463040"/>
          </a:xfrm>
          <a:prstGeom prst="rect">
            <a:avLst/>
          </a:prstGeom>
          <a:noFill/>
        </p:spPr>
        <p:txBody>
          <a:bodyPr wrap="square" lIns="0" rIns="0" tIns="0" bIns="0" anchor="t">
            <a:spAutoFit/>
          </a:bodyPr>
          <a:lstStyle/>
          <a:p>
            <a:pPr algn="l">
              <a:lnSpc>
                <a:spcPct val="105000"/>
              </a:lnSpc>
              <a:spcAft>
                <a:spcPts val="400"/>
              </a:spcAft>
            </a:pPr>
            <a:r>
              <a:rPr sz="1900" b="1">
                <a:solidFill>
                  <a:srgbClr val="0E0F11"/>
                </a:solidFill>
                <a:latin typeface="Instrument Sans"/>
              </a:rPr>
              <a:t>Stellar holds about US$4B in tokenized assets </a:t>
            </a:r>
            <a:r>
              <a:rPr sz="1900" b="0">
                <a:solidFill>
                  <a:srgbClr val="4D5560"/>
                </a:solidFill>
                <a:latin typeface="Instrument Sans"/>
              </a:rPr>
              <a:t>(SDF, as of 1 Sep 2026). </a:t>
            </a:r>
            <a:r>
              <a:rPr sz="1900" b="1">
                <a:solidFill>
                  <a:srgbClr val="0E0F11"/>
                </a:solidFill>
                <a:latin typeface="Instrument Sans"/>
              </a:rPr>
              <a:t>Nearest neighbours </a:t>
            </a:r>
            <a:r>
              <a:rPr sz="1900" b="0">
                <a:solidFill>
                  <a:srgbClr val="4D5560"/>
                </a:solidFill>
                <a:latin typeface="Instrument Sans"/>
              </a:rPr>
              <a:t>(LumenLoop, SCF, Scout, 24–25 Oct): </a:t>
            </a:r>
            <a:r>
              <a:rPr sz="1900" b="0">
                <a:solidFill>
                  <a:srgbClr val="0E0F11"/>
                </a:solidFill>
                <a:latin typeface="Instrument Sans"/>
              </a:rPr>
              <a:t>Kutana and Trustless Work release escrow on trade milestones; Pipeline finances commodity trade. None records a handover signed by two custodians; no SEP.</a:t>
            </a:r>
          </a:p>
          <a:p>
            <a:pPr algn="l">
              <a:lnSpc>
                <a:spcPct val="105000"/>
              </a:lnSpc>
              <a:spcAft>
                <a:spcPts val="400"/>
              </a:spcAft>
            </a:pPr>
            <a:r>
              <a:rPr sz="1900" b="1">
                <a:solidFill>
                  <a:srgbClr val="556F00"/>
                </a:solidFill>
                <a:latin typeface="Instrument Sans"/>
              </a:rPr>
              <a:t>Open source, Apache-2.0: </a:t>
            </a:r>
            <a:r>
              <a:rPr sz="1900" b="0">
                <a:solidFill>
                  <a:srgbClr val="0E0F11"/>
                </a:solidFill>
                <a:latin typeface="Instrument Sans"/>
              </a:rPr>
              <a:t>a custody primitive any Stellar tokenized-asset issuer can reuse. Radox will open API access to them, end to end.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6F2"/>
        </a:solidFill>
      </p:bgPr>
    </p:bg>
    <p:spTree>
      <p:nvGrpSpPr>
        <p:cNvPr id="1" name=""/>
        <p:cNvGrpSpPr/>
        <p:nvPr/>
      </p:nvGrpSpPr>
      <p:grpSpPr/>
      <p:sp>
        <p:nvSpPr>
          <p:cNvPr id="106" name="Google Shape;106;p14"/>
          <p:cNvSpPr/>
          <p:nvPr/>
        </p:nvSpPr>
        <p:spPr>
          <a:xfrm>
            <a:off x="0" y="0"/>
            <a:ext cx="18288000" cy="731520"/>
          </a:xfrm>
          <a:prstGeom prst="rect">
            <a:avLst/>
          </a:prstGeom>
          <a:solidFill>
            <a:srgbClr val="0F0F0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07" name="Google Shape;107;p14"/>
          <p:cNvSpPr txBox="1"/>
          <p:nvPr/>
        </p:nvSpPr>
        <p:spPr>
          <a:xfrm>
            <a:off x="914400" y="201168"/>
            <a:ext cx="4572000" cy="32918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PLATFORM 08 / 10</a:t>
            </a:r>
            <a:endParaRPr/>
          </a:p>
        </p:txBody>
      </p:sp>
      <p:sp>
        <p:nvSpPr>
          <p:cNvPr id="108" name="Google Shape;108;p14"/>
          <p:cNvSpPr txBox="1"/>
          <p:nvPr/>
        </p:nvSpPr>
        <p:spPr>
          <a:xfrm>
            <a:off x="5486400" y="201168"/>
            <a:ext cx="7315200" cy="32918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i="0" lang="en-US" sz="1400" u="none" cap="none" strike="noStrike">
                <a:solidFill>
                  <a:srgbClr val="FFFFFF"/>
                </a:solidFill>
                <a:latin typeface="JetBrains Mono"/>
                <a:ea typeface="JetBrains Mono"/>
                <a:cs typeface="JetBrains Mono"/>
                <a:sym typeface="JetBrains Mono"/>
              </a:rPr>
              <a:t>HACKMERIDIAN 2026 · LISBON</a:t>
            </a:r>
            <a:endParaRPr/>
          </a:p>
        </p:txBody>
      </p:sp>
      <p:sp>
        <p:nvSpPr>
          <p:cNvPr id="109" name="Google Shape;109;p14"/>
          <p:cNvSpPr txBox="1"/>
          <p:nvPr/>
        </p:nvSpPr>
        <p:spPr>
          <a:xfrm>
            <a:off x="12801600" y="201168"/>
            <a:ext cx="4572000" cy="329184"/>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NEXT ▸ MARKET AND ASK</a:t>
            </a:r>
            <a:endParaRPr/>
          </a:p>
        </p:txBody>
      </p:sp>
      <p:sp>
        <p:nvSpPr>
          <p:cNvPr id="110" name="Google Shape;110;p14"/>
          <p:cNvSpPr/>
          <p:nvPr/>
        </p:nvSpPr>
        <p:spPr>
          <a:xfrm>
            <a:off x="914400" y="1417320"/>
            <a:ext cx="3291839" cy="475488"/>
          </a:xfrm>
          <a:prstGeom prst="roundRect">
            <a:avLst>
              <a:gd fmla="val 50000" name="adj"/>
            </a:avLst>
          </a:prstGeom>
          <a:solidFill>
            <a:srgbClr val="C6F24E"/>
          </a:solid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1800" u="none" cap="none" strike="noStrike">
                <a:solidFill>
                  <a:srgbClr val="0E0F11"/>
                </a:solidFill>
                <a:latin typeface="JetBrains Mono"/>
                <a:ea typeface="JetBrains Mono"/>
                <a:cs typeface="JetBrains Mono"/>
                <a:sym typeface="JetBrains Mono"/>
              </a:rPr>
              <a:t>HACKATHON PROGRESS</a:t>
            </a:r>
            <a:endParaRPr/>
          </a:p>
        </p:txBody>
      </p:sp>
      <p:sp>
        <p:nvSpPr>
          <p:cNvPr id="121" name="Google Shape;121;p14"/>
          <p:cNvSpPr/>
          <p:nvPr/>
        </p:nvSpPr>
        <p:spPr>
          <a:xfrm>
            <a:off x="914400" y="8915400"/>
            <a:ext cx="16459200" cy="13716"/>
          </a:xfrm>
          <a:prstGeom prst="rect">
            <a:avLst/>
          </a:prstGeom>
          <a:solidFill>
            <a:srgbClr val="DFDDD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22" name="Google Shape;122;p14"/>
          <p:cNvSpPr txBox="1"/>
          <p:nvPr/>
        </p:nvSpPr>
        <p:spPr>
          <a:xfrm>
            <a:off x="914400" y="9253728"/>
            <a:ext cx="9144000" cy="32004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i="0" lang="en-US" sz="1200" u="none" cap="none" strike="noStrike">
                <a:solidFill>
                  <a:srgbClr val="5C5C5C"/>
                </a:solidFill>
                <a:latin typeface="JetBrains Mono"/>
                <a:ea typeface="JetBrains Mono"/>
                <a:cs typeface="JetBrains Mono"/>
                <a:sym typeface="JetBrains Mono"/>
              </a:rPr>
              <a:t>© 2026 HackMeridian · Lisbon  ·  #HackMeridian26</a:t>
            </a:r>
            <a:endParaRPr/>
          </a:p>
        </p:txBody>
      </p:sp>
      <p:pic>
        <p:nvPicPr>
          <p:cNvPr id="123" name="Picture 122" descr="image.png"/>
          <p:cNvPicPr>
            <a:picLocks noChangeAspect="1"/>
          </p:cNvPicPr>
          <p:nvPr/>
        </p:nvPicPr>
        <p:blipFill>
          <a:blip r:embed="rId2"/>
          <a:stretch>
            <a:fillRect/>
          </a:stretch>
        </p:blipFill>
        <p:spPr>
          <a:xfrm>
            <a:off x="14859000" y="9171432"/>
            <a:ext cx="2517969" cy="438912"/>
          </a:xfrm>
          <a:prstGeom prst="rect">
            <a:avLst/>
          </a:prstGeom>
        </p:spPr>
      </p:pic>
      <p:sp>
        <p:nvSpPr>
          <p:cNvPr id="124" name="TextBox 123"/>
          <p:cNvSpPr txBox="1"/>
          <p:nvPr/>
        </p:nvSpPr>
        <p:spPr>
          <a:xfrm>
            <a:off x="914400" y="2011680"/>
            <a:ext cx="16459200" cy="1005840"/>
          </a:xfrm>
          <a:prstGeom prst="rect">
            <a:avLst/>
          </a:prstGeom>
          <a:noFill/>
        </p:spPr>
        <p:txBody>
          <a:bodyPr wrap="square" lIns="0" rIns="0" tIns="0" bIns="0" anchor="t">
            <a:spAutoFit/>
          </a:bodyPr>
          <a:lstStyle/>
          <a:p>
            <a:pPr algn="l">
              <a:lnSpc>
                <a:spcPct val="100000"/>
              </a:lnSpc>
              <a:spcAft>
                <a:spcPts val="600"/>
              </a:spcAft>
            </a:pPr>
            <a:r>
              <a:rPr sz="5800" b="1">
                <a:solidFill>
                  <a:srgbClr val="0E0F11"/>
                </a:solidFill>
                <a:latin typeface="Inter Tight"/>
              </a:rPr>
              <a:t>Built this weekend, on disclosed prior work</a:t>
            </a:r>
          </a:p>
        </p:txBody>
      </p:sp>
      <p:sp>
        <p:nvSpPr>
          <p:cNvPr id="125" name="TextBox 124"/>
          <p:cNvSpPr txBox="1"/>
          <p:nvPr/>
        </p:nvSpPr>
        <p:spPr>
          <a:xfrm>
            <a:off x="914400" y="3200400"/>
            <a:ext cx="7955279" cy="457200"/>
          </a:xfrm>
          <a:prstGeom prst="rect">
            <a:avLst/>
          </a:prstGeom>
          <a:noFill/>
        </p:spPr>
        <p:txBody>
          <a:bodyPr wrap="square" lIns="0" rIns="0" tIns="0" bIns="0" anchor="t">
            <a:spAutoFit/>
          </a:bodyPr>
          <a:lstStyle/>
          <a:p>
            <a:pPr algn="l">
              <a:lnSpc>
                <a:spcPct val="112000"/>
              </a:lnSpc>
              <a:spcAft>
                <a:spcPts val="600"/>
              </a:spcAft>
            </a:pPr>
            <a:r>
              <a:rPr sz="1800" b="1">
                <a:solidFill>
                  <a:srgbClr val="4D5560"/>
                </a:solidFill>
                <a:latin typeface="JetBrains Mono"/>
              </a:rPr>
              <a:t>PRIOR WORK · BEFORE SUN 25 OCT 09:00</a:t>
            </a:r>
          </a:p>
        </p:txBody>
      </p:sp>
      <p:sp>
        <p:nvSpPr>
          <p:cNvPr id="126" name="Rectangle 125"/>
          <p:cNvSpPr/>
          <p:nvPr/>
        </p:nvSpPr>
        <p:spPr>
          <a:xfrm>
            <a:off x="914400" y="3717036"/>
            <a:ext cx="7955279" cy="27432"/>
          </a:xfrm>
          <a:prstGeom prst="rect">
            <a:avLst/>
          </a:prstGeom>
          <a:solidFill>
            <a:srgbClr val="4D556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7" name="TextBox 126"/>
          <p:cNvSpPr txBox="1"/>
          <p:nvPr/>
        </p:nvSpPr>
        <p:spPr>
          <a:xfrm>
            <a:off x="914400" y="3886200"/>
            <a:ext cx="7955279" cy="3383280"/>
          </a:xfrm>
          <a:prstGeom prst="rect">
            <a:avLst/>
          </a:prstGeom>
          <a:noFill/>
        </p:spPr>
        <p:txBody>
          <a:bodyPr wrap="square" lIns="0" rIns="0" tIns="0" bIns="0" anchor="t">
            <a:spAutoFit/>
          </a:bodyPr>
          <a:lstStyle/>
          <a:p>
            <a:pPr algn="l">
              <a:lnSpc>
                <a:spcPct val="112000"/>
              </a:lnSpc>
              <a:spcAft>
                <a:spcPts val="800"/>
              </a:spcAft>
            </a:pPr>
            <a:r>
              <a:rPr sz="2100" b="0">
                <a:solidFill>
                  <a:srgbClr val="4D5560"/>
                </a:solidFill>
                <a:latin typeface="Instrument Sans"/>
              </a:rPr>
              <a:t>— </a:t>
            </a:r>
            <a:r>
              <a:rPr sz="2100" b="0">
                <a:solidFill>
                  <a:srgbClr val="0E0F11"/>
                </a:solidFill>
                <a:latin typeface="Instrument Sans"/>
              </a:rPr>
              <a:t>Radox platform (closed backend); its 3 Soroban contracts are on Stellar mainnet, public since 2026-08-19</a:t>
            </a:r>
          </a:p>
          <a:p>
            <a:pPr algn="l">
              <a:lnSpc>
                <a:spcPct val="112000"/>
              </a:lnSpc>
              <a:spcAft>
                <a:spcPts val="800"/>
              </a:spcAft>
            </a:pPr>
            <a:r>
              <a:rPr sz="2100" b="0">
                <a:solidFill>
                  <a:srgbClr val="4D5560"/>
                </a:solidFill>
                <a:latin typeface="Instrument Sans"/>
              </a:rPr>
              <a:t>— </a:t>
            </a:r>
            <a:r>
              <a:rPr sz="2100" b="0">
                <a:solidFill>
                  <a:srgbClr val="0E0F11"/>
                </a:solidFill>
                <a:latin typeface="Instrument Sans"/>
              </a:rPr>
              <a:t>transfer_agent and its redeem (new testnet instance from the existing wasm)</a:t>
            </a:r>
          </a:p>
          <a:p>
            <a:pPr algn="l">
              <a:lnSpc>
                <a:spcPct val="112000"/>
              </a:lnSpc>
              <a:spcAft>
                <a:spcPts val="800"/>
              </a:spcAft>
            </a:pPr>
            <a:r>
              <a:rPr sz="2100" b="0">
                <a:solidFill>
                  <a:srgbClr val="4D5560"/>
                </a:solidFill>
                <a:latin typeface="Instrument Sans"/>
              </a:rPr>
              <a:t>— </a:t>
            </a:r>
            <a:r>
              <a:rPr sz="2100" b="0">
                <a:solidFill>
                  <a:srgbClr val="0E0F11"/>
                </a:solidFill>
                <a:latin typeface="Instrument Sans"/>
              </a:rPr>
              <a:t>Architecture notes (20 Oct), planning files (24–25 Oct), the explainer video, our agent tooling (from 22 Oct)</a:t>
            </a:r>
          </a:p>
          <a:p>
            <a:pPr algn="l">
              <a:lnSpc>
                <a:spcPct val="112000"/>
              </a:lnSpc>
              <a:spcAft>
                <a:spcPts val="800"/>
              </a:spcAft>
            </a:pPr>
            <a:r>
              <a:rPr sz="2100" b="0">
                <a:solidFill>
                  <a:srgbClr val="4D5560"/>
                </a:solidFill>
                <a:latin typeface="Instrument Sans"/>
              </a:rPr>
              <a:t>— </a:t>
            </a:r>
            <a:r>
              <a:rPr sz="2100" b="0">
                <a:solidFill>
                  <a:srgbClr val="0E0F11"/>
                </a:solidFill>
                <a:latin typeface="Instrument Sans"/>
              </a:rPr>
              <a:t>No contract code before then: first repo commit 25 Oct 09:00 UTC</a:t>
            </a:r>
          </a:p>
        </p:txBody>
      </p:sp>
      <p:sp>
        <p:nvSpPr>
          <p:cNvPr id="128" name="TextBox 127"/>
          <p:cNvSpPr txBox="1"/>
          <p:nvPr/>
        </p:nvSpPr>
        <p:spPr>
          <a:xfrm>
            <a:off x="9418320" y="3200400"/>
            <a:ext cx="7955279" cy="457200"/>
          </a:xfrm>
          <a:prstGeom prst="rect">
            <a:avLst/>
          </a:prstGeom>
          <a:noFill/>
        </p:spPr>
        <p:txBody>
          <a:bodyPr wrap="square" lIns="0" rIns="0" tIns="0" bIns="0" anchor="t">
            <a:spAutoFit/>
          </a:bodyPr>
          <a:lstStyle/>
          <a:p>
            <a:pPr algn="l">
              <a:lnSpc>
                <a:spcPct val="112000"/>
              </a:lnSpc>
              <a:spcAft>
                <a:spcPts val="600"/>
              </a:spcAft>
            </a:pPr>
            <a:r>
              <a:rPr sz="1800" b="1">
                <a:solidFill>
                  <a:srgbClr val="556F00"/>
                </a:solidFill>
                <a:latin typeface="JetBrains Mono"/>
              </a:rPr>
              <a:t>BUILT AT HACKMERIDIAN</a:t>
            </a:r>
          </a:p>
        </p:txBody>
      </p:sp>
      <p:sp>
        <p:nvSpPr>
          <p:cNvPr id="129" name="Rectangle 128"/>
          <p:cNvSpPr/>
          <p:nvPr/>
        </p:nvSpPr>
        <p:spPr>
          <a:xfrm>
            <a:off x="9418320" y="3717036"/>
            <a:ext cx="7955279" cy="27432"/>
          </a:xfrm>
          <a:prstGeom prst="rect">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0" name="TextBox 129"/>
          <p:cNvSpPr txBox="1"/>
          <p:nvPr/>
        </p:nvSpPr>
        <p:spPr>
          <a:xfrm>
            <a:off x="9418320" y="3886200"/>
            <a:ext cx="7955279" cy="3383280"/>
          </a:xfrm>
          <a:prstGeom prst="rect">
            <a:avLst/>
          </a:prstGeom>
          <a:noFill/>
        </p:spPr>
        <p:txBody>
          <a:bodyPr wrap="square" lIns="0" rIns="0" tIns="0" bIns="0" anchor="t">
            <a:spAutoFit/>
          </a:bodyPr>
          <a:lstStyle/>
          <a:p>
            <a:pPr algn="l">
              <a:lnSpc>
                <a:spcPct val="112000"/>
              </a:lnSpc>
              <a:spcAft>
                <a:spcPts val="800"/>
              </a:spcAft>
            </a:pPr>
            <a:r>
              <a:rPr sz="2100" b="0">
                <a:solidFill>
                  <a:srgbClr val="556F00"/>
                </a:solidFill>
                <a:latin typeface="Instrument Sans"/>
              </a:rPr>
              <a:t>— </a:t>
            </a:r>
            <a:r>
              <a:rPr sz="2100" b="0">
                <a:solidFill>
                  <a:srgbClr val="0E0F11"/>
                </a:solidFill>
                <a:latin typeface="Instrument Sans"/>
              </a:rPr>
              <a:t>custody_registry contract, 24 unit tests</a:t>
            </a:r>
          </a:p>
          <a:p>
            <a:pPr algn="l">
              <a:lnSpc>
                <a:spcPct val="112000"/>
              </a:lnSpc>
              <a:spcAft>
                <a:spcPts val="800"/>
              </a:spcAft>
            </a:pPr>
            <a:r>
              <a:rPr sz="2100" b="0">
                <a:solidFill>
                  <a:srgbClr val="556F00"/>
                </a:solidFill>
                <a:latin typeface="Instrument Sans"/>
              </a:rPr>
              <a:t>— </a:t>
            </a:r>
            <a:r>
              <a:rPr sz="2100" b="0">
                <a:solidFill>
                  <a:srgbClr val="0E0F11"/>
                </a:solidFill>
                <a:latin typeface="Instrument Sans"/>
              </a:rPr>
              <a:t>Lifecycle harness: 7 testnet transactions, 9 refused calls</a:t>
            </a:r>
          </a:p>
          <a:p>
            <a:pPr algn="l">
              <a:lnSpc>
                <a:spcPct val="112000"/>
              </a:lnSpc>
              <a:spcAft>
                <a:spcPts val="800"/>
              </a:spcAft>
            </a:pPr>
            <a:r>
              <a:rPr sz="2100" b="0">
                <a:solidFill>
                  <a:srgbClr val="556F00"/>
                </a:solidFill>
                <a:latin typeface="Instrument Sans"/>
              </a:rPr>
              <a:t>— </a:t>
            </a:r>
            <a:r>
              <a:rPr sz="2100" b="0">
                <a:solidFill>
                  <a:srgbClr val="0E0F11"/>
                </a:solidFill>
                <a:latin typeface="Instrument Sans"/>
              </a:rPr>
              <a:t>verify-head script, the public shipment page, this deck</a:t>
            </a:r>
          </a:p>
          <a:p>
            <a:pPr algn="l">
              <a:lnSpc>
                <a:spcPct val="112000"/>
              </a:lnSpc>
              <a:spcAft>
                <a:spcPts val="800"/>
              </a:spcAft>
            </a:pPr>
            <a:r>
              <a:rPr sz="2100" b="0">
                <a:solidFill>
                  <a:srgbClr val="556F00"/>
                </a:solidFill>
                <a:latin typeface="Instrument Sans"/>
              </a:rPr>
              <a:t>— </a:t>
            </a:r>
            <a:r>
              <a:rPr sz="2100" b="0">
                <a:solidFill>
                  <a:srgbClr val="0E0F11"/>
                </a:solidFill>
                <a:latin typeface="Instrument Sans"/>
              </a:rPr>
              <a:t>Radox API custody route reads the registry, read-only: same head (testnet)</a:t>
            </a:r>
          </a:p>
        </p:txBody>
      </p:sp>
      <p:sp>
        <p:nvSpPr>
          <p:cNvPr id="131" name="Rounded Rectangle 130"/>
          <p:cNvSpPr/>
          <p:nvPr/>
        </p:nvSpPr>
        <p:spPr>
          <a:xfrm>
            <a:off x="914400" y="7315200"/>
            <a:ext cx="16459200" cy="1325880"/>
          </a:xfrm>
          <a:prstGeom prst="roundRect">
            <a:avLst>
              <a:gd name="adj" fmla="val 11034"/>
            </a:avLst>
          </a:prstGeom>
          <a:solidFill>
            <a:srgbClr val="FFFFFF"/>
          </a:solidFill>
          <a:ln w="12700">
            <a:solidFill>
              <a:srgbClr val="DFDDD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2" name="TextBox 131"/>
          <p:cNvSpPr txBox="1"/>
          <p:nvPr/>
        </p:nvSpPr>
        <p:spPr>
          <a:xfrm>
            <a:off x="1234440" y="7424927"/>
            <a:ext cx="15819120" cy="1097280"/>
          </a:xfrm>
          <a:prstGeom prst="rect">
            <a:avLst/>
          </a:prstGeom>
          <a:noFill/>
        </p:spPr>
        <p:txBody>
          <a:bodyPr wrap="square" lIns="0" rIns="0" tIns="0" bIns="0" anchor="ctr">
            <a:spAutoFit/>
          </a:bodyPr>
          <a:lstStyle/>
          <a:p>
            <a:pPr algn="l">
              <a:lnSpc>
                <a:spcPct val="112000"/>
              </a:lnSpc>
              <a:spcAft>
                <a:spcPts val="600"/>
              </a:spcAft>
            </a:pPr>
            <a:r>
              <a:rPr sz="1800" b="1">
                <a:solidFill>
                  <a:srgbClr val="556F00"/>
                </a:solidFill>
                <a:latin typeface="JetBrains Mono"/>
              </a:rPr>
              <a:t>AI attribution  </a:t>
            </a:r>
            <a:r>
              <a:rPr sz="2000" b="0">
                <a:solidFill>
                  <a:srgbClr val="0E0F11"/>
                </a:solidFill>
                <a:latin typeface="Instrument Sans"/>
              </a:rPr>
              <a:t>Code, tests, scripts, the shipment page, docs and this deck were made with AI coding agents (Claude Code); the team decided scope and what ships. Per-file record in AI_USAGE.md. The video narration is an AI voice generated from Pedro's voice.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6F2"/>
        </a:solidFill>
      </p:bgPr>
    </p:bg>
    <p:spTree>
      <p:nvGrpSpPr>
        <p:cNvPr id="1" name=""/>
        <p:cNvGrpSpPr/>
        <p:nvPr/>
      </p:nvGrpSpPr>
      <p:grpSpPr/>
      <p:sp>
        <p:nvSpPr>
          <p:cNvPr id="106" name="Google Shape;106;p14"/>
          <p:cNvSpPr/>
          <p:nvPr/>
        </p:nvSpPr>
        <p:spPr>
          <a:xfrm>
            <a:off x="0" y="0"/>
            <a:ext cx="18288000" cy="731520"/>
          </a:xfrm>
          <a:prstGeom prst="rect">
            <a:avLst/>
          </a:prstGeom>
          <a:solidFill>
            <a:srgbClr val="0F0F0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07" name="Google Shape;107;p14"/>
          <p:cNvSpPr txBox="1"/>
          <p:nvPr/>
        </p:nvSpPr>
        <p:spPr>
          <a:xfrm>
            <a:off x="914400" y="201168"/>
            <a:ext cx="4572000" cy="32918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PLATFORM 09 / 10</a:t>
            </a:r>
            <a:endParaRPr/>
          </a:p>
        </p:txBody>
      </p:sp>
      <p:sp>
        <p:nvSpPr>
          <p:cNvPr id="108" name="Google Shape;108;p14"/>
          <p:cNvSpPr txBox="1"/>
          <p:nvPr/>
        </p:nvSpPr>
        <p:spPr>
          <a:xfrm>
            <a:off x="5486400" y="201168"/>
            <a:ext cx="7315200" cy="32918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i="0" lang="en-US" sz="1400" u="none" cap="none" strike="noStrike">
                <a:solidFill>
                  <a:srgbClr val="FFFFFF"/>
                </a:solidFill>
                <a:latin typeface="JetBrains Mono"/>
                <a:ea typeface="JetBrains Mono"/>
                <a:cs typeface="JetBrains Mono"/>
                <a:sym typeface="JetBrains Mono"/>
              </a:rPr>
              <a:t>HACKMERIDIAN 2026 · LISBON</a:t>
            </a:r>
            <a:endParaRPr/>
          </a:p>
        </p:txBody>
      </p:sp>
      <p:sp>
        <p:nvSpPr>
          <p:cNvPr id="109" name="Google Shape;109;p14"/>
          <p:cNvSpPr txBox="1"/>
          <p:nvPr/>
        </p:nvSpPr>
        <p:spPr>
          <a:xfrm>
            <a:off x="12801600" y="201168"/>
            <a:ext cx="4572000" cy="329184"/>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NEXT ▸ THE TEAM</a:t>
            </a:r>
            <a:endParaRPr/>
          </a:p>
        </p:txBody>
      </p:sp>
      <p:sp>
        <p:nvSpPr>
          <p:cNvPr id="110" name="Google Shape;110;p14"/>
          <p:cNvSpPr/>
          <p:nvPr/>
        </p:nvSpPr>
        <p:spPr>
          <a:xfrm>
            <a:off x="914400" y="1417320"/>
            <a:ext cx="4114800" cy="475488"/>
          </a:xfrm>
          <a:prstGeom prst="roundRect">
            <a:avLst>
              <a:gd fmla="val 50000" name="adj"/>
            </a:avLst>
          </a:prstGeom>
          <a:solidFill>
            <a:srgbClr val="C6F24E"/>
          </a:solid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1800" u="none" cap="none" strike="noStrike">
                <a:solidFill>
                  <a:srgbClr val="0E0F11"/>
                </a:solidFill>
                <a:latin typeface="JetBrains Mono"/>
                <a:ea typeface="JetBrains Mono"/>
                <a:cs typeface="JetBrains Mono"/>
                <a:sym typeface="JetBrains Mono"/>
              </a:rPr>
              <a:t>MARKET · MODEL · THE ASK</a:t>
            </a:r>
            <a:endParaRPr/>
          </a:p>
        </p:txBody>
      </p:sp>
      <p:sp>
        <p:nvSpPr>
          <p:cNvPr id="121" name="Google Shape;121;p14"/>
          <p:cNvSpPr/>
          <p:nvPr/>
        </p:nvSpPr>
        <p:spPr>
          <a:xfrm>
            <a:off x="914400" y="8915400"/>
            <a:ext cx="16459200" cy="13716"/>
          </a:xfrm>
          <a:prstGeom prst="rect">
            <a:avLst/>
          </a:prstGeom>
          <a:solidFill>
            <a:srgbClr val="DFDDD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22" name="Google Shape;122;p14"/>
          <p:cNvSpPr txBox="1"/>
          <p:nvPr/>
        </p:nvSpPr>
        <p:spPr>
          <a:xfrm>
            <a:off x="914400" y="9253728"/>
            <a:ext cx="9144000" cy="32004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i="0" lang="en-US" sz="1200" u="none" cap="none" strike="noStrike">
                <a:solidFill>
                  <a:srgbClr val="5C5C5C"/>
                </a:solidFill>
                <a:latin typeface="JetBrains Mono"/>
                <a:ea typeface="JetBrains Mono"/>
                <a:cs typeface="JetBrains Mono"/>
                <a:sym typeface="JetBrains Mono"/>
              </a:rPr>
              <a:t>© 2026 HackMeridian · Lisbon  ·  #HackMeridian26</a:t>
            </a:r>
            <a:endParaRPr/>
          </a:p>
        </p:txBody>
      </p:sp>
      <p:pic>
        <p:nvPicPr>
          <p:cNvPr id="123" name="Picture 122" descr="image.png"/>
          <p:cNvPicPr>
            <a:picLocks noChangeAspect="1"/>
          </p:cNvPicPr>
          <p:nvPr/>
        </p:nvPicPr>
        <p:blipFill>
          <a:blip r:embed="rId2"/>
          <a:stretch>
            <a:fillRect/>
          </a:stretch>
        </p:blipFill>
        <p:spPr>
          <a:xfrm>
            <a:off x="14859000" y="9171432"/>
            <a:ext cx="2517969" cy="438912"/>
          </a:xfrm>
          <a:prstGeom prst="rect">
            <a:avLst/>
          </a:prstGeom>
        </p:spPr>
      </p:pic>
      <p:sp>
        <p:nvSpPr>
          <p:cNvPr id="124" name="TextBox 123"/>
          <p:cNvSpPr txBox="1"/>
          <p:nvPr/>
        </p:nvSpPr>
        <p:spPr>
          <a:xfrm>
            <a:off x="914400" y="2011680"/>
            <a:ext cx="16459200" cy="1005840"/>
          </a:xfrm>
          <a:prstGeom prst="rect">
            <a:avLst/>
          </a:prstGeom>
          <a:noFill/>
        </p:spPr>
        <p:txBody>
          <a:bodyPr wrap="square" lIns="0" rIns="0" tIns="0" bIns="0" anchor="t">
            <a:spAutoFit/>
          </a:bodyPr>
          <a:lstStyle/>
          <a:p>
            <a:pPr algn="l">
              <a:lnSpc>
                <a:spcPct val="100000"/>
              </a:lnSpc>
              <a:spcAft>
                <a:spcPts val="600"/>
              </a:spcAft>
            </a:pPr>
            <a:r>
              <a:rPr sz="5800" b="1">
                <a:solidFill>
                  <a:srgbClr val="0E0F11"/>
                </a:solidFill>
                <a:latin typeface="Inter Tight"/>
              </a:rPr>
              <a:t>One rail, every corridor</a:t>
            </a:r>
          </a:p>
        </p:txBody>
      </p:sp>
      <p:sp>
        <p:nvSpPr>
          <p:cNvPr id="125" name="TextBox 124"/>
          <p:cNvSpPr txBox="1"/>
          <p:nvPr/>
        </p:nvSpPr>
        <p:spPr>
          <a:xfrm>
            <a:off x="914400" y="3017520"/>
            <a:ext cx="9692640" cy="365760"/>
          </a:xfrm>
          <a:prstGeom prst="rect">
            <a:avLst/>
          </a:prstGeom>
          <a:noFill/>
        </p:spPr>
        <p:txBody>
          <a:bodyPr wrap="square" lIns="0" rIns="0" tIns="0" bIns="0" anchor="t">
            <a:spAutoFit/>
          </a:bodyPr>
          <a:lstStyle/>
          <a:p>
            <a:pPr algn="l">
              <a:lnSpc>
                <a:spcPct val="112000"/>
              </a:lnSpc>
              <a:spcAft>
                <a:spcPts val="600"/>
              </a:spcAft>
            </a:pPr>
            <a:r>
              <a:rPr sz="1800" b="1">
                <a:solidFill>
                  <a:srgbClr val="556F00"/>
                </a:solidFill>
                <a:latin typeface="JetBrains Mono"/>
              </a:rPr>
              <a:t>MARKET · SOURCED FIGURES</a:t>
            </a:r>
          </a:p>
        </p:txBody>
      </p:sp>
      <p:sp>
        <p:nvSpPr>
          <p:cNvPr id="126" name="Rectangle 125"/>
          <p:cNvSpPr/>
          <p:nvPr/>
        </p:nvSpPr>
        <p:spPr>
          <a:xfrm>
            <a:off x="914400" y="3442715"/>
            <a:ext cx="9692640" cy="27432"/>
          </a:xfrm>
          <a:prstGeom prst="rect">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7" name="TextBox 126"/>
          <p:cNvSpPr txBox="1"/>
          <p:nvPr/>
        </p:nvSpPr>
        <p:spPr>
          <a:xfrm>
            <a:off x="914400" y="3611880"/>
            <a:ext cx="4663440" cy="777240"/>
          </a:xfrm>
          <a:prstGeom prst="rect">
            <a:avLst/>
          </a:prstGeom>
          <a:noFill/>
        </p:spPr>
        <p:txBody>
          <a:bodyPr wrap="square" lIns="0" rIns="0" tIns="0" bIns="0" anchor="t">
            <a:spAutoFit/>
          </a:bodyPr>
          <a:lstStyle/>
          <a:p>
            <a:pPr algn="l">
              <a:lnSpc>
                <a:spcPct val="95000"/>
              </a:lnSpc>
              <a:spcAft>
                <a:spcPts val="600"/>
              </a:spcAft>
            </a:pPr>
            <a:r>
              <a:rPr sz="4800" b="1">
                <a:solidFill>
                  <a:srgbClr val="0E0F11"/>
                </a:solidFill>
                <a:latin typeface="Inter Tight"/>
              </a:rPr>
              <a:t>US$94.2B</a:t>
            </a:r>
          </a:p>
        </p:txBody>
      </p:sp>
      <p:sp>
        <p:nvSpPr>
          <p:cNvPr id="128" name="TextBox 127"/>
          <p:cNvSpPr txBox="1"/>
          <p:nvPr/>
        </p:nvSpPr>
        <p:spPr>
          <a:xfrm>
            <a:off x="914400" y="4389120"/>
            <a:ext cx="4663440" cy="731520"/>
          </a:xfrm>
          <a:prstGeom prst="rect">
            <a:avLst/>
          </a:prstGeom>
          <a:noFill/>
        </p:spPr>
        <p:txBody>
          <a:bodyPr wrap="square" lIns="0" rIns="0" tIns="0" bIns="0" anchor="t">
            <a:spAutoFit/>
          </a:bodyPr>
          <a:lstStyle/>
          <a:p>
            <a:pPr algn="l">
              <a:lnSpc>
                <a:spcPct val="112000"/>
              </a:lnSpc>
              <a:spcAft>
                <a:spcPts val="600"/>
              </a:spcAft>
            </a:pPr>
            <a:r>
              <a:rPr sz="2000" b="1">
                <a:solidFill>
                  <a:srgbClr val="0E0F11"/>
                </a:solidFill>
                <a:latin typeface="Instrument Sans"/>
              </a:rPr>
              <a:t>US–Brazil goods trade, 2025¹</a:t>
            </a:r>
          </a:p>
        </p:txBody>
      </p:sp>
      <p:sp>
        <p:nvSpPr>
          <p:cNvPr id="129" name="TextBox 128"/>
          <p:cNvSpPr txBox="1"/>
          <p:nvPr/>
        </p:nvSpPr>
        <p:spPr>
          <a:xfrm>
            <a:off x="5852160" y="3611880"/>
            <a:ext cx="4663440" cy="777240"/>
          </a:xfrm>
          <a:prstGeom prst="rect">
            <a:avLst/>
          </a:prstGeom>
          <a:noFill/>
        </p:spPr>
        <p:txBody>
          <a:bodyPr wrap="square" lIns="0" rIns="0" tIns="0" bIns="0" anchor="t">
            <a:spAutoFit/>
          </a:bodyPr>
          <a:lstStyle/>
          <a:p>
            <a:pPr algn="l">
              <a:lnSpc>
                <a:spcPct val="95000"/>
              </a:lnSpc>
              <a:spcAft>
                <a:spcPts val="600"/>
              </a:spcAft>
            </a:pPr>
            <a:r>
              <a:rPr sz="4800" b="1">
                <a:solidFill>
                  <a:srgbClr val="0E0F11"/>
                </a:solidFill>
                <a:latin typeface="Inter Tight"/>
              </a:rPr>
              <a:t>US$6.1B</a:t>
            </a:r>
          </a:p>
        </p:txBody>
      </p:sp>
      <p:sp>
        <p:nvSpPr>
          <p:cNvPr id="130" name="TextBox 129"/>
          <p:cNvSpPr txBox="1"/>
          <p:nvPr/>
        </p:nvSpPr>
        <p:spPr>
          <a:xfrm>
            <a:off x="5852160" y="4389120"/>
            <a:ext cx="4663440" cy="731520"/>
          </a:xfrm>
          <a:prstGeom prst="rect">
            <a:avLst/>
          </a:prstGeom>
          <a:noFill/>
        </p:spPr>
        <p:txBody>
          <a:bodyPr wrap="square" lIns="0" rIns="0" tIns="0" bIns="0" anchor="t">
            <a:spAutoFit/>
          </a:bodyPr>
          <a:lstStyle/>
          <a:p>
            <a:pPr algn="l">
              <a:lnSpc>
                <a:spcPct val="112000"/>
              </a:lnSpc>
              <a:spcAft>
                <a:spcPts val="600"/>
              </a:spcAft>
            </a:pPr>
            <a:r>
              <a:rPr sz="2000" b="1">
                <a:solidFill>
                  <a:srgbClr val="0E0F11"/>
                </a:solidFill>
                <a:latin typeface="Instrument Sans"/>
              </a:rPr>
              <a:t>Florida's goods exports to Brazil, its #1 market, 2025²</a:t>
            </a:r>
          </a:p>
        </p:txBody>
      </p:sp>
      <p:sp>
        <p:nvSpPr>
          <p:cNvPr id="131" name="TextBox 130"/>
          <p:cNvSpPr txBox="1"/>
          <p:nvPr/>
        </p:nvSpPr>
        <p:spPr>
          <a:xfrm>
            <a:off x="914400" y="5230368"/>
            <a:ext cx="9692640" cy="731520"/>
          </a:xfrm>
          <a:prstGeom prst="rect">
            <a:avLst/>
          </a:prstGeom>
          <a:noFill/>
        </p:spPr>
        <p:txBody>
          <a:bodyPr wrap="square" lIns="0" rIns="0" tIns="0" bIns="0" anchor="t">
            <a:spAutoFit/>
          </a:bodyPr>
          <a:lstStyle/>
          <a:p>
            <a:pPr algn="l">
              <a:lnSpc>
                <a:spcPct val="112000"/>
              </a:lnSpc>
              <a:spcAft>
                <a:spcPts val="600"/>
              </a:spcAft>
            </a:pPr>
            <a:r>
              <a:rPr sz="2000" b="1">
                <a:solidFill>
                  <a:srgbClr val="0E0F11"/>
                </a:solidFill>
                <a:latin typeface="Instrument Sans"/>
              </a:rPr>
              <a:t>Global: </a:t>
            </a:r>
            <a:r>
              <a:rPr sz="2000" b="0">
                <a:solidFill>
                  <a:srgbClr val="0E0F11"/>
                </a:solidFill>
                <a:latin typeface="Instrument Sans"/>
              </a:rPr>
              <a:t>US$26.26T world merchandise exports, 2025³; ~80% of goods trade by volume goes by sea⁴; ~45M ocean bills of lading a year⁵.</a:t>
            </a:r>
          </a:p>
        </p:txBody>
      </p:sp>
      <p:sp>
        <p:nvSpPr>
          <p:cNvPr id="132" name="TextBox 131"/>
          <p:cNvSpPr txBox="1"/>
          <p:nvPr/>
        </p:nvSpPr>
        <p:spPr>
          <a:xfrm>
            <a:off x="11338560" y="3017520"/>
            <a:ext cx="6035040" cy="365760"/>
          </a:xfrm>
          <a:prstGeom prst="rect">
            <a:avLst/>
          </a:prstGeom>
          <a:noFill/>
        </p:spPr>
        <p:txBody>
          <a:bodyPr wrap="square" lIns="0" rIns="0" tIns="0" bIns="0" anchor="t">
            <a:spAutoFit/>
          </a:bodyPr>
          <a:lstStyle/>
          <a:p>
            <a:pPr algn="l">
              <a:lnSpc>
                <a:spcPct val="112000"/>
              </a:lnSpc>
              <a:spcAft>
                <a:spcPts val="600"/>
              </a:spcAft>
            </a:pPr>
            <a:r>
              <a:rPr sz="1800" b="1">
                <a:solidFill>
                  <a:srgbClr val="0E0F11"/>
                </a:solidFill>
                <a:latin typeface="JetBrains Mono"/>
              </a:rPr>
              <a:t>MODEL</a:t>
            </a:r>
          </a:p>
        </p:txBody>
      </p:sp>
      <p:sp>
        <p:nvSpPr>
          <p:cNvPr id="133" name="Rectangle 132"/>
          <p:cNvSpPr/>
          <p:nvPr/>
        </p:nvSpPr>
        <p:spPr>
          <a:xfrm>
            <a:off x="11338560" y="3442715"/>
            <a:ext cx="6035040" cy="27432"/>
          </a:xfrm>
          <a:prstGeom prst="rect">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4" name="TextBox 133"/>
          <p:cNvSpPr txBox="1"/>
          <p:nvPr/>
        </p:nvSpPr>
        <p:spPr>
          <a:xfrm>
            <a:off x="11338560" y="3611880"/>
            <a:ext cx="6035040" cy="1280160"/>
          </a:xfrm>
          <a:prstGeom prst="rect">
            <a:avLst/>
          </a:prstGeom>
          <a:noFill/>
        </p:spPr>
        <p:txBody>
          <a:bodyPr wrap="square" lIns="0" rIns="0" tIns="0" bIns="0" anchor="t">
            <a:spAutoFit/>
          </a:bodyPr>
          <a:lstStyle/>
          <a:p>
            <a:pPr algn="l">
              <a:lnSpc>
                <a:spcPct val="100000"/>
              </a:lnSpc>
              <a:spcAft>
                <a:spcPts val="600"/>
              </a:spcAft>
            </a:pPr>
            <a:r>
              <a:rPr sz="2600" b="1">
                <a:solidFill>
                  <a:srgbClr val="0E0F11"/>
                </a:solidFill>
                <a:latin typeface="Inter Tight"/>
              </a:rPr>
              <a:t>Subscription per connected institution + a fee per shipment.</a:t>
            </a:r>
          </a:p>
        </p:txBody>
      </p:sp>
      <p:sp>
        <p:nvSpPr>
          <p:cNvPr id="135" name="TextBox 134"/>
          <p:cNvSpPr txBox="1"/>
          <p:nvPr/>
        </p:nvSpPr>
        <p:spPr>
          <a:xfrm>
            <a:off x="11338560" y="4800600"/>
            <a:ext cx="6035040" cy="1280160"/>
          </a:xfrm>
          <a:prstGeom prst="rect">
            <a:avLst/>
          </a:prstGeom>
          <a:noFill/>
        </p:spPr>
        <p:txBody>
          <a:bodyPr wrap="square" lIns="0" rIns="0" tIns="0" bIns="0" anchor="t">
            <a:spAutoFit/>
          </a:bodyPr>
          <a:lstStyle/>
          <a:p>
            <a:pPr algn="l">
              <a:lnSpc>
                <a:spcPct val="112000"/>
              </a:lnSpc>
              <a:spcAft>
                <a:spcPts val="600"/>
              </a:spcAft>
            </a:pPr>
            <a:r>
              <a:rPr sz="2000" b="0">
                <a:solidFill>
                  <a:srgbClr val="4D5560"/>
                </a:solidFill>
                <a:latin typeface="Instrument Sans"/>
              </a:rPr>
              <a:t>Borrows the shape of Swift's billing rules: entry, annual, per-message usage⁶. Not affiliated with Swift.</a:t>
            </a:r>
          </a:p>
        </p:txBody>
      </p:sp>
      <p:sp>
        <p:nvSpPr>
          <p:cNvPr id="136" name="TextBox 135"/>
          <p:cNvSpPr txBox="1"/>
          <p:nvPr/>
        </p:nvSpPr>
        <p:spPr>
          <a:xfrm>
            <a:off x="914400" y="6035040"/>
            <a:ext cx="16459200" cy="411480"/>
          </a:xfrm>
          <a:prstGeom prst="rect">
            <a:avLst/>
          </a:prstGeom>
          <a:noFill/>
        </p:spPr>
        <p:txBody>
          <a:bodyPr wrap="square" lIns="0" rIns="0" tIns="0" bIns="0" anchor="t">
            <a:spAutoFit/>
          </a:bodyPr>
          <a:lstStyle/>
          <a:p>
            <a:pPr algn="l">
              <a:lnSpc>
                <a:spcPct val="112000"/>
              </a:lnSpc>
              <a:spcAft>
                <a:spcPts val="600"/>
              </a:spcAft>
            </a:pPr>
            <a:r>
              <a:rPr sz="2000" b="1">
                <a:solidFill>
                  <a:srgbClr val="556F00"/>
                </a:solidFill>
                <a:latin typeface="JetBrains Mono"/>
              </a:rPr>
              <a:t>Now </a:t>
            </a:r>
            <a:r>
              <a:rPr sz="2000" b="0">
                <a:solidFill>
                  <a:srgbClr val="0E0F11"/>
                </a:solidFill>
                <a:latin typeface="Instrument Sans"/>
              </a:rPr>
              <a:t>running on testnet, test keys.  </a:t>
            </a:r>
            <a:r>
              <a:rPr sz="2000" b="1">
                <a:solidFill>
                  <a:srgbClr val="556F00"/>
                </a:solidFill>
                <a:latin typeface="JetBrains Mono"/>
              </a:rPr>
              <a:t>Next </a:t>
            </a:r>
            <a:r>
              <a:rPr sz="2000" b="0">
                <a:solidFill>
                  <a:srgbClr val="0E0F11"/>
                </a:solidFill>
                <a:latin typeface="Instrument Sans"/>
              </a:rPr>
              <a:t>the Rio–Miami pilot shipment, SCF Build, audit, mainnet, API for other Stellar assets.</a:t>
            </a:r>
          </a:p>
        </p:txBody>
      </p:sp>
      <p:sp>
        <p:nvSpPr>
          <p:cNvPr id="137" name="TextBox 136"/>
          <p:cNvSpPr txBox="1"/>
          <p:nvPr/>
        </p:nvSpPr>
        <p:spPr>
          <a:xfrm>
            <a:off x="914400" y="6510528"/>
            <a:ext cx="16459200" cy="640080"/>
          </a:xfrm>
          <a:prstGeom prst="rect">
            <a:avLst/>
          </a:prstGeom>
          <a:noFill/>
        </p:spPr>
        <p:txBody>
          <a:bodyPr wrap="square" lIns="0" rIns="0" tIns="0" bIns="0" anchor="t">
            <a:spAutoFit/>
          </a:bodyPr>
          <a:lstStyle/>
          <a:p>
            <a:pPr algn="l">
              <a:lnSpc>
                <a:spcPct val="100000"/>
              </a:lnSpc>
              <a:spcAft>
                <a:spcPts val="0"/>
              </a:spcAft>
            </a:pPr>
            <a:r>
              <a:rPr sz="1800" b="0">
                <a:solidFill>
                  <a:srgbClr val="4D5560"/>
                </a:solidFill>
                <a:latin typeface="Instrument Sans"/>
              </a:rPr>
              <a:t>¹ US Census Bureau, Trade in Goods with Brazil, 2025 (exports + imports, sum ours)  ² USTR, Florida trade data, 2025  ³ WTO, Mar 2026  ⁴ UNCTAD, Review of Maritime Transport (undated page, opened 25 Oct 2026)  ⁵ DCSA, Feb 2023  ⁶ swift.com billing rules, accessed 25 Oct 2026</a:t>
            </a:r>
          </a:p>
        </p:txBody>
      </p:sp>
      <p:sp>
        <p:nvSpPr>
          <p:cNvPr id="138" name="Rounded Rectangle 137"/>
          <p:cNvSpPr/>
          <p:nvPr/>
        </p:nvSpPr>
        <p:spPr>
          <a:xfrm>
            <a:off x="914400" y="7223760"/>
            <a:ext cx="16459200" cy="1234440"/>
          </a:xfrm>
          <a:prstGeom prst="roundRect">
            <a:avLst>
              <a:gd name="adj" fmla="val 11851"/>
            </a:avLst>
          </a:prstGeom>
          <a:solidFill>
            <a:srgbClr val="C6F24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9" name="TextBox 138"/>
          <p:cNvSpPr txBox="1"/>
          <p:nvPr/>
        </p:nvSpPr>
        <p:spPr>
          <a:xfrm>
            <a:off x="1325880" y="7223760"/>
            <a:ext cx="15636240" cy="1234440"/>
          </a:xfrm>
          <a:prstGeom prst="rect">
            <a:avLst/>
          </a:prstGeom>
          <a:noFill/>
        </p:spPr>
        <p:txBody>
          <a:bodyPr wrap="square" lIns="0" rIns="0" tIns="0" bIns="0" anchor="ctr">
            <a:spAutoFit/>
          </a:bodyPr>
          <a:lstStyle/>
          <a:p>
            <a:pPr algn="l">
              <a:lnSpc>
                <a:spcPct val="112000"/>
              </a:lnSpc>
              <a:spcAft>
                <a:spcPts val="600"/>
              </a:spcAft>
            </a:pPr>
            <a:r>
              <a:rPr sz="2000" b="1">
                <a:solidFill>
                  <a:srgbClr val="0E0F11"/>
                </a:solidFill>
                <a:latin typeface="JetBrains Mono"/>
              </a:rPr>
              <a:t>Our ask  </a:t>
            </a:r>
            <a:r>
              <a:rPr sz="2400" b="1">
                <a:solidFill>
                  <a:srgbClr val="0E0F11"/>
                </a:solidFill>
                <a:latin typeface="Instrument Sans"/>
              </a:rPr>
              <a:t>Introductions to one financial institution and one port, airport or logistics operator for a first pilot shipment, and a Stellar engineer's review of the design.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6F2"/>
        </a:solidFill>
      </p:bgPr>
    </p:bg>
    <p:spTree>
      <p:nvGrpSpPr>
        <p:cNvPr id="1" name=""/>
        <p:cNvGrpSpPr/>
        <p:nvPr/>
      </p:nvGrpSpPr>
      <p:grpSpPr/>
      <p:sp>
        <p:nvSpPr>
          <p:cNvPr id="106" name="Google Shape;106;p14"/>
          <p:cNvSpPr/>
          <p:nvPr/>
        </p:nvSpPr>
        <p:spPr>
          <a:xfrm>
            <a:off x="0" y="0"/>
            <a:ext cx="18288000" cy="731520"/>
          </a:xfrm>
          <a:prstGeom prst="rect">
            <a:avLst/>
          </a:prstGeom>
          <a:solidFill>
            <a:srgbClr val="0F0F0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07" name="Google Shape;107;p14"/>
          <p:cNvSpPr txBox="1"/>
          <p:nvPr/>
        </p:nvSpPr>
        <p:spPr>
          <a:xfrm>
            <a:off x="914400" y="201168"/>
            <a:ext cx="4572000" cy="32918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PLATFORM 10 / 10</a:t>
            </a:r>
            <a:endParaRPr/>
          </a:p>
        </p:txBody>
      </p:sp>
      <p:sp>
        <p:nvSpPr>
          <p:cNvPr id="108" name="Google Shape;108;p14"/>
          <p:cNvSpPr txBox="1"/>
          <p:nvPr/>
        </p:nvSpPr>
        <p:spPr>
          <a:xfrm>
            <a:off x="5486400" y="201168"/>
            <a:ext cx="7315200" cy="32918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i="0" lang="en-US" sz="1400" u="none" cap="none" strike="noStrike">
                <a:solidFill>
                  <a:srgbClr val="FFFFFF"/>
                </a:solidFill>
                <a:latin typeface="JetBrains Mono"/>
                <a:ea typeface="JetBrains Mono"/>
                <a:cs typeface="JetBrains Mono"/>
                <a:sym typeface="JetBrains Mono"/>
              </a:rPr>
              <a:t>HACKMERIDIAN 2026 · LISBON</a:t>
            </a:r>
            <a:endParaRPr/>
          </a:p>
        </p:txBody>
      </p:sp>
      <p:sp>
        <p:nvSpPr>
          <p:cNvPr id="109" name="Google Shape;109;p14"/>
          <p:cNvSpPr txBox="1"/>
          <p:nvPr/>
        </p:nvSpPr>
        <p:spPr>
          <a:xfrm>
            <a:off x="12801600" y="201168"/>
            <a:ext cx="4572000" cy="329184"/>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1" i="0" lang="en-US" sz="1400" u="none" cap="none" strike="noStrike">
                <a:solidFill>
                  <a:srgbClr val="FFFFFF"/>
                </a:solidFill>
                <a:latin typeface="JetBrains Mono"/>
                <a:ea typeface="JetBrains Mono"/>
                <a:cs typeface="JetBrains Mono"/>
                <a:sym typeface="JetBrains Mono"/>
              </a:rPr>
              <a:t>FINAL STOP</a:t>
            </a:r>
            <a:endParaRPr/>
          </a:p>
        </p:txBody>
      </p:sp>
      <p:sp>
        <p:nvSpPr>
          <p:cNvPr id="110" name="Google Shape;110;p14"/>
          <p:cNvSpPr/>
          <p:nvPr/>
        </p:nvSpPr>
        <p:spPr>
          <a:xfrm>
            <a:off x="914400" y="1417320"/>
            <a:ext cx="1920240" cy="475488"/>
          </a:xfrm>
          <a:prstGeom prst="roundRect">
            <a:avLst>
              <a:gd fmla="val 50000" name="adj"/>
            </a:avLst>
          </a:prstGeom>
          <a:solidFill>
            <a:srgbClr val="C6F24E"/>
          </a:solid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1800" u="none" cap="none" strike="noStrike">
                <a:solidFill>
                  <a:srgbClr val="0E0F11"/>
                </a:solidFill>
                <a:latin typeface="JetBrains Mono"/>
                <a:ea typeface="JetBrains Mono"/>
                <a:cs typeface="JetBrains Mono"/>
                <a:sym typeface="JetBrains Mono"/>
              </a:rPr>
              <a:t>THE TEAM</a:t>
            </a:r>
            <a:endParaRPr/>
          </a:p>
        </p:txBody>
      </p:sp>
      <p:sp>
        <p:nvSpPr>
          <p:cNvPr id="121" name="Google Shape;121;p14"/>
          <p:cNvSpPr/>
          <p:nvPr/>
        </p:nvSpPr>
        <p:spPr>
          <a:xfrm>
            <a:off x="914400" y="8915400"/>
            <a:ext cx="16459200" cy="13716"/>
          </a:xfrm>
          <a:prstGeom prst="rect">
            <a:avLst/>
          </a:prstGeom>
          <a:solidFill>
            <a:srgbClr val="DFDDD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22" name="Google Shape;122;p14"/>
          <p:cNvSpPr txBox="1"/>
          <p:nvPr/>
        </p:nvSpPr>
        <p:spPr>
          <a:xfrm>
            <a:off x="914400" y="9253728"/>
            <a:ext cx="9144000" cy="32004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i="0" lang="en-US" sz="1200" u="none" cap="none" strike="noStrike">
                <a:solidFill>
                  <a:srgbClr val="5C5C5C"/>
                </a:solidFill>
                <a:latin typeface="JetBrains Mono"/>
                <a:ea typeface="JetBrains Mono"/>
                <a:cs typeface="JetBrains Mono"/>
                <a:sym typeface="JetBrains Mono"/>
              </a:rPr>
              <a:t>© 2026 HackMeridian · Lisbon  ·  #HackMeridian26</a:t>
            </a:r>
            <a:endParaRPr/>
          </a:p>
        </p:txBody>
      </p:sp>
      <p:pic>
        <p:nvPicPr>
          <p:cNvPr id="123" name="Picture 122" descr="image.png"/>
          <p:cNvPicPr>
            <a:picLocks noChangeAspect="1"/>
          </p:cNvPicPr>
          <p:nvPr/>
        </p:nvPicPr>
        <p:blipFill>
          <a:blip r:embed="rId2"/>
          <a:stretch>
            <a:fillRect/>
          </a:stretch>
        </p:blipFill>
        <p:spPr>
          <a:xfrm>
            <a:off x="14859000" y="9171432"/>
            <a:ext cx="2517969" cy="438912"/>
          </a:xfrm>
          <a:prstGeom prst="rect">
            <a:avLst/>
          </a:prstGeom>
        </p:spPr>
      </p:pic>
      <p:sp>
        <p:nvSpPr>
          <p:cNvPr id="124" name="TextBox 123"/>
          <p:cNvSpPr txBox="1"/>
          <p:nvPr/>
        </p:nvSpPr>
        <p:spPr>
          <a:xfrm>
            <a:off x="914400" y="2011680"/>
            <a:ext cx="16459200" cy="1005840"/>
          </a:xfrm>
          <a:prstGeom prst="rect">
            <a:avLst/>
          </a:prstGeom>
          <a:noFill/>
        </p:spPr>
        <p:txBody>
          <a:bodyPr wrap="square" lIns="0" rIns="0" tIns="0" bIns="0" anchor="t">
            <a:spAutoFit/>
          </a:bodyPr>
          <a:lstStyle/>
          <a:p>
            <a:pPr algn="l">
              <a:lnSpc>
                <a:spcPct val="100000"/>
              </a:lnSpc>
              <a:spcAft>
                <a:spcPts val="600"/>
              </a:spcAft>
            </a:pPr>
            <a:r>
              <a:rPr sz="5800" b="1">
                <a:solidFill>
                  <a:srgbClr val="0E0F11"/>
                </a:solidFill>
                <a:latin typeface="Inter Tight"/>
              </a:rPr>
              <a:t>Why us: a founder already on Stellar mainnet</a:t>
            </a:r>
          </a:p>
        </p:txBody>
      </p:sp>
      <p:sp>
        <p:nvSpPr>
          <p:cNvPr id="125" name="TextBox 124"/>
          <p:cNvSpPr txBox="1"/>
          <p:nvPr/>
        </p:nvSpPr>
        <p:spPr>
          <a:xfrm>
            <a:off x="914400" y="3108960"/>
            <a:ext cx="9875520" cy="1188720"/>
          </a:xfrm>
          <a:prstGeom prst="rect">
            <a:avLst/>
          </a:prstGeom>
          <a:noFill/>
        </p:spPr>
        <p:txBody>
          <a:bodyPr wrap="square" lIns="0" rIns="0" tIns="0" bIns="0" anchor="t">
            <a:spAutoFit/>
          </a:bodyPr>
          <a:lstStyle/>
          <a:p>
            <a:pPr algn="l">
              <a:lnSpc>
                <a:spcPct val="112000"/>
              </a:lnSpc>
              <a:spcAft>
                <a:spcPts val="400"/>
              </a:spcAft>
            </a:pPr>
            <a:r>
              <a:rPr sz="3000" b="1">
                <a:solidFill>
                  <a:srgbClr val="0E0F11"/>
                </a:solidFill>
                <a:latin typeface="Inter Tight"/>
              </a:rPr>
              <a:t>Pedro Wakigawa Saragossy</a:t>
            </a:r>
          </a:p>
          <a:p>
            <a:pPr algn="l">
              <a:lnSpc>
                <a:spcPct val="112000"/>
              </a:lnSpc>
              <a:spcAft>
                <a:spcPts val="400"/>
              </a:spcAft>
            </a:pPr>
            <a:r>
              <a:rPr sz="2100" b="0">
                <a:solidFill>
                  <a:srgbClr val="0E0F11"/>
                </a:solidFill>
                <a:latin typeface="Instrument Sans"/>
              </a:rPr>
              <a:t>Founder, captain. Built Radox: 3 Soroban contracts on Stellar mainnet.</a:t>
            </a:r>
          </a:p>
        </p:txBody>
      </p:sp>
      <p:sp>
        <p:nvSpPr>
          <p:cNvPr id="126" name="TextBox 125"/>
          <p:cNvSpPr txBox="1"/>
          <p:nvPr/>
        </p:nvSpPr>
        <p:spPr>
          <a:xfrm>
            <a:off x="914400" y="4251960"/>
            <a:ext cx="9875520" cy="1188720"/>
          </a:xfrm>
          <a:prstGeom prst="rect">
            <a:avLst/>
          </a:prstGeom>
          <a:noFill/>
        </p:spPr>
        <p:txBody>
          <a:bodyPr wrap="square" lIns="0" rIns="0" tIns="0" bIns="0" anchor="t">
            <a:spAutoFit/>
          </a:bodyPr>
          <a:lstStyle/>
          <a:p>
            <a:pPr algn="l">
              <a:lnSpc>
                <a:spcPct val="112000"/>
              </a:lnSpc>
              <a:spcAft>
                <a:spcPts val="400"/>
              </a:spcAft>
            </a:pPr>
            <a:r>
              <a:rPr sz="3000" b="1">
                <a:solidFill>
                  <a:srgbClr val="0E0F11"/>
                </a:solidFill>
                <a:latin typeface="Inter Tight"/>
              </a:rPr>
              <a:t>Leo Schlanger</a:t>
            </a:r>
          </a:p>
          <a:p>
            <a:pPr algn="l">
              <a:lnSpc>
                <a:spcPct val="112000"/>
              </a:lnSpc>
              <a:spcAft>
                <a:spcPts val="400"/>
              </a:spcAft>
            </a:pPr>
            <a:r>
              <a:rPr sz="2100" b="0">
                <a:solidFill>
                  <a:srgbClr val="0E0F11"/>
                </a:solidFill>
                <a:latin typeface="Instrument Sans"/>
              </a:rPr>
              <a:t>Developer: custody_registry, the testnet harness and the proofs.</a:t>
            </a:r>
          </a:p>
        </p:txBody>
      </p:sp>
      <p:sp>
        <p:nvSpPr>
          <p:cNvPr id="127" name="TextBox 126"/>
          <p:cNvSpPr txBox="1"/>
          <p:nvPr/>
        </p:nvSpPr>
        <p:spPr>
          <a:xfrm>
            <a:off x="914400" y="5394960"/>
            <a:ext cx="9875520" cy="1188720"/>
          </a:xfrm>
          <a:prstGeom prst="rect">
            <a:avLst/>
          </a:prstGeom>
          <a:noFill/>
        </p:spPr>
        <p:txBody>
          <a:bodyPr wrap="square" lIns="0" rIns="0" tIns="0" bIns="0" anchor="t">
            <a:spAutoFit/>
          </a:bodyPr>
          <a:lstStyle/>
          <a:p>
            <a:pPr algn="l">
              <a:lnSpc>
                <a:spcPct val="112000"/>
              </a:lnSpc>
              <a:spcAft>
                <a:spcPts val="400"/>
              </a:spcAft>
            </a:pPr>
            <a:r>
              <a:rPr sz="3000" b="1">
                <a:solidFill>
                  <a:srgbClr val="0E0F11"/>
                </a:solidFill>
                <a:latin typeface="Inter Tight"/>
              </a:rPr>
              <a:t>Vhendala</a:t>
            </a:r>
          </a:p>
          <a:p>
            <a:pPr algn="l">
              <a:lnSpc>
                <a:spcPct val="112000"/>
              </a:lnSpc>
              <a:spcAft>
                <a:spcPts val="400"/>
              </a:spcAft>
            </a:pPr>
            <a:r>
              <a:rPr sz="2100" b="0">
                <a:solidFill>
                  <a:srgbClr val="0E0F11"/>
                </a:solidFill>
                <a:latin typeface="Instrument Sans"/>
              </a:rPr>
              <a:t>QA and product review: reads every deliverable as a judge would.</a:t>
            </a:r>
          </a:p>
        </p:txBody>
      </p:sp>
      <p:sp>
        <p:nvSpPr>
          <p:cNvPr id="128" name="TextBox 127"/>
          <p:cNvSpPr txBox="1"/>
          <p:nvPr/>
        </p:nvSpPr>
        <p:spPr>
          <a:xfrm>
            <a:off x="914400" y="6537960"/>
            <a:ext cx="9692640" cy="457200"/>
          </a:xfrm>
          <a:prstGeom prst="rect">
            <a:avLst/>
          </a:prstGeom>
          <a:noFill/>
        </p:spPr>
        <p:txBody>
          <a:bodyPr wrap="square" lIns="0" rIns="0" tIns="0" bIns="0" anchor="t">
            <a:spAutoFit/>
          </a:bodyPr>
          <a:lstStyle/>
          <a:p>
            <a:pPr algn="l">
              <a:lnSpc>
                <a:spcPct val="112000"/>
              </a:lnSpc>
              <a:spcAft>
                <a:spcPts val="600"/>
              </a:spcAft>
            </a:pPr>
            <a:r>
              <a:rPr sz="2000" b="0">
                <a:solidFill>
                  <a:srgbClr val="4D5560"/>
                </a:solidFill>
                <a:latin typeface="Instrument Sans"/>
              </a:rPr>
              <a:t>Leo and Vhendala joined for the hackathon.</a:t>
            </a:r>
          </a:p>
        </p:txBody>
      </p:sp>
      <p:sp>
        <p:nvSpPr>
          <p:cNvPr id="129" name="Rounded Rectangle 128"/>
          <p:cNvSpPr/>
          <p:nvPr/>
        </p:nvSpPr>
        <p:spPr>
          <a:xfrm>
            <a:off x="11338560" y="3108960"/>
            <a:ext cx="6035040" cy="3657600"/>
          </a:xfrm>
          <a:prstGeom prst="roundRect">
            <a:avLst>
              <a:gd name="adj" fmla="val 4000"/>
            </a:avLst>
          </a:prstGeom>
          <a:noFill/>
          <a:ln w="12700">
            <a:solidFill>
              <a:srgbClr val="4D5560"/>
            </a:solidFill>
            <a:prstDash val="dash"/>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0" name="TextBox 129"/>
          <p:cNvSpPr txBox="1"/>
          <p:nvPr/>
        </p:nvSpPr>
        <p:spPr>
          <a:xfrm>
            <a:off x="11338560" y="3108960"/>
            <a:ext cx="6035040" cy="3657600"/>
          </a:xfrm>
          <a:prstGeom prst="rect">
            <a:avLst/>
          </a:prstGeom>
          <a:noFill/>
        </p:spPr>
        <p:txBody>
          <a:bodyPr wrap="square" lIns="0" rIns="0" tIns="0" bIns="0" anchor="ctr">
            <a:spAutoFit/>
          </a:bodyPr>
          <a:lstStyle/>
          <a:p>
            <a:pPr algn="ctr">
              <a:lnSpc>
                <a:spcPct val="112000"/>
              </a:lnSpc>
              <a:spcAft>
                <a:spcPts val="600"/>
              </a:spcAft>
            </a:pPr>
            <a:r>
              <a:rPr sz="2200" b="0">
                <a:solidFill>
                  <a:srgbClr val="4D5560"/>
                </a:solidFill>
                <a:latin typeface="Instrument Sans"/>
              </a:rPr>
              <a:t>Team photo</a:t>
            </a:r>
          </a:p>
        </p:txBody>
      </p:sp>
      <p:sp>
        <p:nvSpPr>
          <p:cNvPr id="131" name="TextBox 130"/>
          <p:cNvSpPr txBox="1"/>
          <p:nvPr/>
        </p:nvSpPr>
        <p:spPr>
          <a:xfrm>
            <a:off x="914400" y="6995160"/>
            <a:ext cx="16459200" cy="548640"/>
          </a:xfrm>
          <a:prstGeom prst="rect">
            <a:avLst/>
          </a:prstGeom>
          <a:noFill/>
        </p:spPr>
        <p:txBody>
          <a:bodyPr wrap="square" lIns="0" rIns="0" tIns="0" bIns="0" anchor="t">
            <a:spAutoFit/>
          </a:bodyPr>
          <a:lstStyle/>
          <a:p>
            <a:pPr algn="l">
              <a:lnSpc>
                <a:spcPct val="112000"/>
              </a:lnSpc>
              <a:spcAft>
                <a:spcPts val="600"/>
              </a:spcAft>
            </a:pPr>
            <a:r>
              <a:rPr sz="2800" b="1">
                <a:solidFill>
                  <a:srgbClr val="556F00"/>
                </a:solidFill>
                <a:latin typeface="Inter Tight"/>
              </a:rPr>
              <a:t>Rio–Miami first. Our goal: one rail for goods, every corridor.</a:t>
            </a:r>
          </a:p>
        </p:txBody>
      </p:sp>
      <p:sp>
        <p:nvSpPr>
          <p:cNvPr id="132" name="Rectangle 131"/>
          <p:cNvSpPr/>
          <p:nvPr/>
        </p:nvSpPr>
        <p:spPr>
          <a:xfrm>
            <a:off x="914400" y="7626096"/>
            <a:ext cx="16459200" cy="18288"/>
          </a:xfrm>
          <a:prstGeom prst="rect">
            <a:avLst/>
          </a:prstGeom>
          <a:solidFill>
            <a:srgbClr val="DFDDD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3" name="TextBox 132"/>
          <p:cNvSpPr txBox="1"/>
          <p:nvPr/>
        </p:nvSpPr>
        <p:spPr>
          <a:xfrm>
            <a:off x="914400" y="7726679"/>
            <a:ext cx="16459200" cy="1097280"/>
          </a:xfrm>
          <a:prstGeom prst="rect">
            <a:avLst/>
          </a:prstGeom>
          <a:noFill/>
        </p:spPr>
        <p:txBody>
          <a:bodyPr wrap="square" lIns="0" rIns="0" tIns="0" bIns="0" anchor="t">
            <a:spAutoFit/>
          </a:bodyPr>
          <a:lstStyle/>
          <a:p>
            <a:pPr algn="l">
              <a:lnSpc>
                <a:spcPct val="112000"/>
              </a:lnSpc>
              <a:spcAft>
                <a:spcPts val="600"/>
              </a:spcAft>
            </a:pPr>
            <a:r>
              <a:rPr sz="1800" b="1">
                <a:solidFill>
                  <a:srgbClr val="556F00"/>
                </a:solidFill>
                <a:latin typeface="JetBrains Mono"/>
              </a:rPr>
              <a:t>Live page  </a:t>
            </a:r>
            <a:r>
              <a:rPr sz="1800" b="0">
                <a:solidFill>
                  <a:srgbClr val="0E0F11"/>
                </a:solidFill>
                <a:latin typeface="JetBrains Mono"/>
              </a:rPr>
              <a:t>rio-miami-rail.vercel.app</a:t>
            </a:r>
            <a:r>
              <a:rPr sz="1800" b="1">
                <a:solidFill>
                  <a:srgbClr val="556F00"/>
                </a:solidFill>
                <a:latin typeface="JetBrains Mono"/>
              </a:rPr>
              <a:t>     Code  </a:t>
            </a:r>
            <a:r>
              <a:rPr sz="1800" b="0">
                <a:solidFill>
                  <a:srgbClr val="0E0F11"/>
                </a:solidFill>
                <a:latin typeface="JetBrains Mono"/>
              </a:rPr>
              <a:t>github.com/pwsaragossy/rio-miami-rail (Apache-2.0)</a:t>
            </a:r>
          </a:p>
          <a:p>
            <a:pPr algn="l">
              <a:lnSpc>
                <a:spcPct val="112000"/>
              </a:lnSpc>
              <a:spcAft>
                <a:spcPts val="600"/>
              </a:spcAft>
            </a:pPr>
            <a:r>
              <a:rPr sz="1800" b="1">
                <a:solidFill>
                  <a:srgbClr val="556F00"/>
                </a:solidFill>
                <a:latin typeface="JetBrains Mono"/>
              </a:rPr>
              <a:t>AI  </a:t>
            </a:r>
            <a:r>
              <a:rPr sz="1800" b="0">
                <a:solidFill>
                  <a:srgbClr val="0E0F11"/>
                </a:solidFill>
                <a:latin typeface="Instrument Sans"/>
              </a:rPr>
              <a:t>Code, page, docs and deck made with AI coding agents (Claude Code). Narration: an AI voice from Pedro's voice. No AI-generated images in this deck.</a:t>
            </a: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
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61" r:id="rId23"/>
    <p:sldId id="262" r:id="rId24"/>
    <p:sldId id="263" r:id="rId25"/>
    <p:sldId id="264" r:id="rId26"/>
    <p:sldId id="265" r:id="rId27"/>
    <p:sldId id="266" r:id="rId28"/>
    <p:sldId id="267" r:id="rId29"/>
    <p:sldId id="268" r:id="rId30"/>
    <p:sldId id="269" r:id="rId31"/>
    <p:sldId id="270" r:id="rId32"/>
  </p:sldIdLst>
  <p:sldSz cy="10287000" cx="18288000"/>
  <p:notesSz cx="6858000" cy="9144000"/>
  <p:embeddedFontLst>
    <p:embeddedFont>
      <p:font typeface="Instrument Sans"/>
      <p:regular r:id="rId11"/>
      <p:bold r:id="rId12"/>
      <p:italic r:id="rId13"/>
      <p:boldItalic r:id="rId14"/>
    </p:embeddedFont>
    <p:embeddedFont>
      <p:font typeface="Inter Tight"/>
      <p:regular r:id="rId15"/>
      <p:bold r:id="rId16"/>
      <p:italic r:id="rId17"/>
      <p:boldItalic r:id="rId18"/>
    </p:embeddedFont>
    <p:embeddedFont>
      <p:font typeface="JetBrains Mono"/>
      <p:regular r:id="rId19"/>
      <p:bold r:id="rId20"/>
      <p:italic r:id="rId21"/>
      <p:boldItalic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11" Type="http://schemas.openxmlformats.org/officeDocument/2006/relationships/font" Target="fonts/InstrumentSans-regular.fntdata"/><Relationship Id="rId12" Type="http://schemas.openxmlformats.org/officeDocument/2006/relationships/font" Target="fonts/InstrumentSans-bold.fntdata"/><Relationship Id="rId13" Type="http://schemas.openxmlformats.org/officeDocument/2006/relationships/font" Target="fonts/InstrumentSans-italic.fntdata"/><Relationship Id="rId14" Type="http://schemas.openxmlformats.org/officeDocument/2006/relationships/font" Target="fonts/InstrumentSans-boldItalic.fntdata"/><Relationship Id="rId15" Type="http://schemas.openxmlformats.org/officeDocument/2006/relationships/font" Target="fonts/InterTight-regular.fntdata"/><Relationship Id="rId16" Type="http://schemas.openxmlformats.org/officeDocument/2006/relationships/font" Target="fonts/InterTight-bold.fntdata"/><Relationship Id="rId17" Type="http://schemas.openxmlformats.org/officeDocument/2006/relationships/font" Target="fonts/InterTight-italic.fntdata"/><Relationship Id="rId18" Type="http://schemas.openxmlformats.org/officeDocument/2006/relationships/font" Target="fonts/InterTight-boldItalic.fntdata"/><Relationship Id="rId19" Type="http://schemas.openxmlformats.org/officeDocument/2006/relationships/font" Target="fonts/JetBrainsMono-regular.fntdata"/><Relationship Id="rId20" Type="http://schemas.openxmlformats.org/officeDocument/2006/relationships/font" Target="fonts/JetBrainsMono-bold.fntdata"/><Relationship Id="rId21" Type="http://schemas.openxmlformats.org/officeDocument/2006/relationships/font" Target="fonts/JetBrainsMono-italic.fntdata"/><Relationship Id="rId22" Type="http://schemas.openxmlformats.org/officeDocument/2006/relationships/font" Target="fonts/JetBrainsMono-boldItalic.fntdata"/><Relationship Id="rId23" Type="http://schemas.openxmlformats.org/officeDocument/2006/relationships/slide" Target="slides/slide6.xml"/><Relationship Id="rId24" Type="http://schemas.openxmlformats.org/officeDocument/2006/relationships/slide" Target="slides/slide7.xml"/><Relationship Id="rId25" Type="http://schemas.openxmlformats.org/officeDocument/2006/relationships/slide" Target="slides/slide8.xml"/><Relationship Id="rId26" Type="http://schemas.openxmlformats.org/officeDocument/2006/relationships/slide" Target="slides/slide9.xml"/><Relationship Id="rId27" Type="http://schemas.openxmlformats.org/officeDocument/2006/relationships/slide" Target="slides/slide10.xml"/><Relationship Id="rId28" Type="http://schemas.openxmlformats.org/officeDocument/2006/relationships/slide" Target="slides/slide11.xml"/><Relationship Id="rId29" Type="http://schemas.openxmlformats.org/officeDocument/2006/relationships/slide" Target="slides/slide12.xml"/><Relationship Id="rId30" Type="http://schemas.openxmlformats.org/officeDocument/2006/relationships/slide" Target="slides/slide13.xml"/><Relationship Id="rId31" Type="http://schemas.openxmlformats.org/officeDocument/2006/relationships/slide" Target="slides/slide14.xml"/><Relationship Id="rId3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Inter Tight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Inter Tigh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Inter Tight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Inter Tight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Inter Tight"/>
              <a:buNone/>
              <a:defRPr b="0" i="0" sz="4400" u="none" cap="none" strike="noStrike">
                <a:solidFill>
                  <a:schemeClr val="dk1"/>
                </a:solidFill>
                <a:latin typeface="Inter Tight"/>
                <a:ea typeface="Inter Tight"/>
                <a:cs typeface="Inter Tight"/>
                <a:sym typeface="Inter T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/>
      <p:sp>
        <p:nvSpPr>
          <p:cNvPr id="84" name="Google Shape;84;p13"/>
          <p:cNvSpPr txBox="1"/>
          <p:nvPr/>
        </p:nvSpPr>
        <p:spPr>
          <a:xfrm>
            <a:off x="914400" y="77724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85" name="Google Shape;85;p13"/>
          <p:cNvSpPr txBox="1"/>
          <p:nvPr/>
        </p:nvSpPr>
        <p:spPr>
          <a:xfrm>
            <a:off x="10058400" y="77724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01 / 10</a:t>
            </a:r>
            <a:endParaRPr/>
          </a:p>
        </p:txBody>
      </p:sp>
      <p:sp>
        <p:nvSpPr>
          <p:cNvPr id="86" name="Google Shape;86;p13"/>
          <p:cNvSpPr/>
          <p:nvPr/>
        </p:nvSpPr>
        <p:spPr>
          <a:xfrm>
            <a:off x="914400" y="1600200"/>
            <a:ext cx="6446520" cy="475488"/>
          </a:xfrm>
          <a:prstGeom prst="roundRect">
            <a:avLst>
              <a:gd fmla="val 50000" name="adj"/>
            </a:avLst>
          </a:prstGeom>
          <a:noFill/>
          <a:ln cap="flat" cmpd="sng" w="19050">
            <a:solidFill>
              <a:srgbClr val="C6F2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TESTNET · TEST KEYS · NOT REAL CUSTODIANS</a:t>
            </a:r>
            <a:endParaRPr/>
          </a:p>
        </p:txBody>
      </p:sp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6812280"/>
            <a:ext cx="4721192" cy="822960"/>
          </a:xfrm>
          <a:prstGeom prst="rect">
            <a:avLst/>
          </a:prstGeom>
        </p:spPr>
      </p:pic>
      <p:sp>
        <p:nvSpPr>
          <p:cNvPr id="92" name="Google Shape;92;p13"/>
          <p:cNvSpPr/>
          <p:nvPr/>
        </p:nvSpPr>
        <p:spPr>
          <a:xfrm>
            <a:off x="5989320" y="6766560"/>
            <a:ext cx="18288" cy="914400"/>
          </a:xfrm>
          <a:prstGeom prst="rect">
            <a:avLst/>
          </a:prstGeom>
          <a:solidFill>
            <a:srgbClr val="4A4A4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93" name="Picture 9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6967728"/>
            <a:ext cx="2159633" cy="512064"/>
          </a:xfrm>
          <a:prstGeom prst="rect">
            <a:avLst/>
          </a:prstGeom>
        </p:spPr>
      </p:pic>
      <p:pic>
        <p:nvPicPr>
          <p:cNvPr id="94" name="Picture 9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3960" y="6903720"/>
            <a:ext cx="2483581" cy="621792"/>
          </a:xfrm>
          <a:prstGeom prst="rect">
            <a:avLst/>
          </a:prstGeom>
        </p:spPr>
      </p:pic>
      <p:sp>
        <p:nvSpPr>
          <p:cNvPr id="95" name="Google Shape;95;p13"/>
          <p:cNvSpPr/>
          <p:nvPr/>
        </p:nvSpPr>
        <p:spPr>
          <a:xfrm rot="5400000">
            <a:off x="14904720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6" name="Google Shape;96;p13"/>
          <p:cNvSpPr/>
          <p:nvPr/>
        </p:nvSpPr>
        <p:spPr>
          <a:xfrm rot="5400000">
            <a:off x="15599664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>
              <a:alpha val="6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7" name="Google Shape;97;p13"/>
          <p:cNvSpPr/>
          <p:nvPr/>
        </p:nvSpPr>
        <p:spPr>
          <a:xfrm rot="5400000">
            <a:off x="16294608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>
              <a:alpha val="30196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8" name="Google Shape;98;p13"/>
          <p:cNvSpPr/>
          <p:nvPr/>
        </p:nvSpPr>
        <p:spPr>
          <a:xfrm>
            <a:off x="914400" y="8641080"/>
            <a:ext cx="16459200" cy="13716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9" name="Google Shape;99;p13"/>
          <p:cNvSpPr txBox="1"/>
          <p:nvPr/>
        </p:nvSpPr>
        <p:spPr>
          <a:xfrm>
            <a:off x="914400" y="896112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October 2026</a:t>
            </a:r>
            <a:endParaRPr/>
          </a:p>
        </p:txBody>
      </p:sp>
      <p:sp>
        <p:nvSpPr>
          <p:cNvPr id="100" name="Google Shape;100;p13"/>
          <p:cNvSpPr txBox="1"/>
          <p:nvPr/>
        </p:nvSpPr>
        <p:spPr>
          <a:xfrm>
            <a:off x="6400800" y="89611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#HackMeridian26</a:t>
            </a:r>
            <a:endParaRPr/>
          </a:p>
        </p:txBody>
      </p:sp>
      <p:sp>
        <p:nvSpPr>
          <p:cNvPr id="101" name="Google Shape;101;p13"/>
          <p:cNvSpPr txBox="1"/>
          <p:nvPr/>
        </p:nvSpPr>
        <p:spPr>
          <a:xfrm>
            <a:off x="11887200" y="89611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A7A7A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</a:t>
            </a:r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914400" y="2331720"/>
            <a:ext cx="11430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10000" b="1">
                <a:solidFill>
                  <a:srgbClr val="C6F24E"/>
                </a:solidFill>
                <a:latin typeface="Inter Tight"/>
              </a:rPr>
              <a:t>Radox Custody Rail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14400" y="379476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>
                <a:solidFill>
                  <a:srgbClr val="E7E8EA"/>
                </a:solidFill>
                <a:latin typeface="Inter Tight"/>
              </a:rPr>
              <a:t>Know who holds the goods: every handover signed by both custodians.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5440680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A3A8B0"/>
                </a:solidFill>
                <a:latin typeface="Instrument Sans"/>
              </a:rPr>
              <a:t>Toward a SWIFT-like custody standard on Stellar  ·  Pilot corridor: Rio–Miami</a:t>
            </a:r>
          </a:p>
        </p:txBody>
      </p:sp>
      <p:pic>
        <p:nvPicPr>
          <p:cNvPr id="105" name="Picture 104" descr="qr-page-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401800" y="1600200"/>
            <a:ext cx="2377440" cy="23774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3075920" y="4114800"/>
            <a:ext cx="502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000" b="0">
                <a:solidFill>
                  <a:srgbClr val="E7E8EA"/>
                </a:solidFill>
                <a:latin typeface="Instrument Sans"/>
              </a:rPr>
              <a:t>Scan: the live shipment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rio-miami-rail.vercel.app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2801600" y="5609844"/>
            <a:ext cx="457200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12682728" y="550468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36428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45572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54716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63860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7254728" y="550468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2682728" y="587044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A3A8B0"/>
                </a:solidFill>
                <a:latin typeface="JetBrains Mono"/>
              </a:rPr>
              <a:t>RIO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5663672" y="587044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A3A8B0"/>
                </a:solidFill>
                <a:latin typeface="JetBrains Mono"/>
              </a:rPr>
              <a:t>MIAMI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02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WHAT IT COSTS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15467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PMF · THE PROBLEM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Who holds the cargo right now?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1463040" y="3415284"/>
            <a:ext cx="15361919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325880" y="3291840"/>
            <a:ext cx="274320" cy="274320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274320" y="365760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Warehouse</a:t>
            </a:r>
          </a:p>
        </p:txBody>
      </p:sp>
      <p:sp>
        <p:nvSpPr>
          <p:cNvPr id="128" name="Oval 127"/>
          <p:cNvSpPr/>
          <p:nvPr/>
        </p:nvSpPr>
        <p:spPr>
          <a:xfrm>
            <a:off x="5166359" y="3291840"/>
            <a:ext cx="274320" cy="274320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4114799" y="365760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Port</a:t>
            </a:r>
          </a:p>
        </p:txBody>
      </p:sp>
      <p:sp>
        <p:nvSpPr>
          <p:cNvPr id="130" name="Oval 129"/>
          <p:cNvSpPr/>
          <p:nvPr/>
        </p:nvSpPr>
        <p:spPr>
          <a:xfrm>
            <a:off x="9006839" y="3291840"/>
            <a:ext cx="274320" cy="274320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7955279" y="365760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Carrier</a:t>
            </a:r>
          </a:p>
        </p:txBody>
      </p:sp>
      <p:sp>
        <p:nvSpPr>
          <p:cNvPr id="132" name="Oval 131"/>
          <p:cNvSpPr/>
          <p:nvPr/>
        </p:nvSpPr>
        <p:spPr>
          <a:xfrm>
            <a:off x="12847319" y="3291840"/>
            <a:ext cx="274320" cy="274320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11795759" y="365760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Customs</a:t>
            </a:r>
          </a:p>
        </p:txBody>
      </p:sp>
      <p:sp>
        <p:nvSpPr>
          <p:cNvPr id="134" name="Oval 133"/>
          <p:cNvSpPr/>
          <p:nvPr/>
        </p:nvSpPr>
        <p:spPr>
          <a:xfrm>
            <a:off x="16687800" y="3291840"/>
            <a:ext cx="274320" cy="274320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15636239" y="365760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Recipient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914400" y="442112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914400" y="461772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45M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14400" y="57607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ocean bills of lading issued a year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914400" y="667512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DCSA, Feb 2023 (2021 data)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492240" y="442112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492240" y="461772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~11%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492240" y="57607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of them electronic in 2025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492240" y="667512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DCSA, figure as of 2025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12070080" y="442112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12070080" y="461772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22%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2070080" y="57607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of global cargo thefts in 2025 involved insiders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2070080" y="667512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TT Club &amp; BSI Cargo Theft Report, Apr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14400" y="7863840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Context: our explainer video about a Rio–Miami trade-corridor initiative poses one possibility: a unique digital record for every shipment that both sides can check. This project is a custody layer for that record.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03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SOLUTION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42900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PMF · WHAT IT COSTS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Cargo goes missing. Banks get fooled.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108960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Instrument Sans"/>
              </a:rPr>
              <a:t>Our hypothesis: </a:t>
            </a:r>
            <a:r>
              <a:rPr sz="2400" b="0">
                <a:solidFill>
                  <a:srgbClr val="0E0F11"/>
                </a:solidFill>
                <a:latin typeface="Instrument Sans"/>
              </a:rPr>
              <a:t>a financier cannot see who holds the goods before paying. No customer has confirmed it yet.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14400" y="419252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14400" y="438912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R$900M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14400" y="55321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est. direct loss, 8,570 cargo thefts in Brazil, 2025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14400" y="644652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NTC&amp;Logística survey, 28 Mar 2026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492240" y="419252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492240" y="438912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US$85M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492240" y="55321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HSBC's loss on forged documents for oil trades that never happened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492240" y="644652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Hin Leong case, Global Trade Review, 18 Nov 2024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12070080" y="419252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12070080" y="438912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US$2.5T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2070080" y="55321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global trade finance gap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2070080" y="644652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ADB Global Trade Finance Gap Survey, Dec 2025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14400" y="7498079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4D5560"/>
                </a:solidFill>
                <a:latin typeface="Instrument Sans"/>
              </a:rPr>
              <a:t>These numbers size the problem in the market, not results of ours. This build does not solve all of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04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LIVE ON TESTNET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246887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SOLUTION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Both custodians sign, or nothing changes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914400" y="3291840"/>
            <a:ext cx="448056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DF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14400" y="3474720"/>
            <a:ext cx="4480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0E0F11"/>
                </a:solidFill>
                <a:latin typeface="Instrument Sans"/>
              </a:rPr>
              <a:t>Outgoing custodian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JetBrains Mono"/>
              </a:rPr>
              <a:t>signs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5989320" y="3291840"/>
            <a:ext cx="6309360" cy="1325880"/>
          </a:xfrm>
          <a:prstGeom prst="roundRect">
            <a:avLst>
              <a:gd name="adj" fmla="val 11034"/>
            </a:avLst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5989320" y="3474720"/>
            <a:ext cx="6309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0E0F11"/>
                </a:solidFill>
                <a:latin typeface="Instrument Sans"/>
              </a:rPr>
              <a:t>One Stellar transaction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0E0F11"/>
                </a:solidFill>
                <a:latin typeface="JetBrains Mono"/>
              </a:rPr>
              <a:t>custody_registry.handover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2893040" y="3291840"/>
            <a:ext cx="448056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DF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2893040" y="3474720"/>
            <a:ext cx="4480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0E0F11"/>
                </a:solidFill>
                <a:latin typeface="Instrument Sans"/>
              </a:rPr>
              <a:t>Incoming custodian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JetBrains Mono"/>
              </a:rPr>
              <a:t>signs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5394960" y="3931920"/>
            <a:ext cx="594360" cy="36576"/>
          </a:xfrm>
          <a:prstGeom prst="rect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2298680" y="3931920"/>
            <a:ext cx="594360" cy="36576"/>
          </a:xfrm>
          <a:prstGeom prst="rect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914400" y="4983480"/>
            <a:ext cx="1645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strument Sans"/>
              </a:rPr>
              <a:t>Either signature missing → the call fails.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5897880"/>
            <a:ext cx="164592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6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Each handover moves custody and extends an on-chain hash chain, the </a:t>
            </a:r>
            <a:r>
              <a:rPr sz="2600" b="0">
                <a:solidFill>
                  <a:srgbClr val="0E0F11"/>
                </a:solidFill>
                <a:latin typeface="JetBrains Mono"/>
              </a:rPr>
              <a:t>head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6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The token stays with its holder in transit; only custody changes.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6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After Delivered, the operator burns the token with the existing </a:t>
            </a:r>
            <a:r>
              <a:rPr sz="2600" b="0">
                <a:solidFill>
                  <a:srgbClr val="0E0F11"/>
                </a:solidFill>
                <a:latin typeface="JetBrains Mono"/>
              </a:rPr>
              <a:t>redeem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¹.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14400" y="7909560"/>
            <a:ext cx="16459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A custody record keyed to the container number. In production it would sit beside the carrier's bill of lading; not integrated in this build.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¹ Radox platform policy, not enforced on-chain by the registry; redeem still needs the holder's signature.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13151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05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WHY STELLAR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480060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PRODUCT · LIVE ON TESTNET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2A2F3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A3A8B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E7E8EA"/>
                </a:solidFill>
                <a:latin typeface="Inter Tight"/>
              </a:rPr>
              <a:t>7 testnet transactions. Anyone can check them.</a:t>
            </a:r>
          </a:p>
        </p:txBody>
      </p:sp>
      <p:pic>
        <p:nvPicPr>
          <p:cNvPr id="125" name="Picture 124" descr="page-handovers-row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108960"/>
            <a:ext cx="6766560" cy="4591594"/>
          </a:xfrm>
          <a:prstGeom prst="rect">
            <a:avLst/>
          </a:prstGeom>
        </p:spPr>
      </p:pic>
      <p:sp>
        <p:nvSpPr>
          <p:cNvPr id="126" name="Rectangle 125"/>
          <p:cNvSpPr/>
          <p:nvPr/>
        </p:nvSpPr>
        <p:spPr>
          <a:xfrm>
            <a:off x="914400" y="3108960"/>
            <a:ext cx="6766560" cy="4591594"/>
          </a:xfrm>
          <a:prstGeom prst="rect">
            <a:avLst/>
          </a:prstGeom>
          <a:noFill/>
          <a:ln w="12700">
            <a:solidFill>
              <a:srgbClr val="2A2F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8229600" y="30632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2b3d51f0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open · operator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229600" y="3429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635c99ac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handover 1 · Warehouse → Port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229600" y="37947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56a0f006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handover 2 · Port → Carrier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229600" y="41605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ac268a49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handover 3 · Carrier → Customs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229600" y="45262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5199d4fb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handover 4 · Customs → Recipient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229600" y="48920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919def8c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deliver · Recipient → Holder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229600" y="52578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864fd164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burn · existing redeem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229600" y="576072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4400" b="1">
                <a:solidFill>
                  <a:srgbClr val="C6F24E"/>
                </a:solidFill>
                <a:latin typeface="Inter Tight"/>
              </a:rP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229600" y="649224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E7E8EA"/>
                </a:solidFill>
                <a:latin typeface="Instrument Sans"/>
              </a:rPr>
              <a:t>successful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0561320" y="576072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4400" b="1">
                <a:solidFill>
                  <a:srgbClr val="C6F24E"/>
                </a:solidFill>
                <a:latin typeface="Inter Tight"/>
              </a:rP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561320" y="649224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E7E8EA"/>
                </a:solidFill>
                <a:latin typeface="Instrument Sans"/>
              </a:rPr>
              <a:t>refused (simulated)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2893040" y="576072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4400" b="1">
                <a:solidFill>
                  <a:srgbClr val="C6F24E"/>
                </a:solidFill>
                <a:latin typeface="Inter Tight"/>
              </a:rPr>
              <a:t>24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2893040" y="649224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E7E8EA"/>
                </a:solidFill>
                <a:latin typeface="Instrument Sans"/>
              </a:rPr>
              <a:t>unit tests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5224759" y="576072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4400" b="1">
                <a:solidFill>
                  <a:srgbClr val="C6F24E"/>
                </a:solidFill>
                <a:latin typeface="Inter Tight"/>
              </a:rPr>
              <a:t>MATCH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5224759" y="649224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E7E8EA"/>
                </a:solidFill>
                <a:latin typeface="Instrument Sans"/>
              </a:rPr>
              <a:t>head check, 25 Oct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229600" y="6903720"/>
            <a:ext cx="9144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800" b="0">
                <a:solidFill>
                  <a:srgbClr val="A3A8B0"/>
                </a:solidFill>
                <a:latin typeface="JetBrains Mono"/>
              </a:rPr>
              <a:t>custody_registry </a:t>
            </a:r>
            <a:r>
              <a:rPr sz="1800" b="0">
                <a:solidFill>
                  <a:srgbClr val="E7E8EA"/>
                </a:solidFill>
                <a:latin typeface="JetBrains Mono"/>
              </a:rPr>
              <a:t>CCBJVXMJYWPHTDJHDFPRGKPGXGEP24JOPJAMUS5C3BMZJTRTWR2H4LII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Plus attestation 33379211. Second run (branch three-machine): two team members authorised handovers on their own computers and testnet keys.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800" b="1">
                <a:solidFill>
                  <a:srgbClr val="E7E8EA"/>
                </a:solidFill>
                <a:latin typeface="Instrument Sans"/>
              </a:rPr>
              <a:t>All test keys, mostly in one harness: it proves the mechanism, not independent custodians.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06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USERS AND MODEL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9776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ECOSYSTEM · WHY STELLAR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Why Stellar: two signers, one call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14400" y="31272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14400" y="33192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828800" y="32461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Multi-party auth in one call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863840" y="3264408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Soroban authorises both custodians inside one contract invocation: the handover is atomic.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14400" y="44988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14400" y="46908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28800" y="46177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Events plus an on-chain head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863840" y="4636007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RPC keeps contract events about 7 days. The head stored in the contract lets anyone rebuild the full history later.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914400" y="58704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14400" y="60624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59893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The token stays put, then burns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863840" y="6007607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The shipment token never moves in transit; the existing Radox redeem burns it after delivery.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914400" y="72420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914400" y="7424927"/>
            <a:ext cx="164592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Nearest neighbours we found on Stellar </a:t>
            </a:r>
            <a:r>
              <a:rPr sz="2100" b="0">
                <a:solidFill>
                  <a:srgbClr val="4D5560"/>
                </a:solidFill>
                <a:latin typeface="Instrument Sans"/>
              </a:rPr>
              <a:t>(LumenLoop, SCF, Scout, 24–25 Oct):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Kutana and Trustless Work release escrow on trade milestones; Pipeline finances commodity trade. We found none that records a custody handover signed by two custodians, and no SEP.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556F00"/>
                </a:solidFill>
                <a:latin typeface="Instrument Sans"/>
              </a:rPr>
              <a:t>Open source, Apache-2.0: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a custody primitive other Stellar real-world-asset issuers can reuse.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07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BUILT THIS WEEKEND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84048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USERS · BUSINESS MODEL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Integrate once, reach every party that joins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063240"/>
            <a:ext cx="16459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With one public custody standard, a port, airport, carrier, chamber or financier would integrate once and reach every other party: adopt without a custom project.</a:t>
            </a:r>
          </a:p>
        </p:txBody>
      </p:sp>
      <p:cxnSp>
        <p:nvCxnSpPr>
          <p:cNvPr id="126" name="Connector 125"/>
          <p:cNvCxnSpPr/>
          <p:nvPr/>
        </p:nvCxnSpPr>
        <p:spPr>
          <a:xfrm>
            <a:off x="2560320" y="4572000"/>
            <a:ext cx="826163" cy="60024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2560320" y="4572000"/>
            <a:ext cx="510597" cy="1571456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H="1">
            <a:off x="2049722" y="4572000"/>
            <a:ext cx="510598" cy="1571456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H="1">
            <a:off x="1734156" y="4572000"/>
            <a:ext cx="826164" cy="60024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H="1">
            <a:off x="3070917" y="5172243"/>
            <a:ext cx="315566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H="1">
            <a:off x="2049722" y="5172243"/>
            <a:ext cx="1336761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H="1">
            <a:off x="1734156" y="5172243"/>
            <a:ext cx="1652327" cy="0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H="1">
            <a:off x="2049722" y="6143456"/>
            <a:ext cx="1021195" cy="0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H="1" flipV="1">
            <a:off x="1734156" y="5172243"/>
            <a:ext cx="1336761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H="1" flipV="1">
            <a:off x="1734156" y="5172243"/>
            <a:ext cx="315566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Oval 135"/>
          <p:cNvSpPr/>
          <p:nvPr/>
        </p:nvSpPr>
        <p:spPr>
          <a:xfrm>
            <a:off x="2441448" y="4453128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3267611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2952045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1930850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615284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914399" y="406908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4D5560"/>
                </a:solidFill>
                <a:latin typeface="JetBrains Mono"/>
              </a:rPr>
              <a:t>PAIR BY PAIR · 10 LINKS</a:t>
            </a:r>
          </a:p>
        </p:txBody>
      </p:sp>
      <p:cxnSp>
        <p:nvCxnSpPr>
          <p:cNvPr id="142" name="Connector 141"/>
          <p:cNvCxnSpPr/>
          <p:nvPr/>
        </p:nvCxnSpPr>
        <p:spPr>
          <a:xfrm flipV="1">
            <a:off x="6080760" y="4572000"/>
            <a:ext cx="0" cy="868680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6080760" y="5172243"/>
            <a:ext cx="826163" cy="268437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6080760" y="5440680"/>
            <a:ext cx="510597" cy="702776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H="1">
            <a:off x="5570162" y="5440680"/>
            <a:ext cx="510598" cy="702776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H="1" flipV="1">
            <a:off x="5254596" y="5172243"/>
            <a:ext cx="826164" cy="268437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Oval 146"/>
          <p:cNvSpPr/>
          <p:nvPr/>
        </p:nvSpPr>
        <p:spPr>
          <a:xfrm>
            <a:off x="5888736" y="5248656"/>
            <a:ext cx="384048" cy="384048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5961888" y="4453128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6788051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6472485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5451290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5135724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4434840" y="406908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ONE RADOX RAIL · 5 LINKS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14400" y="6583680"/>
            <a:ext cx="7132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4D5560"/>
                </a:solidFill>
                <a:latin typeface="Instrument Sans"/>
              </a:rPr>
              <a:t>Example, 5 parties: 10 custom links, or 5 links to one standard.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503920" y="406908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OPEN · ANYONE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8503920" y="4539996"/>
            <a:ext cx="425196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8503920" y="4709160"/>
            <a:ext cx="43434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Record format, roles and events: the custody_registry contract (Apache-2.0)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Verify any shipment, no login (slide 5)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3121640" y="406908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0E0F11"/>
                </a:solidFill>
                <a:latin typeface="JetBrains Mono"/>
              </a:rPr>
              <a:t>RADOX OPERATES · CLIENT PAYS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13121640" y="4539996"/>
            <a:ext cx="4251960" cy="27432"/>
          </a:xfrm>
          <a:prstGeom prst="rect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13121640" y="4709160"/>
            <a:ext cx="43434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Custodian onboarding, issuance controls, operation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The API and backend: closed, not self-hostable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Paid by the financial institution; not priced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914400" y="7580376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914400" y="7699248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0E0F11"/>
                </a:solidFill>
                <a:latin typeface="Instrument Sans"/>
              </a:rPr>
              <a:t>Adoption still takes work: a key per party, its own signatures, one connection to the rail (the Radox API).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Radox is the rail, never the issuer. Regulation and licences stay with the client and its local counsel.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08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VISION AND ASK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2918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HACKATHON PROGRESS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Built this weekend, on disclosed prior work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20040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4D5560"/>
                </a:solidFill>
                <a:latin typeface="JetBrains Mono"/>
              </a:rPr>
              <a:t>PRIOR WORK · BEFORE SUN 25 OCT 09:00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14400" y="3717036"/>
            <a:ext cx="7955279" cy="27432"/>
          </a:xfrm>
          <a:prstGeom prst="rect">
            <a:avLst/>
          </a:prstGeom>
          <a:solidFill>
            <a:srgbClr val="4D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14400" y="3886200"/>
            <a:ext cx="7955279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Radox platform (closed backend); its 3 Soroban contracts are on Stellar mainnet, public since 2026-08-19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transfer_agent and its redeem (new testnet instance from the existing wasm)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Architecture notes (20 Oct), planning files (24–25 Oct), the explainer video, our agent tooling (from 22 Oct)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No contract code before then: first repo commit 25 Oct 09:00 UTC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418320" y="320040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BUILT AT HACKMERIDIAN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418320" y="3717036"/>
            <a:ext cx="7955279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418320" y="3886200"/>
            <a:ext cx="7955279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custody_registry contract, 24 unit tests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Lifecycle harness: 7 testnet transactions, 9 refused calls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verify-head script, the public shipment page, this deck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Radox API reads the registry: same head (closed backend, testnet)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914400" y="7315200"/>
            <a:ext cx="1645920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DF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234440" y="7424927"/>
            <a:ext cx="1581912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AI attribution  </a:t>
            </a:r>
            <a:r>
              <a:rPr sz="2000" b="0">
                <a:solidFill>
                  <a:srgbClr val="0E0F11"/>
                </a:solidFill>
                <a:latin typeface="Instrument Sans"/>
              </a:rPr>
              <a:t>Code, tests, scripts, the shipment page, docs and this deck were made with AI coding agents (Claude Code); the team decided scope and what ships. Per-file record in AI_USAGE.md. The video narration is an AI voice generated from Pedro's voice.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09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TEAM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9776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VISION · NEXT · THE ASK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Vision: one custody standard, every corridor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108960"/>
            <a:ext cx="16459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1">
                <a:solidFill>
                  <a:srgbClr val="0E0F11"/>
                </a:solidFill>
                <a:latin typeface="Instrument Sans"/>
              </a:rPr>
              <a:t>Rio–Miami is our pilot corridor. 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The goal is a public, SWIFT-like custody standard on Stellar for tokenized goods in transit worldwide, to integrate with the systems of chambers of commerce, ports and airports.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097280" y="4832604"/>
            <a:ext cx="1261872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941832" y="469087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914400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NOW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14400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Mechanism proven on testnet. No standard, users or revenue yet.</a:t>
            </a:r>
          </a:p>
        </p:txBody>
      </p:sp>
      <p:sp>
        <p:nvSpPr>
          <p:cNvPr id="130" name="Oval 129"/>
          <p:cNvSpPr/>
          <p:nvPr/>
        </p:nvSpPr>
        <p:spPr>
          <a:xfrm>
            <a:off x="5184648" y="4727448"/>
            <a:ext cx="237744" cy="237744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20640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NEXT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120640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One Rio–Miami pilot shipment (none agreed yet). Full test matrix.</a:t>
            </a:r>
          </a:p>
        </p:txBody>
      </p:sp>
      <p:sp>
        <p:nvSpPr>
          <p:cNvPr id="133" name="Oval 132"/>
          <p:cNvSpPr/>
          <p:nvPr/>
        </p:nvSpPr>
        <p:spPr>
          <a:xfrm>
            <a:off x="9390887" y="4727448"/>
            <a:ext cx="237744" cy="237744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326880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PLANNED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326880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SCF Build, then a security audit (neither done). Mainnet.</a:t>
            </a:r>
          </a:p>
        </p:txBody>
      </p:sp>
      <p:sp>
        <p:nvSpPr>
          <p:cNvPr id="136" name="Oval 135"/>
          <p:cNvSpPr/>
          <p:nvPr/>
        </p:nvSpPr>
        <p:spPr>
          <a:xfrm>
            <a:off x="13597127" y="4727448"/>
            <a:ext cx="237744" cy="237744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13533119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FUTURE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3533119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More corridors; port, airport, chamber links (none confirmed); USD leg (not built).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914400" y="7223760"/>
            <a:ext cx="16459200" cy="1234440"/>
          </a:xfrm>
          <a:prstGeom prst="roundRect">
            <a:avLst>
              <a:gd name="adj" fmla="val 11851"/>
            </a:avLst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325880" y="7223760"/>
            <a:ext cx="15636240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0E0F11"/>
                </a:solidFill>
                <a:latin typeface="JetBrains Mono"/>
              </a:rPr>
              <a:t>Our ask  </a:t>
            </a:r>
            <a:r>
              <a:rPr sz="2400" b="1">
                <a:solidFill>
                  <a:srgbClr val="0E0F11"/>
                </a:solidFill>
                <a:latin typeface="Instrument Sans"/>
              </a:rPr>
              <a:t>Introductions to one financial institution and one port, airport or logistics operator for a first pilot shipment, and a Stellar engineer's review of the design.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10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FINAL STOP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192024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TEAM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Why us: a founder already on Stellar mainnet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108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Pedro Wakigawa Saragossy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Founder, captain. Built Radox: 3 Soroban contracts on Stellar mainnet.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14400" y="4251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Leo Schlanger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Developer: custody_registry, the testnet harness and the proofs.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5394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Vhendala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QA and product review: reads every deliverable as a judge would.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14400" y="6537960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4D5560"/>
                </a:solidFill>
                <a:latin typeface="Instrument Sans"/>
              </a:rPr>
              <a:t>Leo and Vhendala joined for the hackathon.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1338560" y="3108960"/>
            <a:ext cx="6035040" cy="3657600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4D556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1338560" y="3108960"/>
            <a:ext cx="6035040" cy="365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4D5560"/>
                </a:solidFill>
                <a:latin typeface="Instrument Sans"/>
              </a:rPr>
              <a:t>Team photo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914400" y="6995160"/>
            <a:ext cx="1645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800" b="1">
                <a:solidFill>
                  <a:srgbClr val="556F00"/>
                </a:solidFill>
                <a:latin typeface="Inter Tight"/>
              </a:rPr>
              <a:t>Rio–Miami first. Our goal: one custody standard for every corridor.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914400" y="7626096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914400" y="7726679"/>
            <a:ext cx="16459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Live page  </a:t>
            </a:r>
            <a:r>
              <a:rPr sz="1800" b="0">
                <a:solidFill>
                  <a:srgbClr val="0E0F11"/>
                </a:solidFill>
                <a:latin typeface="JetBrains Mono"/>
              </a:rPr>
              <a:t>rio-miami-rail.vercel.app</a:t>
            </a:r>
            <a:r>
              <a:rPr sz="1800" b="1">
                <a:solidFill>
                  <a:srgbClr val="556F00"/>
                </a:solidFill>
                <a:latin typeface="JetBrains Mono"/>
              </a:rPr>
              <a:t>     Code  </a:t>
            </a:r>
            <a:r>
              <a:rPr sz="1800" b="0">
                <a:solidFill>
                  <a:srgbClr val="0E0F11"/>
                </a:solidFill>
                <a:latin typeface="JetBrains Mono"/>
              </a:rPr>
              <a:t>github.com/pwsaragossy/rio-miami-rail (Apache-2.0)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AI  </a:t>
            </a:r>
            <a:r>
              <a:rPr sz="1800" b="0">
                <a:solidFill>
                  <a:srgbClr val="0E0F11"/>
                </a:solidFill>
                <a:latin typeface="Instrument Sans"/>
              </a:rPr>
              <a:t>Code, page, docs and deck made with AI coding agents (Claude Code). Narration: an AI voice from Pedro's voice. No AI-generated images in this deck.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
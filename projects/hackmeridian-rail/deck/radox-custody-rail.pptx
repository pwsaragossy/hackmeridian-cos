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61" r:id="rId23"/>
    <p:sldId id="262" r:id="rId24"/>
    <p:sldId id="263" r:id="rId25"/>
    <p:sldId id="264" r:id="rId26"/>
    <p:sldId id="265" r:id="rId27"/>
    <p:sldId id="266" r:id="rId28"/>
    <p:sldId id="267" r:id="rId29"/>
    <p:sldId id="268" r:id="rId30"/>
    <p:sldId id="269" r:id="rId31"/>
    <p:sldId id="270" r:id="rId32"/>
  </p:sldIdLst>
  <p:sldSz cy="10287000" cx="18288000"/>
  <p:notesSz cx="6858000" cy="9144000"/>
  <p:embeddedFontLst>
    <p:embeddedFont>
      <p:font typeface="Instrument Sans"/>
      <p:regular r:id="rId11"/>
      <p:bold r:id="rId12"/>
      <p:italic r:id="rId13"/>
      <p:boldItalic r:id="rId14"/>
    </p:embeddedFont>
    <p:embeddedFont>
      <p:font typeface="Inter Tight"/>
      <p:regular r:id="rId15"/>
      <p:bold r:id="rId16"/>
      <p:italic r:id="rId17"/>
      <p:boldItalic r:id="rId18"/>
    </p:embeddedFont>
    <p:embeddedFont>
      <p:font typeface="JetBrains Mono"/>
      <p:regular r:id="rId19"/>
      <p:bold r:id="rId20"/>
      <p:italic r:id="rId21"/>
      <p:boldItalic r:id="rId2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11" Type="http://schemas.openxmlformats.org/officeDocument/2006/relationships/font" Target="fonts/InstrumentSans-regular.fntdata"/><Relationship Id="rId12" Type="http://schemas.openxmlformats.org/officeDocument/2006/relationships/font" Target="fonts/InstrumentSans-bold.fntdata"/><Relationship Id="rId13" Type="http://schemas.openxmlformats.org/officeDocument/2006/relationships/font" Target="fonts/InstrumentSans-italic.fntdata"/><Relationship Id="rId14" Type="http://schemas.openxmlformats.org/officeDocument/2006/relationships/font" Target="fonts/InstrumentSans-boldItalic.fntdata"/><Relationship Id="rId15" Type="http://schemas.openxmlformats.org/officeDocument/2006/relationships/font" Target="fonts/InterTight-regular.fntdata"/><Relationship Id="rId16" Type="http://schemas.openxmlformats.org/officeDocument/2006/relationships/font" Target="fonts/InterTight-bold.fntdata"/><Relationship Id="rId17" Type="http://schemas.openxmlformats.org/officeDocument/2006/relationships/font" Target="fonts/InterTight-italic.fntdata"/><Relationship Id="rId18" Type="http://schemas.openxmlformats.org/officeDocument/2006/relationships/font" Target="fonts/InterTight-boldItalic.fntdata"/><Relationship Id="rId19" Type="http://schemas.openxmlformats.org/officeDocument/2006/relationships/font" Target="fonts/JetBrainsMono-regular.fntdata"/><Relationship Id="rId20" Type="http://schemas.openxmlformats.org/officeDocument/2006/relationships/font" Target="fonts/JetBrainsMono-bold.fntdata"/><Relationship Id="rId21" Type="http://schemas.openxmlformats.org/officeDocument/2006/relationships/font" Target="fonts/JetBrainsMono-italic.fntdata"/><Relationship Id="rId22" Type="http://schemas.openxmlformats.org/officeDocument/2006/relationships/font" Target="fonts/JetBrainsMono-boldItalic.fntdata"/><Relationship Id="rId23" Type="http://schemas.openxmlformats.org/officeDocument/2006/relationships/slide" Target="slides/slide6.xml"/><Relationship Id="rId24" Type="http://schemas.openxmlformats.org/officeDocument/2006/relationships/slide" Target="slides/slide7.xml"/><Relationship Id="rId25" Type="http://schemas.openxmlformats.org/officeDocument/2006/relationships/slide" Target="slides/slide8.xml"/><Relationship Id="rId26" Type="http://schemas.openxmlformats.org/officeDocument/2006/relationships/slide" Target="slides/slide9.xml"/><Relationship Id="rId27" Type="http://schemas.openxmlformats.org/officeDocument/2006/relationships/slide" Target="slides/slide10.xml"/><Relationship Id="rId28" Type="http://schemas.openxmlformats.org/officeDocument/2006/relationships/slide" Target="slides/slide11.xml"/><Relationship Id="rId29" Type="http://schemas.openxmlformats.org/officeDocument/2006/relationships/slide" Target="slides/slide12.xml"/><Relationship Id="rId30" Type="http://schemas.openxmlformats.org/officeDocument/2006/relationships/slide" Target="slides/slide13.xml"/><Relationship Id="rId31" Type="http://schemas.openxmlformats.org/officeDocument/2006/relationships/slide" Target="slides/slide14.xml"/><Relationship Id="rId3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Inter Tight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Inter Tigh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Inter Tight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Inter Tight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Inter Tight"/>
              <a:buNone/>
              <a:defRPr b="0" i="0" sz="4400" u="none" cap="none" strike="noStrike">
                <a:solidFill>
                  <a:schemeClr val="dk1"/>
                </a:solidFill>
                <a:latin typeface="Inter Tight"/>
                <a:ea typeface="Inter Tight"/>
                <a:cs typeface="Inter Tight"/>
                <a:sym typeface="Inter T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</p:bgPr>
    </p:bg>
    <p:spTree>
      <p:nvGrpSpPr>
        <p:cNvPr id="1" name=""/>
        <p:cNvGrpSpPr/>
        <p:nvPr/>
      </p:nvGrpSpPr>
      <p:grpSpPr/>
      <p:sp>
        <p:nvSpPr>
          <p:cNvPr id="84" name="Google Shape;84;p13"/>
          <p:cNvSpPr txBox="1"/>
          <p:nvPr/>
        </p:nvSpPr>
        <p:spPr>
          <a:xfrm>
            <a:off x="914400" y="77724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85" name="Google Shape;85;p13"/>
          <p:cNvSpPr txBox="1"/>
          <p:nvPr/>
        </p:nvSpPr>
        <p:spPr>
          <a:xfrm>
            <a:off x="10058400" y="77724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01 / 10</a:t>
            </a:r>
            <a:endParaRPr/>
          </a:p>
        </p:txBody>
      </p:sp>
      <p:sp>
        <p:nvSpPr>
          <p:cNvPr id="86" name="Google Shape;86;p13"/>
          <p:cNvSpPr/>
          <p:nvPr/>
        </p:nvSpPr>
        <p:spPr>
          <a:xfrm>
            <a:off x="914400" y="1600200"/>
            <a:ext cx="3429000" cy="475488"/>
          </a:xfrm>
          <a:prstGeom prst="roundRect">
            <a:avLst>
              <a:gd fmla="val 50000" name="adj"/>
            </a:avLst>
          </a:prstGeom>
          <a:noFill/>
          <a:ln cap="flat" cmpd="sng" w="19050">
            <a:solidFill>
              <a:srgbClr val="C6F2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TESTNET · TEST KEYS</a:t>
            </a:r>
            <a:endParaRPr/>
          </a:p>
        </p:txBody>
      </p:sp>
      <p:pic>
        <p:nvPicPr>
          <p:cNvPr id="87" name="Picture 8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6812280"/>
            <a:ext cx="4721192" cy="822960"/>
          </a:xfrm>
          <a:prstGeom prst="rect">
            <a:avLst/>
          </a:prstGeom>
        </p:spPr>
      </p:pic>
      <p:sp>
        <p:nvSpPr>
          <p:cNvPr id="92" name="Google Shape;92;p13"/>
          <p:cNvSpPr/>
          <p:nvPr/>
        </p:nvSpPr>
        <p:spPr>
          <a:xfrm>
            <a:off x="5989320" y="6766560"/>
            <a:ext cx="18288" cy="914400"/>
          </a:xfrm>
          <a:prstGeom prst="rect">
            <a:avLst/>
          </a:prstGeom>
          <a:solidFill>
            <a:srgbClr val="4A4A4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93" name="Picture 9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6967728"/>
            <a:ext cx="2159633" cy="512064"/>
          </a:xfrm>
          <a:prstGeom prst="rect">
            <a:avLst/>
          </a:prstGeom>
        </p:spPr>
      </p:pic>
      <p:pic>
        <p:nvPicPr>
          <p:cNvPr id="94" name="Picture 9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23960" y="6903720"/>
            <a:ext cx="2483581" cy="621792"/>
          </a:xfrm>
          <a:prstGeom prst="rect">
            <a:avLst/>
          </a:prstGeom>
        </p:spPr>
      </p:pic>
      <p:sp>
        <p:nvSpPr>
          <p:cNvPr id="95" name="Google Shape;95;p13"/>
          <p:cNvSpPr/>
          <p:nvPr/>
        </p:nvSpPr>
        <p:spPr>
          <a:xfrm rot="5400000">
            <a:off x="14904720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6" name="Google Shape;96;p13"/>
          <p:cNvSpPr/>
          <p:nvPr/>
        </p:nvSpPr>
        <p:spPr>
          <a:xfrm rot="5400000">
            <a:off x="15599664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C6F24E">
              <a:alpha val="6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7" name="Google Shape;97;p13"/>
          <p:cNvSpPr/>
          <p:nvPr/>
        </p:nvSpPr>
        <p:spPr>
          <a:xfrm rot="5400000">
            <a:off x="16294608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C6F24E">
              <a:alpha val="30196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8" name="Google Shape;98;p13"/>
          <p:cNvSpPr/>
          <p:nvPr/>
        </p:nvSpPr>
        <p:spPr>
          <a:xfrm>
            <a:off x="914400" y="8641080"/>
            <a:ext cx="16459200" cy="13716"/>
          </a:xfrm>
          <a:prstGeom prst="rect">
            <a:avLst/>
          </a:prstGeom>
          <a:solidFill>
            <a:srgbClr val="3A3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9" name="Google Shape;99;p13"/>
          <p:cNvSpPr txBox="1"/>
          <p:nvPr/>
        </p:nvSpPr>
        <p:spPr>
          <a:xfrm>
            <a:off x="914400" y="8961120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October 2026</a:t>
            </a:r>
            <a:endParaRPr/>
          </a:p>
        </p:txBody>
      </p:sp>
      <p:sp>
        <p:nvSpPr>
          <p:cNvPr id="100" name="Google Shape;100;p13"/>
          <p:cNvSpPr txBox="1"/>
          <p:nvPr/>
        </p:nvSpPr>
        <p:spPr>
          <a:xfrm>
            <a:off x="6400800" y="896112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#HackMeridian26</a:t>
            </a:r>
            <a:endParaRPr/>
          </a:p>
        </p:txBody>
      </p:sp>
      <p:sp>
        <p:nvSpPr>
          <p:cNvPr id="101" name="Google Shape;101;p13"/>
          <p:cNvSpPr txBox="1"/>
          <p:nvPr/>
        </p:nvSpPr>
        <p:spPr>
          <a:xfrm>
            <a:off x="11887200" y="896112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A7A7A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</a:t>
            </a:r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914400" y="2331720"/>
            <a:ext cx="11430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10000" b="1">
                <a:solidFill>
                  <a:srgbClr val="C6F24E"/>
                </a:solidFill>
                <a:latin typeface="Inter Tight"/>
              </a:rPr>
              <a:t>Radox Custody Rail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14400" y="3794760"/>
            <a:ext cx="112471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600" b="1">
                <a:solidFill>
                  <a:srgbClr val="E7E8EA"/>
                </a:solidFill>
                <a:latin typeface="Inter Tight"/>
              </a:rPr>
              <a:t>One record for the goods, from origin to delivery, that every company along the way will share.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5440680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A3A8B0"/>
                </a:solidFill>
                <a:latin typeface="Instrument Sans"/>
              </a:rPr>
              <a:t>Toward a SWIFT-like standard on Stellar  ·  Pilot corridor: Rio–Miami</a:t>
            </a:r>
          </a:p>
        </p:txBody>
      </p:sp>
      <p:pic>
        <p:nvPicPr>
          <p:cNvPr id="105" name="Picture 104" descr="qr-page-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401800" y="1600200"/>
            <a:ext cx="2377440" cy="2377440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3075920" y="4114800"/>
            <a:ext cx="502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000" b="0">
                <a:solidFill>
                  <a:srgbClr val="E7E8EA"/>
                </a:solidFill>
                <a:latin typeface="Instrument Sans"/>
              </a:rPr>
              <a:t>Scan: the live shipment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rio-miami-rail.vercel.app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2801600" y="5609844"/>
            <a:ext cx="457200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12682728" y="550468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136428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45572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54716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63860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17254728" y="550468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12682728" y="587044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A3A8B0"/>
                </a:solidFill>
                <a:latin typeface="JetBrains Mono"/>
              </a:rPr>
              <a:t>RIO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5663672" y="587044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A3A8B0"/>
                </a:solidFill>
                <a:latin typeface="JetBrains Mono"/>
              </a:rPr>
              <a:t>MIAMI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02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WHAT IT COSTS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15467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PMF · THE PROBLEM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Who holds the whole chain?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1783080" y="3278124"/>
            <a:ext cx="3200399" cy="27432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1325880" y="3154680"/>
            <a:ext cx="274320" cy="274320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274320" y="3493008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Warehouse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5623559" y="3278124"/>
            <a:ext cx="3200399" cy="27432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5166359" y="3154680"/>
            <a:ext cx="274320" cy="274320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4114799" y="3493008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Port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9464039" y="3278124"/>
            <a:ext cx="3200399" cy="27432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9006839" y="3154680"/>
            <a:ext cx="274320" cy="274320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955279" y="3493008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Carrier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13304519" y="3278124"/>
            <a:ext cx="3200399" cy="27432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12847319" y="3154680"/>
            <a:ext cx="274320" cy="274320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11795759" y="3493008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Customs</a:t>
            </a:r>
          </a:p>
        </p:txBody>
      </p:sp>
      <p:sp>
        <p:nvSpPr>
          <p:cNvPr id="137" name="Oval 136"/>
          <p:cNvSpPr/>
          <p:nvPr/>
        </p:nvSpPr>
        <p:spPr>
          <a:xfrm>
            <a:off x="16687800" y="3154680"/>
            <a:ext cx="274320" cy="274320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15636239" y="3493008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Recipient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914400" y="406908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556F00"/>
                </a:solidFill>
                <a:latin typeface="Instrument Sans"/>
              </a:rPr>
              <a:t>The gap: </a:t>
            </a:r>
            <a:r>
              <a:rPr sz="2200" b="0">
                <a:solidFill>
                  <a:srgbClr val="0E0F11"/>
                </a:solidFill>
                <a:latin typeface="Instrument Sans"/>
              </a:rPr>
              <a:t>each company records only its own leg, and no shared record follows the goods.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914400" y="4695444"/>
            <a:ext cx="512064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914400" y="489204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6400" b="1">
                <a:solidFill>
                  <a:srgbClr val="0E0F11"/>
                </a:solidFill>
                <a:latin typeface="Inter Tight"/>
              </a:rPr>
              <a:t>45M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603504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ocean bills of lading issued a year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14400" y="694944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DCSA, Feb 2023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492240" y="4695444"/>
            <a:ext cx="512064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6492240" y="489204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6400" b="1">
                <a:solidFill>
                  <a:srgbClr val="0E0F11"/>
                </a:solidFill>
                <a:latin typeface="Inter Tight"/>
              </a:rPr>
              <a:t>~11%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492240" y="603504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of bills of lading issued electronically, 2025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492240" y="694944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DCSA, as of 2025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12070080" y="4695444"/>
            <a:ext cx="512064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12070080" y="489204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6400" b="1">
                <a:solidFill>
                  <a:srgbClr val="0E0F11"/>
                </a:solidFill>
                <a:latin typeface="Inter Tight"/>
              </a:rPr>
              <a:t>22%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2070080" y="603504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of recorded cargo thefts in 2025 involved insiders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2070080" y="694944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TT Club &amp; BSI Cargo Theft Report, Apr 2026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14400" y="7772400"/>
            <a:ext cx="16459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800" b="1">
                <a:solidFill>
                  <a:srgbClr val="0E0F11"/>
                </a:solidFill>
                <a:latin typeface="Instrument Sans"/>
              </a:rPr>
              <a:t>Ports run legacy systems: </a:t>
            </a:r>
            <a:r>
              <a:rPr sz="1800" b="0">
                <a:solidFill>
                  <a:srgbClr val="4D5560"/>
                </a:solidFill>
                <a:latin typeface="Instrument Sans"/>
              </a:rPr>
              <a:t>over 90% of ports in low- and middle-income countries have no port community system (World Bank remark relayed by IAPH, Nov 2023); IMO guidance plans for legacy systems with proprietary formats (FAL.5/Circ.54, 2024).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Context: our explainer video on a Rio–Miami trade-corridor initiative; this project is its custody layer.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03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THE STANDARD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42900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PMF · WHAT IT COSTS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Cargo goes missing. A bank got fooled.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108960"/>
            <a:ext cx="1645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Instrument Sans"/>
              </a:rPr>
              <a:t>The gap: </a:t>
            </a:r>
            <a:r>
              <a:rPr sz="2400" b="0">
                <a:solidFill>
                  <a:srgbClr val="0E0F11"/>
                </a:solidFill>
                <a:latin typeface="Instrument Sans"/>
              </a:rPr>
              <a:t>a financier cannot see who holds the goods before paying.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14400" y="4192524"/>
            <a:ext cx="512064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14400" y="438912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6400" b="1">
                <a:solidFill>
                  <a:srgbClr val="0E0F11"/>
                </a:solidFill>
                <a:latin typeface="Inter Tight"/>
              </a:rPr>
              <a:t>R$900M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14400" y="553212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est. direct loss, 8,570 cargo robberies in Brazil, 2025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14400" y="644652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NTC&amp;Logística survey, 28 Mar 2026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6492240" y="4192524"/>
            <a:ext cx="512064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492240" y="438912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6400" b="1">
                <a:solidFill>
                  <a:srgbClr val="0E0F11"/>
                </a:solidFill>
                <a:latin typeface="Inter Tight"/>
              </a:rPr>
              <a:t>US$85M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492240" y="553212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HSBC's loss on forged documents for oil trades that never happened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492240" y="644652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Hin Leong case, Global Trade Review, 18 Nov 2024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12070080" y="4192524"/>
            <a:ext cx="512064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12070080" y="438912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6400" b="1">
                <a:solidFill>
                  <a:srgbClr val="0E0F11"/>
                </a:solidFill>
                <a:latin typeface="Inter Tight"/>
              </a:rPr>
              <a:t>US$2.5T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2070080" y="553212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global trade finance gap (market size)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2070080" y="644652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ADB survey of banks, Dec 2025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14400" y="7498079"/>
            <a:ext cx="1645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4D5560"/>
                </a:solidFill>
                <a:latin typeface="Instrument Sans"/>
              </a:rPr>
              <a:t>These figures size the market problem the rail addresses. Sources under each number.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04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THE RAIL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521208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THE PROPOSAL · A PUBLIC STANDARD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A SWIFT-like standard: integrate once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063240"/>
            <a:ext cx="16459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The goal is </a:t>
            </a:r>
            <a:r>
              <a:rPr sz="2400" b="0">
                <a:solidFill>
                  <a:srgbClr val="0E0F11"/>
                </a:solidFill>
                <a:latin typeface="Instrument Sans"/>
              </a:rPr>
              <a:t>a shared, SWIFT-like custody standard that companies along a supply chain, from origin to destination, will use. </a:t>
            </a:r>
            <a:r>
              <a:rPr sz="2400" b="1">
                <a:solidFill>
                  <a:srgbClr val="0E0F11"/>
                </a:solidFill>
                <a:latin typeface="Instrument Sans"/>
              </a:rPr>
              <a:t>We are building it on Stellar, starting with the custody rail.</a:t>
            </a:r>
          </a:p>
        </p:txBody>
      </p:sp>
      <p:cxnSp>
        <p:nvCxnSpPr>
          <p:cNvPr id="126" name="Connector 125"/>
          <p:cNvCxnSpPr/>
          <p:nvPr/>
        </p:nvCxnSpPr>
        <p:spPr>
          <a:xfrm>
            <a:off x="2560320" y="4572000"/>
            <a:ext cx="826163" cy="60024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2560320" y="4572000"/>
            <a:ext cx="510597" cy="1571456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H="1">
            <a:off x="2049722" y="4572000"/>
            <a:ext cx="510598" cy="1571456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H="1">
            <a:off x="1734156" y="4572000"/>
            <a:ext cx="826164" cy="60024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H="1">
            <a:off x="3070917" y="5172243"/>
            <a:ext cx="315566" cy="97121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H="1">
            <a:off x="2049722" y="5172243"/>
            <a:ext cx="1336761" cy="97121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H="1">
            <a:off x="1734156" y="5172243"/>
            <a:ext cx="1652327" cy="0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H="1">
            <a:off x="2049722" y="6143456"/>
            <a:ext cx="1021195" cy="0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H="1" flipV="1">
            <a:off x="1734156" y="5172243"/>
            <a:ext cx="1336761" cy="97121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H="1" flipV="1">
            <a:off x="1734156" y="5172243"/>
            <a:ext cx="315566" cy="97121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Oval 135"/>
          <p:cNvSpPr/>
          <p:nvPr/>
        </p:nvSpPr>
        <p:spPr>
          <a:xfrm>
            <a:off x="2441448" y="4453128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3267611" y="5053371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2952045" y="6024584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1930850" y="6024584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1615284" y="5053371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914399" y="4069080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4D5560"/>
                </a:solidFill>
                <a:latin typeface="JetBrains Mono"/>
              </a:rPr>
              <a:t>PAIR BY PAIR · 10 LINKS</a:t>
            </a:r>
          </a:p>
        </p:txBody>
      </p:sp>
      <p:cxnSp>
        <p:nvCxnSpPr>
          <p:cNvPr id="142" name="Connector 141"/>
          <p:cNvCxnSpPr/>
          <p:nvPr/>
        </p:nvCxnSpPr>
        <p:spPr>
          <a:xfrm flipV="1">
            <a:off x="6080760" y="4572000"/>
            <a:ext cx="0" cy="868680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 flipV="1">
            <a:off x="6080760" y="5172243"/>
            <a:ext cx="826163" cy="268437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>
            <a:off x="6080760" y="5440680"/>
            <a:ext cx="510597" cy="702776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 flipH="1">
            <a:off x="5570162" y="5440680"/>
            <a:ext cx="510598" cy="702776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 flipH="1" flipV="1">
            <a:off x="5254596" y="5172243"/>
            <a:ext cx="826164" cy="268437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Oval 146"/>
          <p:cNvSpPr/>
          <p:nvPr/>
        </p:nvSpPr>
        <p:spPr>
          <a:xfrm>
            <a:off x="5888736" y="5248656"/>
            <a:ext cx="384048" cy="384048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5961888" y="4453128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6788051" y="5053371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6472485" y="6024584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5451290" y="6024584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5135724" y="5053371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4434840" y="4069080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ONE STANDARD · 5 LINKS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14400" y="6583680"/>
            <a:ext cx="71323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4D5560"/>
                </a:solidFill>
                <a:latin typeface="Instrument Sans"/>
              </a:rPr>
              <a:t>Example, 5 companies: 10 custom links, or 5 links to one standard.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503920" y="406908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OPEN · ANYONE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8503920" y="4539996"/>
            <a:ext cx="425196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8503920" y="4709160"/>
            <a:ext cx="434340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Record format, roles and events: the custody_registry contract (Apache-2.0)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Verify any shipment, no login (slide 6)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3121640" y="406908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0E0F11"/>
                </a:solidFill>
                <a:latin typeface="JetBrains Mono"/>
              </a:rPr>
              <a:t>RADOX WILL OPERATE · CLIENT PAYS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13121640" y="4539996"/>
            <a:ext cx="4251960" cy="27432"/>
          </a:xfrm>
          <a:prstGeom prst="rect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13121640" y="4709160"/>
            <a:ext cx="434340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Onboarding, issuance controls, operation of the rail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The API and backend: closed, not self-hostable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Per-institution subscription + fee per shipment (slide 9)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914400" y="7580376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914400" y="7699248"/>
            <a:ext cx="1645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0E0F11"/>
                </a:solidFill>
                <a:latin typeface="Instrument Sans"/>
              </a:rPr>
              <a:t>Each company integrates once instead of pair by pair. Radox has openings with ports and airports, and chambers of commerce in Brazil and Miami are opening doors; legacy systems will join through one adapter to the Radox API.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Radox is the rail, never the issuer. Regulation and licences stay with the client and its local counsel.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05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LIVE ON TESTNET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438912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THE RAIL · LIFECYCLE BUILT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One rail, origin to delivery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063240"/>
            <a:ext cx="1645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One record will follow the goods across company boundaries; port and airport systems will connect by API, not a rewrite.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1188720" y="4553712"/>
            <a:ext cx="15910559" cy="36576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033272" y="441655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45720" y="482803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Open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5720" y="52303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operator</a:t>
            </a:r>
          </a:p>
        </p:txBody>
      </p:sp>
      <p:sp>
        <p:nvSpPr>
          <p:cNvPr id="130" name="Oval 129"/>
          <p:cNvSpPr/>
          <p:nvPr/>
        </p:nvSpPr>
        <p:spPr>
          <a:xfrm>
            <a:off x="3306209" y="4416552"/>
            <a:ext cx="310896" cy="310896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2318657" y="482803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Warehouse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598817" y="4005072"/>
            <a:ext cx="199861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556F00"/>
                </a:solidFill>
                <a:latin typeface="JetBrains Mono"/>
              </a:rPr>
              <a:t>2 signatures</a:t>
            </a:r>
          </a:p>
        </p:txBody>
      </p:sp>
      <p:sp>
        <p:nvSpPr>
          <p:cNvPr id="133" name="Oval 132"/>
          <p:cNvSpPr/>
          <p:nvPr/>
        </p:nvSpPr>
        <p:spPr>
          <a:xfrm>
            <a:off x="5579146" y="4416552"/>
            <a:ext cx="310896" cy="310896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4591594" y="482803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Port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871754" y="4005072"/>
            <a:ext cx="199861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556F00"/>
                </a:solidFill>
                <a:latin typeface="JetBrains Mono"/>
              </a:rPr>
              <a:t>2 signatures</a:t>
            </a:r>
          </a:p>
        </p:txBody>
      </p:sp>
      <p:sp>
        <p:nvSpPr>
          <p:cNvPr id="136" name="Oval 135"/>
          <p:cNvSpPr/>
          <p:nvPr/>
        </p:nvSpPr>
        <p:spPr>
          <a:xfrm>
            <a:off x="7852083" y="4416552"/>
            <a:ext cx="310896" cy="310896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864531" y="482803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Carrier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8144691" y="4005072"/>
            <a:ext cx="199861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556F00"/>
                </a:solidFill>
                <a:latin typeface="JetBrains Mono"/>
              </a:rPr>
              <a:t>2 signatures</a:t>
            </a:r>
          </a:p>
        </p:txBody>
      </p:sp>
      <p:sp>
        <p:nvSpPr>
          <p:cNvPr id="139" name="Oval 138"/>
          <p:cNvSpPr/>
          <p:nvPr/>
        </p:nvSpPr>
        <p:spPr>
          <a:xfrm>
            <a:off x="10125020" y="4416552"/>
            <a:ext cx="310896" cy="310896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9137468" y="482803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Customs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417628" y="4005072"/>
            <a:ext cx="199861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556F00"/>
                </a:solidFill>
                <a:latin typeface="JetBrains Mono"/>
              </a:rPr>
              <a:t>2 signatures</a:t>
            </a:r>
          </a:p>
        </p:txBody>
      </p:sp>
      <p:sp>
        <p:nvSpPr>
          <p:cNvPr id="142" name="Oval 141"/>
          <p:cNvSpPr/>
          <p:nvPr/>
        </p:nvSpPr>
        <p:spPr>
          <a:xfrm>
            <a:off x="12397957" y="4416552"/>
            <a:ext cx="310896" cy="310896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11410405" y="482803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Recipient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2690565" y="4005072"/>
            <a:ext cx="199861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556F00"/>
                </a:solidFill>
                <a:latin typeface="JetBrains Mono"/>
              </a:rPr>
              <a:t>2 signatures</a:t>
            </a:r>
          </a:p>
        </p:txBody>
      </p:sp>
      <p:sp>
        <p:nvSpPr>
          <p:cNvPr id="145" name="Oval 144"/>
          <p:cNvSpPr/>
          <p:nvPr/>
        </p:nvSpPr>
        <p:spPr>
          <a:xfrm>
            <a:off x="14670894" y="441655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13683342" y="482803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Delivered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3683342" y="52303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to the holder</a:t>
            </a:r>
          </a:p>
        </p:txBody>
      </p:sp>
      <p:sp>
        <p:nvSpPr>
          <p:cNvPr id="148" name="Oval 147"/>
          <p:cNvSpPr/>
          <p:nvPr/>
        </p:nvSpPr>
        <p:spPr>
          <a:xfrm>
            <a:off x="16943831" y="441655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15956280" y="482803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Burned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5956280" y="52303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existing redeem¹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914400" y="5897880"/>
            <a:ext cx="164592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3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300" b="1">
                <a:solidFill>
                  <a:srgbClr val="0E0F11"/>
                </a:solidFill>
                <a:latin typeface="Instrument Sans"/>
              </a:rPr>
              <a:t>Rule of every link: </a:t>
            </a:r>
            <a:r>
              <a:rPr sz="2300" b="0">
                <a:solidFill>
                  <a:srgbClr val="0E0F11"/>
                </a:solidFill>
                <a:latin typeface="Instrument Sans"/>
              </a:rPr>
              <a:t>both sides sign one Stellar transaction (delivery: recipient and holder), or the call fails.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3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300" b="0">
                <a:solidFill>
                  <a:srgbClr val="0E0F11"/>
                </a:solidFill>
                <a:latin typeface="Instrument Sans"/>
              </a:rPr>
              <a:t>Each step extends the on-chain </a:t>
            </a:r>
            <a:r>
              <a:rPr sz="2300" b="0">
                <a:solidFill>
                  <a:srgbClr val="0E0F11"/>
                </a:solidFill>
                <a:latin typeface="JetBrains Mono"/>
              </a:rPr>
              <a:t>head</a:t>
            </a:r>
            <a:r>
              <a:rPr sz="2300" b="0">
                <a:solidFill>
                  <a:srgbClr val="0E0F11"/>
                </a:solidFill>
                <a:latin typeface="Instrument Sans"/>
              </a:rPr>
              <a:t>: anyone can replay the history from Horizon and check it against the head.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3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300" b="0">
                <a:solidFill>
                  <a:srgbClr val="0E0F11"/>
                </a:solidFill>
                <a:latin typeface="Instrument Sans"/>
              </a:rPr>
              <a:t>The token stays with its holder in transit; only custody moves.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14400" y="781812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800" b="1">
                <a:solidFill>
                  <a:srgbClr val="0E0F11"/>
                </a:solidFill>
                <a:latin typeface="Instrument Sans"/>
              </a:rPr>
              <a:t>Built: this lifecycle on testnet, test keys. Next: real companies on the rail, the standard, integrations.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Keyed by sha256(container | origin); sits beside the carrier's bill of lading. ¹ Radox policy, not enforced on-chain; redeem needs the holder's signature.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13151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06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WHY STELLAR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452628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THE PROOF · LIVE ON TESTNET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2A2F3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A3A8B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E7E8EA"/>
                </a:solidFill>
                <a:latin typeface="Inter Tight"/>
              </a:rPr>
              <a:t>The lifecycle ran on testnet</a:t>
            </a:r>
          </a:p>
        </p:txBody>
      </p:sp>
      <p:pic>
        <p:nvPicPr>
          <p:cNvPr id="125" name="Picture 124" descr="page-handovers-row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108960"/>
            <a:ext cx="6766560" cy="4591594"/>
          </a:xfrm>
          <a:prstGeom prst="rect">
            <a:avLst/>
          </a:prstGeom>
        </p:spPr>
      </p:pic>
      <p:sp>
        <p:nvSpPr>
          <p:cNvPr id="126" name="Rectangle 125"/>
          <p:cNvSpPr/>
          <p:nvPr/>
        </p:nvSpPr>
        <p:spPr>
          <a:xfrm>
            <a:off x="914400" y="3108960"/>
            <a:ext cx="6766560" cy="4591594"/>
          </a:xfrm>
          <a:prstGeom prst="rect">
            <a:avLst/>
          </a:prstGeom>
          <a:noFill/>
          <a:ln w="12700">
            <a:solidFill>
              <a:srgbClr val="2A2F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8229600" y="30175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2b3d51f0</a:t>
            </a:r>
            <a:r>
              <a:rPr sz="1800" b="0">
                <a:solidFill>
                  <a:srgbClr val="E7E8EA"/>
                </a:solidFill>
                <a:latin typeface="Instrument Sans"/>
              </a:rPr>
              <a:t>   open · operator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229600" y="335584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635c99ac</a:t>
            </a:r>
            <a:r>
              <a:rPr sz="1800" b="0">
                <a:solidFill>
                  <a:srgbClr val="E7E8EA"/>
                </a:solidFill>
                <a:latin typeface="Instrument Sans"/>
              </a:rPr>
              <a:t>   handover 1 · Warehouse → Port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229600" y="369417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56a0f006</a:t>
            </a:r>
            <a:r>
              <a:rPr sz="1800" b="0">
                <a:solidFill>
                  <a:srgbClr val="E7E8EA"/>
                </a:solidFill>
                <a:latin typeface="Instrument Sans"/>
              </a:rPr>
              <a:t>   handover 2 · Port → Carrier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229600" y="4032504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ac268a49</a:t>
            </a:r>
            <a:r>
              <a:rPr sz="1800" b="0">
                <a:solidFill>
                  <a:srgbClr val="E7E8EA"/>
                </a:solidFill>
                <a:latin typeface="Instrument Sans"/>
              </a:rPr>
              <a:t>   handover 3 · Carrier → Customs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229600" y="4370831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5199d4fb</a:t>
            </a:r>
            <a:r>
              <a:rPr sz="1800" b="0">
                <a:solidFill>
                  <a:srgbClr val="E7E8EA"/>
                </a:solidFill>
                <a:latin typeface="Instrument Sans"/>
              </a:rPr>
              <a:t>   handover 4 · Customs → Recipient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8229600" y="470916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919def8c</a:t>
            </a:r>
            <a:r>
              <a:rPr sz="1800" b="0">
                <a:solidFill>
                  <a:srgbClr val="E7E8EA"/>
                </a:solidFill>
                <a:latin typeface="Instrument Sans"/>
              </a:rPr>
              <a:t>   deliver · Recipient → Holder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8229600" y="504748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864fd164</a:t>
            </a:r>
            <a:r>
              <a:rPr sz="1800" b="0">
                <a:solidFill>
                  <a:srgbClr val="E7E8EA"/>
                </a:solidFill>
                <a:latin typeface="Instrument Sans"/>
              </a:rPr>
              <a:t>   burn · existing redeem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8229600" y="544068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4400" b="1">
                <a:solidFill>
                  <a:srgbClr val="C6F24E"/>
                </a:solidFill>
                <a:latin typeface="Inter Tight"/>
              </a:rP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229600" y="6144768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>
                <a:solidFill>
                  <a:srgbClr val="E7E8EA"/>
                </a:solidFill>
                <a:latin typeface="Instrument Sans"/>
              </a:rPr>
              <a:t>successful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0561320" y="544068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4400" b="1">
                <a:solidFill>
                  <a:srgbClr val="C6F24E"/>
                </a:solidFill>
                <a:latin typeface="Inter Tight"/>
              </a:rP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561320" y="6144768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>
                <a:solidFill>
                  <a:srgbClr val="E7E8EA"/>
                </a:solidFill>
                <a:latin typeface="Instrument Sans"/>
              </a:rPr>
              <a:t>refused, e.g. wrong signer (simulated)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2893040" y="544068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4400" b="1">
                <a:solidFill>
                  <a:srgbClr val="C6F24E"/>
                </a:solidFill>
                <a:latin typeface="Inter Tight"/>
              </a:rPr>
              <a:t>24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2893040" y="6144768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>
                <a:solidFill>
                  <a:srgbClr val="E7E8EA"/>
                </a:solidFill>
                <a:latin typeface="Instrument Sans"/>
              </a:rPr>
              <a:t>unit tests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5224759" y="544068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4400" b="1">
                <a:solidFill>
                  <a:srgbClr val="C6F24E"/>
                </a:solidFill>
                <a:latin typeface="Inter Tight"/>
              </a:rPr>
              <a:t>MATCH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5224759" y="6144768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>
                <a:solidFill>
                  <a:srgbClr val="E7E8EA"/>
                </a:solidFill>
                <a:latin typeface="Instrument Sans"/>
              </a:rPr>
              <a:t>head check, 25 Oct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229600" y="6858000"/>
            <a:ext cx="91440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800" b="0">
                <a:solidFill>
                  <a:srgbClr val="A3A8B0"/>
                </a:solidFill>
                <a:latin typeface="JetBrains Mono"/>
              </a:rPr>
              <a:t>custody_registry </a:t>
            </a:r>
            <a:r>
              <a:rPr sz="1800" b="0">
                <a:solidFill>
                  <a:srgbClr val="E7E8EA"/>
                </a:solidFill>
                <a:latin typeface="JetBrains Mono"/>
              </a:rPr>
              <a:t>CCBJVXMJYWPHTDJHDFPRGKPGXGEP24JOPJAMUS5C3BMZJTRTWR2H4LII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Also on testnet: handovers signed from separate computers (proofs/three-machine.json); two test companies' chains on one registry, sharing stops, each dual-signed (proofs/multi-chain.json).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800" b="1">
                <a:solidFill>
                  <a:srgbClr val="E7E8EA"/>
                </a:solidFill>
                <a:latin typeface="Instrument Sans"/>
              </a:rPr>
              <a:t>Testnet, test keys.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07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BUILT THIS WEEKEND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97763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ECOSYSTEM · WHY STELLAR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Why Stellar: all signers, one call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914400" y="31272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914400" y="3319272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JetBrains Mono"/>
              </a:rPr>
              <a:t>01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828800" y="3246120"/>
            <a:ext cx="5852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Multi-party auth in one call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7863840" y="3264408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Soroban authorises both companies of a link inside one contract invocation: the handover is atomic.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914400" y="44988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914400" y="4690872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JetBrains Mono"/>
              </a:rPr>
              <a:t>02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28800" y="4617720"/>
            <a:ext cx="5852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History from Horizon, checked by an on-chain head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863840" y="4636007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RPC keeps contract events about 7 days, so we replay each shipment's transactions from Horizon and check them against the head stored in the contract.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914400" y="58704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914400" y="6062472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JetBrains Mono"/>
              </a:rPr>
              <a:t>03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5989320"/>
            <a:ext cx="5852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Any Stellar asset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7863840" y="6007607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The record stores a token address and never calls the token, so any tokenized Stellar asset can carry a custody record.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914400" y="72420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914400" y="7360920"/>
            <a:ext cx="164592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900" b="1">
                <a:solidFill>
                  <a:srgbClr val="0E0F11"/>
                </a:solidFill>
                <a:latin typeface="Instrument Sans"/>
              </a:rPr>
              <a:t>Stellar holds about US$4B in tokenized assets </a:t>
            </a:r>
            <a:r>
              <a:rPr sz="1900" b="0">
                <a:solidFill>
                  <a:srgbClr val="4D5560"/>
                </a:solidFill>
                <a:latin typeface="Instrument Sans"/>
              </a:rPr>
              <a:t>(SDF, as of 1 Sep 2026). </a:t>
            </a:r>
            <a:r>
              <a:rPr sz="1900" b="1">
                <a:solidFill>
                  <a:srgbClr val="0E0F11"/>
                </a:solidFill>
                <a:latin typeface="Instrument Sans"/>
              </a:rPr>
              <a:t>Nearest neighbours </a:t>
            </a:r>
            <a:r>
              <a:rPr sz="1900" b="0">
                <a:solidFill>
                  <a:srgbClr val="4D5560"/>
                </a:solidFill>
                <a:latin typeface="Instrument Sans"/>
              </a:rPr>
              <a:t>(LumenLoop, SCF, Scout, 24–25 Oct): </a:t>
            </a:r>
            <a:r>
              <a:rPr sz="1900" b="0">
                <a:solidFill>
                  <a:srgbClr val="0E0F11"/>
                </a:solidFill>
                <a:latin typeface="Instrument Sans"/>
              </a:rPr>
              <a:t>Kutana and Trustless Work release escrow on trade milestones; Pipeline finances commodity trade. None records a handover signed by two custodians; no SEP.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900" b="1">
                <a:solidFill>
                  <a:srgbClr val="556F00"/>
                </a:solidFill>
                <a:latin typeface="Instrument Sans"/>
              </a:rPr>
              <a:t>Open source, Apache-2.0: </a:t>
            </a:r>
            <a:r>
              <a:rPr sz="1900" b="0">
                <a:solidFill>
                  <a:srgbClr val="0E0F11"/>
                </a:solidFill>
                <a:latin typeface="Instrument Sans"/>
              </a:rPr>
              <a:t>a custody primitive any Stellar tokenized-asset issuer can reuse. Radox will open API access to them, end to end.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08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MARKET AND ASK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29183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HACKATHON PROGRESS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Built this weekend, on disclosed prior work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200400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4D5560"/>
                </a:solidFill>
                <a:latin typeface="JetBrains Mono"/>
              </a:rPr>
              <a:t>PRIOR WORK · BEFORE SUN 25 OCT 09:00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14400" y="3717036"/>
            <a:ext cx="7955279" cy="27432"/>
          </a:xfrm>
          <a:prstGeom prst="rect">
            <a:avLst/>
          </a:prstGeom>
          <a:solidFill>
            <a:srgbClr val="4D5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14400" y="3886200"/>
            <a:ext cx="7955279" cy="3383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Radox platform (closed backend); its 3 Soroban contracts are on Stellar mainnet, public since 2026-08-19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transfer_agent and its redeem (new testnet instance from the existing wasm)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Architecture notes (20 Oct), planning files (24–25 Oct), the explainer video, our agent tooling (from 22 Oct)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No contract code before then: first repo commit 25 Oct 09:00 UTC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418320" y="3200400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BUILT AT HACKMERIDIAN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9418320" y="3717036"/>
            <a:ext cx="7955279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9418320" y="3886200"/>
            <a:ext cx="7955279" cy="3383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custody_registry contract, 24 unit tests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Lifecycle harness: 7 testnet transactions, 9 refused calls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verify-head script, the public shipment page, this deck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Radox API custody route reads the registry, read-only: same head (testnet)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914400" y="7315200"/>
            <a:ext cx="16459200" cy="1325880"/>
          </a:xfrm>
          <a:prstGeom prst="roundRect">
            <a:avLst>
              <a:gd name="adj" fmla="val 11034"/>
            </a:avLst>
          </a:prstGeom>
          <a:solidFill>
            <a:srgbClr val="FFFFFF"/>
          </a:solidFill>
          <a:ln w="12700">
            <a:solidFill>
              <a:srgbClr val="DFD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234440" y="7424927"/>
            <a:ext cx="1581912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AI attribution  </a:t>
            </a:r>
            <a:r>
              <a:rPr sz="2000" b="0">
                <a:solidFill>
                  <a:srgbClr val="0E0F11"/>
                </a:solidFill>
                <a:latin typeface="Instrument Sans"/>
              </a:rPr>
              <a:t>Code, tests, scripts, the shipment page, docs and this deck were made with AI coding agents (Claude Code); the team decided scope and what ships. Per-file record in AI_USAGE.md. The video narration is an AI voice generated from Pedro's voice.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09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THE TEAM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411480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MARKET · MODEL · THE ASK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One rail, every corridor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017520"/>
            <a:ext cx="9692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MARKET · SOURCED FIGURES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14400" y="3442715"/>
            <a:ext cx="969264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14400" y="3611880"/>
            <a:ext cx="4663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4800" b="1">
                <a:solidFill>
                  <a:srgbClr val="0E0F11"/>
                </a:solidFill>
                <a:latin typeface="Inter Tight"/>
              </a:rPr>
              <a:t>US$94.2B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14400" y="4389120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0E0F11"/>
                </a:solidFill>
                <a:latin typeface="Instrument Sans"/>
              </a:rPr>
              <a:t>US–Brazil goods trade, 2025¹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852160" y="3611880"/>
            <a:ext cx="4663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4800" b="1">
                <a:solidFill>
                  <a:srgbClr val="0E0F11"/>
                </a:solidFill>
                <a:latin typeface="Inter Tight"/>
              </a:rPr>
              <a:t>US$6.1B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852160" y="4389120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0E0F11"/>
                </a:solidFill>
                <a:latin typeface="Instrument Sans"/>
              </a:rPr>
              <a:t>Florida's goods exports to Brazil, its #1 market, 2025²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914400" y="5230368"/>
            <a:ext cx="96926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0E0F11"/>
                </a:solidFill>
                <a:latin typeface="Instrument Sans"/>
              </a:rPr>
              <a:t>Global: </a:t>
            </a:r>
            <a:r>
              <a:rPr sz="2000" b="0">
                <a:solidFill>
                  <a:srgbClr val="0E0F11"/>
                </a:solidFill>
                <a:latin typeface="Instrument Sans"/>
              </a:rPr>
              <a:t>US$26.26T world merchandise exports, 2025³; ~80% of goods trade by volume goes by sea⁴; ~45M ocean bills of lading a year⁵.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60" y="301752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0E0F11"/>
                </a:solidFill>
                <a:latin typeface="JetBrains Mono"/>
              </a:rPr>
              <a:t>MODEL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11338560" y="3442715"/>
            <a:ext cx="6035040" cy="27432"/>
          </a:xfrm>
          <a:prstGeom prst="rect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11338560" y="3611880"/>
            <a:ext cx="6035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0E0F11"/>
                </a:solidFill>
                <a:latin typeface="Inter Tight"/>
              </a:rPr>
              <a:t>Subscription per connected institution + a fee per shipment.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1338560" y="4800600"/>
            <a:ext cx="6035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4D5560"/>
                </a:solidFill>
                <a:latin typeface="Instrument Sans"/>
              </a:rPr>
              <a:t>Borrows the shape of Swift's billing rules: entry, annual, per-message usage⁶. Not affiliated with Swift.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14400" y="6035040"/>
            <a:ext cx="16459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556F00"/>
                </a:solidFill>
                <a:latin typeface="JetBrains Mono"/>
              </a:rPr>
              <a:t>Now </a:t>
            </a:r>
            <a:r>
              <a:rPr sz="2000" b="0">
                <a:solidFill>
                  <a:srgbClr val="0E0F11"/>
                </a:solidFill>
                <a:latin typeface="Instrument Sans"/>
              </a:rPr>
              <a:t>running on testnet, test keys.  </a:t>
            </a:r>
            <a:r>
              <a:rPr sz="2000" b="1">
                <a:solidFill>
                  <a:srgbClr val="556F00"/>
                </a:solidFill>
                <a:latin typeface="JetBrains Mono"/>
              </a:rPr>
              <a:t>Next </a:t>
            </a:r>
            <a:r>
              <a:rPr sz="2000" b="0">
                <a:solidFill>
                  <a:srgbClr val="0E0F11"/>
                </a:solidFill>
                <a:latin typeface="Instrument Sans"/>
              </a:rPr>
              <a:t>the Rio–Miami pilot shipment, SCF Build, audit, mainnet, API for other Stellar assets.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14400" y="6510528"/>
            <a:ext cx="16459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¹ US Census Bureau, Trade in Goods with Brazil, 2025 (exports + imports, sum ours)  ² USTR, Florida trade data, 2025  ³ WTO, Mar 2026  ⁴ UNCTAD, Review of Maritime Transport (undated page, opened 25 Oct 2026)  ⁵ DCSA, Feb 2023  ⁶ swift.com billing rules, accessed 25 Oct 2026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914400" y="7223760"/>
            <a:ext cx="16459200" cy="1234440"/>
          </a:xfrm>
          <a:prstGeom prst="roundRect">
            <a:avLst>
              <a:gd name="adj" fmla="val 11851"/>
            </a:avLst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1325880" y="7223760"/>
            <a:ext cx="15636240" cy="1234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0E0F11"/>
                </a:solidFill>
                <a:latin typeface="JetBrains Mono"/>
              </a:rPr>
              <a:t>Our ask  </a:t>
            </a:r>
            <a:r>
              <a:rPr sz="2400" b="1">
                <a:solidFill>
                  <a:srgbClr val="0E0F11"/>
                </a:solidFill>
                <a:latin typeface="Instrument Sans"/>
              </a:rPr>
              <a:t>Introductions to one financial institution and one port, airport or logistics operator for a first pilot shipment, and a Stellar engineer's review of the design.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10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FINAL STOP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192024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THE TEAM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Why us: a founder already on Stellar mainnet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108960"/>
            <a:ext cx="98755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Pedro Wakigawa Saragossy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Founder, captain. Built Radox: 3 Soroban contracts on Stellar mainnet.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14400" y="4251960"/>
            <a:ext cx="98755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Leo Schlanger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Developer: custody_registry, the testnet harness and the proofs.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5394960"/>
            <a:ext cx="98755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Vhendala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QA and product review: reads every deliverable as a judge would.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14400" y="6537960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4D5560"/>
                </a:solidFill>
                <a:latin typeface="Instrument Sans"/>
              </a:rPr>
              <a:t>Leo and Vhendala joined for the hackathon.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1338560" y="3108960"/>
            <a:ext cx="6035040" cy="3657600"/>
          </a:xfrm>
          <a:prstGeom prst="roundRect">
            <a:avLst>
              <a:gd name="adj" fmla="val 4000"/>
            </a:avLst>
          </a:prstGeom>
          <a:noFill/>
          <a:ln w="12700">
            <a:solidFill>
              <a:srgbClr val="4D556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1338560" y="3108960"/>
            <a:ext cx="6035040" cy="365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4D5560"/>
                </a:solidFill>
                <a:latin typeface="Instrument Sans"/>
              </a:rPr>
              <a:t>Team photo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914400" y="6995160"/>
            <a:ext cx="1645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800" b="1">
                <a:solidFill>
                  <a:srgbClr val="556F00"/>
                </a:solidFill>
                <a:latin typeface="Inter Tight"/>
              </a:rPr>
              <a:t>Rio–Miami first. Our goal: one rail for goods, every corridor.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914400" y="7626096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914400" y="7726679"/>
            <a:ext cx="16459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Live page  </a:t>
            </a:r>
            <a:r>
              <a:rPr sz="1800" b="0">
                <a:solidFill>
                  <a:srgbClr val="0E0F11"/>
                </a:solidFill>
                <a:latin typeface="JetBrains Mono"/>
              </a:rPr>
              <a:t>rio-miami-rail.vercel.app</a:t>
            </a:r>
            <a:r>
              <a:rPr sz="1800" b="1">
                <a:solidFill>
                  <a:srgbClr val="556F00"/>
                </a:solidFill>
                <a:latin typeface="JetBrains Mono"/>
              </a:rPr>
              <a:t>     Code  </a:t>
            </a:r>
            <a:r>
              <a:rPr sz="1800" b="0">
                <a:solidFill>
                  <a:srgbClr val="0E0F11"/>
                </a:solidFill>
                <a:latin typeface="JetBrains Mono"/>
              </a:rPr>
              <a:t>github.com/pwsaragossy/rio-miami-rail (Apache-2.0)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AI  </a:t>
            </a:r>
            <a:r>
              <a:rPr sz="1800" b="0">
                <a:solidFill>
                  <a:srgbClr val="0E0F11"/>
                </a:solidFill>
                <a:latin typeface="Instrument Sans"/>
              </a:rPr>
              <a:t>Code, page, docs and deck made with AI coding agents (Claude Code). Narration: an AI voice from Pedro's voice. No AI-generated images in this deck.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
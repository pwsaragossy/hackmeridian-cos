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font" Target="fonts/InstrumentSans-regular.fntdata"/><Relationship Id="rId12" Type="http://schemas.openxmlformats.org/officeDocument/2006/relationships/font" Target="fonts/InstrumentSans-bold.fntdata"/><Relationship Id="rId13" Type="http://schemas.openxmlformats.org/officeDocument/2006/relationships/font" Target="fonts/InstrumentSans-italic.fntdata"/><Relationship Id="rId14" Type="http://schemas.openxmlformats.org/officeDocument/2006/relationships/font" Target="fonts/InstrumentSans-boldItalic.fntdata"/><Relationship Id="rId15" Type="http://schemas.openxmlformats.org/officeDocument/2006/relationships/font" Target="fonts/InterTight-regular.fntdata"/><Relationship Id="rId16" Type="http://schemas.openxmlformats.org/officeDocument/2006/relationships/font" Target="fonts/InterTight-bold.fntdata"/><Relationship Id="rId17" Type="http://schemas.openxmlformats.org/officeDocument/2006/relationships/font" Target="fonts/InterTight-italic.fntdata"/><Relationship Id="rId18" Type="http://schemas.openxmlformats.org/officeDocument/2006/relationships/font" Target="fonts/InterTight-boldItalic.fntdata"/><Relationship Id="rId19" Type="http://schemas.openxmlformats.org/officeDocument/2006/relationships/font" Target="fonts/JetBrainsMono-regular.fntdata"/><Relationship Id="rId20" Type="http://schemas.openxmlformats.org/officeDocument/2006/relationships/font" Target="fonts/JetBrainsMono-bold.fntdata"/><Relationship Id="rId21" Type="http://schemas.openxmlformats.org/officeDocument/2006/relationships/font" Target="fonts/JetBrainsMono-italic.fntdata"/><Relationship Id="rId22" Type="http://schemas.openxmlformats.org/officeDocument/2006/relationships/font" Target="fonts/JetBrainsMono-boldItalic.fntdata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/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10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644652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C6F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TESTNET · TEST KEYS · NOT REAL CUSTODIANS</a:t>
            </a:r>
            <a:endParaRPr/>
          </a:p>
        </p:txBody>
      </p:sp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812280"/>
            <a:ext cx="4721192" cy="822960"/>
          </a:xfrm>
          <a:prstGeom prst="rect">
            <a:avLst/>
          </a:prstGeom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6967728"/>
            <a:ext cx="2159633" cy="512064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6903720"/>
            <a:ext cx="2483581" cy="621792"/>
          </a:xfrm>
          <a:prstGeom prst="rect">
            <a:avLst/>
          </a:prstGeom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C6F24E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C6F24E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14400" y="2331720"/>
            <a:ext cx="1143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0000" b="1">
                <a:solidFill>
                  <a:srgbClr val="C6F24E"/>
                </a:solidFill>
                <a:latin typeface="Inter Tight"/>
              </a:rPr>
              <a:t>Radox Custody Rail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" y="37947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E7E8EA"/>
                </a:solidFill>
                <a:latin typeface="Inter Tight"/>
              </a:rPr>
              <a:t>Know who holds the goods: every handover signed by both custodians.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5440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A3A8B0"/>
                </a:solidFill>
                <a:latin typeface="Instrument Sans"/>
              </a:rPr>
              <a:t>Toward a SWIFT-like custody standard on Stellar  ·  Pilot corridor: Rio–Miami</a:t>
            </a:r>
          </a:p>
        </p:txBody>
      </p:sp>
      <p:pic>
        <p:nvPicPr>
          <p:cNvPr id="105" name="Picture 104" descr="qr-page-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1800" y="1600200"/>
            <a:ext cx="2377440" cy="23774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3075920" y="411480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000" b="0">
                <a:solidFill>
                  <a:srgbClr val="E7E8EA"/>
                </a:solidFill>
                <a:latin typeface="Instrument Sans"/>
              </a:rPr>
              <a:t>Scan: the live shipment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C6F24E"/>
                </a:solidFill>
                <a:latin typeface="JetBrains Mono"/>
              </a:rPr>
              <a:t>rio-miami-rail.vercel.app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801600" y="5609844"/>
            <a:ext cx="4572000" cy="27432"/>
          </a:xfrm>
          <a:prstGeom prst="rect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2682728" y="5504688"/>
            <a:ext cx="237744" cy="23774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3642848" y="5550408"/>
            <a:ext cx="146304" cy="14630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4557248" y="5550408"/>
            <a:ext cx="146304" cy="14630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5471648" y="5550408"/>
            <a:ext cx="146304" cy="14630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6386048" y="5550408"/>
            <a:ext cx="146304" cy="14630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7254728" y="5504688"/>
            <a:ext cx="237744" cy="23774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682728" y="5870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A3A8B0"/>
                </a:solidFill>
                <a:latin typeface="JetBrains Mono"/>
              </a:rPr>
              <a:t>RIO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663672" y="5870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A3A8B0"/>
                </a:solidFill>
                <a:latin typeface="JetBrains Mono"/>
              </a:rPr>
              <a:t>MIAMI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SOLUTION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3154679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PMF · THE PROBLEM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0E0F11"/>
                </a:solidFill>
                <a:latin typeface="Inter Tight"/>
              </a:rPr>
              <a:t>Who holds the cargo right now?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324612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0">
                <a:solidFill>
                  <a:srgbClr val="0E0F11"/>
                </a:solidFill>
                <a:latin typeface="Instrument Sans"/>
              </a:rPr>
              <a:t>Between seller and buyer, a shipment changes hands several times.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737360" y="4878324"/>
            <a:ext cx="8686800" cy="27432"/>
          </a:xfrm>
          <a:prstGeom prst="rect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581912" y="4736592"/>
            <a:ext cx="310896" cy="310896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0080" y="518464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0E0F11"/>
                </a:solidFill>
                <a:latin typeface="Instrument Sans"/>
              </a:rPr>
              <a:t>Warehouse</a:t>
            </a:r>
          </a:p>
        </p:txBody>
      </p:sp>
      <p:sp>
        <p:nvSpPr>
          <p:cNvPr id="129" name="Oval 128"/>
          <p:cNvSpPr/>
          <p:nvPr/>
        </p:nvSpPr>
        <p:spPr>
          <a:xfrm>
            <a:off x="3753612" y="4736592"/>
            <a:ext cx="310896" cy="310896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811780" y="518464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0E0F11"/>
                </a:solidFill>
                <a:latin typeface="Instrument Sans"/>
              </a:rPr>
              <a:t>Port</a:t>
            </a:r>
          </a:p>
        </p:txBody>
      </p:sp>
      <p:sp>
        <p:nvSpPr>
          <p:cNvPr id="131" name="Oval 130"/>
          <p:cNvSpPr/>
          <p:nvPr/>
        </p:nvSpPr>
        <p:spPr>
          <a:xfrm>
            <a:off x="5925312" y="4736592"/>
            <a:ext cx="310896" cy="310896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983480" y="518464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0E0F11"/>
                </a:solidFill>
                <a:latin typeface="Instrument Sans"/>
              </a:rPr>
              <a:t>Carrier</a:t>
            </a:r>
          </a:p>
        </p:txBody>
      </p:sp>
      <p:sp>
        <p:nvSpPr>
          <p:cNvPr id="133" name="Oval 132"/>
          <p:cNvSpPr/>
          <p:nvPr/>
        </p:nvSpPr>
        <p:spPr>
          <a:xfrm>
            <a:off x="8097012" y="4736592"/>
            <a:ext cx="310896" cy="310896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155180" y="518464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0E0F11"/>
                </a:solidFill>
                <a:latin typeface="Instrument Sans"/>
              </a:rPr>
              <a:t>Customs</a:t>
            </a:r>
          </a:p>
        </p:txBody>
      </p:sp>
      <p:sp>
        <p:nvSpPr>
          <p:cNvPr id="135" name="Oval 134"/>
          <p:cNvSpPr/>
          <p:nvPr/>
        </p:nvSpPr>
        <p:spPr>
          <a:xfrm>
            <a:off x="10268712" y="4736592"/>
            <a:ext cx="310896" cy="310896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326880" y="518464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0E0F11"/>
                </a:solidFill>
                <a:latin typeface="Instrument Sans"/>
              </a:rPr>
              <a:t>Buyer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4400" y="585216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0">
                <a:solidFill>
                  <a:srgbClr val="4D5560"/>
                </a:solidFill>
                <a:latin typeface="Instrument Sans"/>
              </a:rPr>
              <a:t>Handovers are mostly paper, or sit inside each operator's own system: no shared record crosses borders.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4400" y="694944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556F00"/>
                </a:solidFill>
                <a:latin typeface="Instrument Sans"/>
              </a:rPr>
              <a:t>Our hypothesis: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a financier cannot see who holds the goods before paying. No customer has confirmed it yet; we are testing it with mentors.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070080" y="324612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6400" b="1">
                <a:solidFill>
                  <a:srgbClr val="0E0F11"/>
                </a:solidFill>
                <a:latin typeface="Inter Tight"/>
              </a:rPr>
              <a:t>US$2.5T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070080" y="4206240"/>
            <a:ext cx="5303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1">
                <a:solidFill>
                  <a:srgbClr val="0E0F11"/>
                </a:solidFill>
                <a:latin typeface="Instrument Sans"/>
              </a:rPr>
              <a:t>Global trade finance gap.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800" b="0">
                <a:solidFill>
                  <a:srgbClr val="4D5560"/>
                </a:solidFill>
                <a:latin typeface="Instrument Sans"/>
              </a:rPr>
              <a:t>ADB Global Trade Finance Gap Survey, Dec 2025. It sizes the financing gap; it is not evidence of the custody problem.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4400" y="800100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4D5560"/>
                </a:solidFill>
                <a:latin typeface="Instrument Sans"/>
              </a:rPr>
              <a:t>Context: our explainer video about a Rio–Miami trade-corridor initiative poses one possibility: a unique digital record for every shipment that both sides can check. This project is a custody layer for that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PRODUCT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468879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SOLUTION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0E0F11"/>
                </a:solidFill>
                <a:latin typeface="Inter Tight"/>
              </a:rPr>
              <a:t>Both custodians sign, or nothing changes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14400" y="3291840"/>
            <a:ext cx="44805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F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14400" y="347472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800" b="1">
                <a:solidFill>
                  <a:srgbClr val="0E0F11"/>
                </a:solidFill>
                <a:latin typeface="Instrument Sans"/>
              </a:rPr>
              <a:t>Outgoing custodian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4D5560"/>
                </a:solidFill>
                <a:latin typeface="JetBrains Mono"/>
              </a:rPr>
              <a:t>signs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989320" y="3291840"/>
            <a:ext cx="6309360" cy="1325880"/>
          </a:xfrm>
          <a:prstGeom prst="roundRect">
            <a:avLst>
              <a:gd name="adj" fmla="val 11034"/>
            </a:avLst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989320" y="3474720"/>
            <a:ext cx="6309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800" b="1">
                <a:solidFill>
                  <a:srgbClr val="0E0F11"/>
                </a:solidFill>
                <a:latin typeface="Instrument Sans"/>
              </a:rPr>
              <a:t>One Stellar transaction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0E0F11"/>
                </a:solidFill>
                <a:latin typeface="JetBrains Mono"/>
              </a:rPr>
              <a:t>custody_registry.handover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2893040" y="3291840"/>
            <a:ext cx="44805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F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893040" y="347472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800" b="1">
                <a:solidFill>
                  <a:srgbClr val="0E0F11"/>
                </a:solidFill>
                <a:latin typeface="Instrument Sans"/>
              </a:rPr>
              <a:t>Incoming custodian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4D5560"/>
                </a:solidFill>
                <a:latin typeface="JetBrains Mono"/>
              </a:rPr>
              <a:t>signs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394960" y="3931920"/>
            <a:ext cx="594360" cy="36576"/>
          </a:xfrm>
          <a:prstGeom prst="rect">
            <a:avLst/>
          </a:prstGeom>
          <a:solidFill>
            <a:srgbClr val="0E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2298680" y="3931920"/>
            <a:ext cx="594360" cy="36576"/>
          </a:xfrm>
          <a:prstGeom prst="rect">
            <a:avLst/>
          </a:prstGeom>
          <a:solidFill>
            <a:srgbClr val="0E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498348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E0F11"/>
                </a:solidFill>
                <a:latin typeface="Instrument Sans"/>
              </a:rPr>
              <a:t>Either signature missing → the call fails.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5897880"/>
            <a:ext cx="1645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0">
                <a:solidFill>
                  <a:srgbClr val="556F00"/>
                </a:solidFill>
                <a:latin typeface="Instrument Sans"/>
              </a:rPr>
              <a:t>— </a:t>
            </a:r>
            <a:r>
              <a:rPr sz="2600" b="0">
                <a:solidFill>
                  <a:srgbClr val="0E0F11"/>
                </a:solidFill>
                <a:latin typeface="Instrument Sans"/>
              </a:rPr>
              <a:t>Each handover moves custody and extends an on-chain hash chain, the </a:t>
            </a:r>
            <a:r>
              <a:rPr sz="2600" b="0">
                <a:solidFill>
                  <a:srgbClr val="0E0F11"/>
                </a:solidFill>
                <a:latin typeface="JetBrains Mono"/>
              </a:rPr>
              <a:t>head</a:t>
            </a:r>
            <a:r>
              <a:rPr sz="2600" b="0">
                <a:solidFill>
                  <a:srgbClr val="0E0F11"/>
                </a:solidFill>
                <a:latin typeface="Instrument Sans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0">
                <a:solidFill>
                  <a:srgbClr val="556F00"/>
                </a:solidFill>
                <a:latin typeface="Instrument Sans"/>
              </a:rPr>
              <a:t>— </a:t>
            </a:r>
            <a:r>
              <a:rPr sz="2600" b="0">
                <a:solidFill>
                  <a:srgbClr val="0E0F11"/>
                </a:solidFill>
                <a:latin typeface="Instrument Sans"/>
              </a:rPr>
              <a:t>The token stays with its holder in transit; only custody changes.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0">
                <a:solidFill>
                  <a:srgbClr val="556F00"/>
                </a:solidFill>
                <a:latin typeface="Instrument Sans"/>
              </a:rPr>
              <a:t>— </a:t>
            </a:r>
            <a:r>
              <a:rPr sz="2600" b="0">
                <a:solidFill>
                  <a:srgbClr val="0E0F11"/>
                </a:solidFill>
                <a:latin typeface="Instrument Sans"/>
              </a:rPr>
              <a:t>After Delivered, the operator burns the token with the existing </a:t>
            </a:r>
            <a:r>
              <a:rPr sz="2600" b="0">
                <a:solidFill>
                  <a:srgbClr val="0E0F11"/>
                </a:solidFill>
                <a:latin typeface="JetBrains Mono"/>
              </a:rPr>
              <a:t>redeem</a:t>
            </a:r>
            <a:r>
              <a:rPr sz="2600" b="0">
                <a:solidFill>
                  <a:srgbClr val="0E0F11"/>
                </a:solidFill>
                <a:latin typeface="Instrument Sans"/>
              </a:rPr>
              <a:t>¹.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790956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4D5560"/>
                </a:solidFill>
                <a:latin typeface="Instrument Sans"/>
              </a:rPr>
              <a:t>A custody record keyed to the container number. In production it would sit beside the carrier's bill of lading; not integrated in this build.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4D5560"/>
                </a:solidFill>
                <a:latin typeface="Instrument Sans"/>
              </a:rPr>
              <a:t>¹ Radox platform policy, not enforced on-chain by the registry; redeem still needs the holder's signature.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13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4800600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PRODUCT · LIVE ON TESTNET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2A2F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8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E7E8EA"/>
                </a:solidFill>
                <a:latin typeface="Inter Tight"/>
              </a:rPr>
              <a:t>Anyone can check the chain. No login.</a:t>
            </a:r>
          </a:p>
        </p:txBody>
      </p:sp>
      <p:pic>
        <p:nvPicPr>
          <p:cNvPr id="125" name="Picture 124" descr="page-handovers-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8138160" cy="5522323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914400" y="3154680"/>
            <a:ext cx="8138160" cy="5522322"/>
          </a:xfrm>
          <a:prstGeom prst="rect">
            <a:avLst/>
          </a:prstGeom>
          <a:noFill/>
          <a:ln w="12700">
            <a:solidFill>
              <a:srgbClr val="2A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92640" y="3154680"/>
            <a:ext cx="7680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C6F24E"/>
                </a:solidFill>
                <a:latin typeface="Instrument Sans"/>
              </a:rPr>
              <a:t>Verify head</a:t>
            </a:r>
            <a:r>
              <a:rPr sz="2600" b="0">
                <a:solidFill>
                  <a:srgbClr val="E7E8EA"/>
                </a:solidFill>
                <a:latin typeface="Instrument Sans"/>
              </a:rPr>
              <a:t> recomputes the hash chain in the browser and compares it with the head stored in the contract.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92640" y="52578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8000" b="1">
                <a:solidFill>
                  <a:srgbClr val="C6F24E"/>
                </a:solidFill>
                <a:latin typeface="JetBrains Mono"/>
              </a:rPr>
              <a:t>MATCH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92640" y="63550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A3A8B0"/>
                </a:solidFill>
                <a:latin typeface="Instrument Sans"/>
              </a:rPr>
              <a:t>Clicked live on 25 Oct 2026.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A3A8B0"/>
                </a:solidFill>
                <a:latin typeface="Instrument Sans"/>
              </a:rPr>
              <a:t>Read-only: Stellar RPC and Horizon, no wallet.</a:t>
            </a:r>
          </a:p>
        </p:txBody>
      </p:sp>
      <p:pic>
        <p:nvPicPr>
          <p:cNvPr id="130" name="Picture 129" descr="qr-page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920" y="5669280"/>
            <a:ext cx="2011680" cy="201168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12801600" y="7863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C6F24E"/>
                </a:solidFill>
                <a:latin typeface="JetBrains Mono"/>
              </a:rPr>
              <a:t>rio-miami-rail.vercel.app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1315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WHY STELLAR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3291839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WORKFLOW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2A2F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3A8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E7E8EA"/>
                </a:solidFill>
                <a:latin typeface="Inter Tight"/>
              </a:rPr>
              <a:t>7 testnet transactions. All successful.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090057" y="3415284"/>
            <a:ext cx="14107885" cy="27432"/>
          </a:xfrm>
          <a:prstGeom prst="rect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907177" y="3246120"/>
            <a:ext cx="365760" cy="365760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0120" y="3749039"/>
            <a:ext cx="225987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>
                <a:solidFill>
                  <a:srgbClr val="E7E8EA"/>
                </a:solidFill>
                <a:latin typeface="Instrument Sans"/>
              </a:rPr>
              <a:t>open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operator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0120" y="4663440"/>
            <a:ext cx="2259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9FB2CC"/>
                </a:solidFill>
                <a:latin typeface="JetBrains Mono"/>
              </a:rPr>
              <a:t>2b3d51f0</a:t>
            </a:r>
          </a:p>
        </p:txBody>
      </p:sp>
      <p:sp>
        <p:nvSpPr>
          <p:cNvPr id="129" name="Oval 128"/>
          <p:cNvSpPr/>
          <p:nvPr/>
        </p:nvSpPr>
        <p:spPr>
          <a:xfrm>
            <a:off x="4322499" y="3310128"/>
            <a:ext cx="237744" cy="23774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11434" y="3749039"/>
            <a:ext cx="225987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>
                <a:solidFill>
                  <a:srgbClr val="E7E8EA"/>
                </a:solidFill>
                <a:latin typeface="Instrument Sans"/>
              </a:rPr>
              <a:t>handover 1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Warehouse → Port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11434" y="4663440"/>
            <a:ext cx="2259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9FB2CC"/>
                </a:solidFill>
                <a:latin typeface="JetBrains Mono"/>
              </a:rPr>
              <a:t>635c99ac</a:t>
            </a:r>
          </a:p>
        </p:txBody>
      </p:sp>
      <p:sp>
        <p:nvSpPr>
          <p:cNvPr id="132" name="Oval 131"/>
          <p:cNvSpPr/>
          <p:nvPr/>
        </p:nvSpPr>
        <p:spPr>
          <a:xfrm>
            <a:off x="6673813" y="3310128"/>
            <a:ext cx="237744" cy="23774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662748" y="3749039"/>
            <a:ext cx="225987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>
                <a:solidFill>
                  <a:srgbClr val="E7E8EA"/>
                </a:solidFill>
                <a:latin typeface="Instrument Sans"/>
              </a:rPr>
              <a:t>handover 2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Port → Carrier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2748" y="4663440"/>
            <a:ext cx="2259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9FB2CC"/>
                </a:solidFill>
                <a:latin typeface="JetBrains Mono"/>
              </a:rPr>
              <a:t>56a0f006</a:t>
            </a:r>
          </a:p>
        </p:txBody>
      </p:sp>
      <p:sp>
        <p:nvSpPr>
          <p:cNvPr id="135" name="Oval 134"/>
          <p:cNvSpPr/>
          <p:nvPr/>
        </p:nvSpPr>
        <p:spPr>
          <a:xfrm>
            <a:off x="9025128" y="3310128"/>
            <a:ext cx="237744" cy="23774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014062" y="3749039"/>
            <a:ext cx="225987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>
                <a:solidFill>
                  <a:srgbClr val="E7E8EA"/>
                </a:solidFill>
                <a:latin typeface="Instrument Sans"/>
              </a:rPr>
              <a:t>handover 3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Carrier → Customs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14062" y="4663440"/>
            <a:ext cx="2259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9FB2CC"/>
                </a:solidFill>
                <a:latin typeface="JetBrains Mono"/>
              </a:rPr>
              <a:t>ac268a49</a:t>
            </a:r>
          </a:p>
        </p:txBody>
      </p:sp>
      <p:sp>
        <p:nvSpPr>
          <p:cNvPr id="138" name="Oval 137"/>
          <p:cNvSpPr/>
          <p:nvPr/>
        </p:nvSpPr>
        <p:spPr>
          <a:xfrm>
            <a:off x="11376442" y="3310128"/>
            <a:ext cx="237744" cy="23774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65377" y="3749039"/>
            <a:ext cx="225987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>
                <a:solidFill>
                  <a:srgbClr val="E7E8EA"/>
                </a:solidFill>
                <a:latin typeface="Instrument Sans"/>
              </a:rPr>
              <a:t>handover 4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Customs → Recipient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65377" y="4663440"/>
            <a:ext cx="2259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9FB2CC"/>
                </a:solidFill>
                <a:latin typeface="JetBrains Mono"/>
              </a:rPr>
              <a:t>5199d4fb</a:t>
            </a:r>
          </a:p>
        </p:txBody>
      </p:sp>
      <p:sp>
        <p:nvSpPr>
          <p:cNvPr id="141" name="Oval 140"/>
          <p:cNvSpPr/>
          <p:nvPr/>
        </p:nvSpPr>
        <p:spPr>
          <a:xfrm>
            <a:off x="13727756" y="3310128"/>
            <a:ext cx="237744" cy="237744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2716691" y="3749039"/>
            <a:ext cx="225987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>
                <a:solidFill>
                  <a:srgbClr val="E7E8EA"/>
                </a:solidFill>
                <a:latin typeface="Instrument Sans"/>
              </a:rPr>
              <a:t>deliver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Recipient → Holder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716691" y="4663440"/>
            <a:ext cx="2259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9FB2CC"/>
                </a:solidFill>
                <a:latin typeface="JetBrains Mono"/>
              </a:rPr>
              <a:t>919def8c</a:t>
            </a:r>
          </a:p>
        </p:txBody>
      </p:sp>
      <p:sp>
        <p:nvSpPr>
          <p:cNvPr id="144" name="Oval 143"/>
          <p:cNvSpPr/>
          <p:nvPr/>
        </p:nvSpPr>
        <p:spPr>
          <a:xfrm>
            <a:off x="16015062" y="3246120"/>
            <a:ext cx="365760" cy="365760"/>
          </a:xfrm>
          <a:prstGeom prst="ellipse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5068005" y="3749039"/>
            <a:ext cx="225987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2400" b="1">
                <a:solidFill>
                  <a:srgbClr val="E7E8EA"/>
                </a:solidFill>
                <a:latin typeface="Instrument Sans"/>
              </a:rPr>
              <a:t>burn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existing redeem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5068005" y="4663440"/>
            <a:ext cx="2259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9FB2CC"/>
                </a:solidFill>
                <a:latin typeface="JetBrains Mono"/>
              </a:rPr>
              <a:t>864fd164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4400" y="53492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7200" b="1">
                <a:solidFill>
                  <a:srgbClr val="C6F24E"/>
                </a:solidFill>
                <a:latin typeface="Inter Tight"/>
              </a:rPr>
              <a:t>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" y="64008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E7E8EA"/>
                </a:solidFill>
                <a:latin typeface="Instrument Sans"/>
              </a:rPr>
              <a:t>successful testnet transactions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20640" y="53492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7200" b="1">
                <a:solidFill>
                  <a:srgbClr val="C6F24E"/>
                </a:solidFill>
                <a:latin typeface="Inter Tight"/>
              </a:rPr>
              <a:t>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120640" y="64008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E7E8EA"/>
                </a:solidFill>
                <a:latin typeface="Instrument Sans"/>
              </a:rPr>
              <a:t>invalid calls refused (simulated)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326880" y="53492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7200" b="1">
                <a:solidFill>
                  <a:srgbClr val="C6F24E"/>
                </a:solidFill>
                <a:latin typeface="Inter Tight"/>
              </a:rPr>
              <a:t>24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326880" y="64008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E7E8EA"/>
                </a:solidFill>
                <a:latin typeface="Instrument Sans"/>
              </a:rPr>
              <a:t>contract unit tests pass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533119" y="53492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7200" b="1">
                <a:solidFill>
                  <a:srgbClr val="C6F24E"/>
                </a:solidFill>
                <a:latin typeface="Inter Tight"/>
              </a:rPr>
              <a:t>MATCH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533119" y="64008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E7E8EA"/>
                </a:solidFill>
                <a:latin typeface="Instrument Sans"/>
              </a:rPr>
              <a:t>verify-head rebuilds the chain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14400" y="7360920"/>
            <a:ext cx="1645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A3A8B0"/>
                </a:solidFill>
                <a:latin typeface="JetBrains Mono"/>
              </a:rPr>
              <a:t>custody_registry  </a:t>
            </a:r>
            <a:r>
              <a:rPr sz="1800" b="0">
                <a:solidFill>
                  <a:srgbClr val="E7E8EA"/>
                </a:solidFill>
                <a:latin typeface="JetBrains Mono"/>
              </a:rPr>
              <a:t>CCBJVXMJYWPHTDJHDFPRGKPGXGEP24JOPJAMUS5C3BMZJTRTWR2H4LII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A3A8B0"/>
                </a:solidFill>
                <a:latin typeface="Instrument Sans"/>
              </a:rPr>
              <a:t>Plus one event attestation by a source custodian (33379211), also on chain. Full hashes: the repo's proofs/lifecycle.json.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E7E8EA"/>
                </a:solidFill>
                <a:latin typeface="Instrument Sans"/>
              </a:rPr>
              <a:t>Every actor is a test key held by one harness: this proves the mechanism, not independent custodians.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06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USERS AND MODEL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3977639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ECOSYSTEM · WHY STELLAR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0E0F11"/>
                </a:solidFill>
                <a:latin typeface="Inter Tight"/>
              </a:rPr>
              <a:t>Why Stellar: two signers, one call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4400" y="3127248"/>
            <a:ext cx="1645920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14400" y="331927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556F00"/>
                </a:solidFill>
                <a:latin typeface="JetBrains Mono"/>
              </a:rPr>
              <a:t>01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28800" y="324612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E0F11"/>
                </a:solidFill>
                <a:latin typeface="Inter Tight"/>
              </a:rPr>
              <a:t>Multi-party auth in one call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863840" y="3264408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E0F11"/>
                </a:solidFill>
                <a:latin typeface="Instrument Sans"/>
              </a:rPr>
              <a:t>Soroban authorises both custodians inside one contract invocation: the handover is atomic.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0" y="4498848"/>
            <a:ext cx="1645920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14400" y="469087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556F00"/>
                </a:solidFill>
                <a:latin typeface="JetBrains Mono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28800" y="461772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E0F11"/>
                </a:solidFill>
                <a:latin typeface="Inter Tight"/>
              </a:rPr>
              <a:t>Events plus an on-chain head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863840" y="4636007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E0F11"/>
                </a:solidFill>
                <a:latin typeface="Instrument Sans"/>
              </a:rPr>
              <a:t>RPC keeps contract events about 7 days. The head stored in the contract lets anyone rebuild the full history later.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14400" y="5870448"/>
            <a:ext cx="1645920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14400" y="606247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>
                <a:solidFill>
                  <a:srgbClr val="556F00"/>
                </a:solidFill>
                <a:latin typeface="JetBrains Mono"/>
              </a:rPr>
              <a:t>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598932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0E0F11"/>
                </a:solidFill>
                <a:latin typeface="Inter Tight"/>
              </a:rPr>
              <a:t>The token stays put, then burns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863840" y="6007607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E0F11"/>
                </a:solidFill>
                <a:latin typeface="Instrument Sans"/>
              </a:rPr>
              <a:t>The shipment token never moves in transit; the existing Radox redeem burns it after delivery.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0" y="7242048"/>
            <a:ext cx="1645920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14400" y="7424927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100" b="1">
                <a:solidFill>
                  <a:srgbClr val="0E0F11"/>
                </a:solidFill>
                <a:latin typeface="Instrument Sans"/>
              </a:rPr>
              <a:t>Nearest neighbours we found </a:t>
            </a:r>
            <a:r>
              <a:rPr sz="2100" b="0">
                <a:solidFill>
                  <a:srgbClr val="4D5560"/>
                </a:solidFill>
                <a:latin typeface="Instrument Sans"/>
              </a:rPr>
              <a:t>(LumenLoop, SCF, Scout; searched 24–25 Oct 2026): </a:t>
            </a:r>
            <a:r>
              <a:rPr sz="2100" b="0">
                <a:solidFill>
                  <a:srgbClr val="0E0F11"/>
                </a:solidFill>
                <a:latin typeface="Instrument Sans"/>
              </a:rPr>
              <a:t>Kutana and Trustless Work release escrow on trade milestones. We found none that records a custody handover signed by two custodians, and no SEP for it.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100" b="1">
                <a:solidFill>
                  <a:srgbClr val="556F00"/>
                </a:solidFill>
                <a:latin typeface="Instrument Sans"/>
              </a:rPr>
              <a:t>Open source, Apache-2.0: </a:t>
            </a:r>
            <a:r>
              <a:rPr sz="2100" b="0">
                <a:solidFill>
                  <a:srgbClr val="0E0F11"/>
                </a:solidFill>
                <a:latin typeface="Instrument Sans"/>
              </a:rPr>
              <a:t>a custody primitive other Stellar real-world-asset issuers can reuse.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07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BUILT THIS WEEKEND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3840480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USERS · BUSINESS MODEL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0E0F11"/>
                </a:solidFill>
                <a:latin typeface="Inter Tight"/>
              </a:rPr>
              <a:t>Custodians sign. Financiers check.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4400" y="3154680"/>
            <a:ext cx="877824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14400" y="3291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CUSTODIANS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31920" y="3255264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E0F11"/>
                </a:solidFill>
                <a:latin typeface="Instrument Sans"/>
              </a:rPr>
              <a:t>Warehouse, port, carrier, customs: sign each handover.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4526280"/>
            <a:ext cx="877824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14400" y="46634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EXPORTER · BUYER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31920" y="4626864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E0F11"/>
                </a:solidFill>
                <a:latin typeface="Instrument Sans"/>
              </a:rPr>
              <a:t>See where the goods are and who holds them.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5897880"/>
            <a:ext cx="877824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14400" y="6035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FINANCIER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998464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E0F11"/>
                </a:solidFill>
                <a:latin typeface="Instrument Sans"/>
              </a:rPr>
              <a:t>Checks the custody chain before paying.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14400" y="7269480"/>
            <a:ext cx="877824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0" y="7406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OPERATOR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31920" y="7370064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>
                <a:solidFill>
                  <a:srgbClr val="0E0F11"/>
                </a:solidFill>
                <a:latin typeface="Instrument Sans"/>
              </a:rPr>
              <a:t>A financial institution, the client, would run the rail for its trade flows.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24160" y="3154680"/>
            <a:ext cx="6949440" cy="5212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835640" y="3429000"/>
            <a:ext cx="621792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MODEL · THE OPERATOR PAYS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sz="2600" b="1">
                <a:solidFill>
                  <a:srgbClr val="0E0F11"/>
                </a:solidFill>
                <a:latin typeface="Instrument Sans"/>
              </a:rPr>
              <a:t>SWIFT-style: the record format is public; Radox runs the rail and the API.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sz="2600" b="0">
                <a:solidFill>
                  <a:srgbClr val="0E0F11"/>
                </a:solidFill>
                <a:latin typeface="Instrument Sans"/>
              </a:rPr>
              <a:t>Revenue: a fee from the financial institution that operates the rail. Not priced yet.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sz="2200" b="0">
                <a:solidFill>
                  <a:srgbClr val="4D5560"/>
                </a:solidFill>
                <a:latin typeface="Instrument Sans"/>
              </a:rPr>
              <a:t>Radox is the rail, never the issuer. Regulation and licences stay with the client and its local counsel.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08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VISION AND ASK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3291839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HACKATHON PROGRESS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0E0F11"/>
                </a:solidFill>
                <a:latin typeface="Inter Tight"/>
              </a:rPr>
              <a:t>Built this weekend, on disclosed prior work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320040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4D5560"/>
                </a:solidFill>
                <a:latin typeface="JetBrains Mono"/>
              </a:rPr>
              <a:t>PRIOR WORK · BEFORE SUN 25 OCT 09:00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4400" y="3717036"/>
            <a:ext cx="7955279" cy="27432"/>
          </a:xfrm>
          <a:prstGeom prst="rect">
            <a:avLst/>
          </a:prstGeom>
          <a:solidFill>
            <a:srgbClr val="4D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14400" y="3931920"/>
            <a:ext cx="7955279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400" b="0">
                <a:solidFill>
                  <a:srgbClr val="4D5560"/>
                </a:solidFill>
                <a:latin typeface="Instrument Sans"/>
              </a:rPr>
              <a:t>—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Radox platform and 3 Soroban contracts on Stellar mainnet (public repo, created 2026-08-19)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400" b="0">
                <a:solidFill>
                  <a:srgbClr val="4D5560"/>
                </a:solidFill>
                <a:latin typeface="Instrument Sans"/>
              </a:rPr>
              <a:t>—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transfer_agent and its redeem (new testnet instance from the existing wasm)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400" b="0">
                <a:solidFill>
                  <a:srgbClr val="4D5560"/>
                </a:solidFill>
                <a:latin typeface="Instrument Sans"/>
              </a:rPr>
              <a:t>—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Planning files, 24–25 Oct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418320" y="320040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BUILT AT HACKMERIDIAN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418320" y="3717036"/>
            <a:ext cx="7955279" cy="27432"/>
          </a:xfrm>
          <a:prstGeom prst="rect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418320" y="3931920"/>
            <a:ext cx="7955279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400" b="0">
                <a:solidFill>
                  <a:srgbClr val="556F00"/>
                </a:solidFill>
                <a:latin typeface="Instrument Sans"/>
              </a:rPr>
              <a:t>—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custody_registry contract, 24 unit tests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400" b="0">
                <a:solidFill>
                  <a:srgbClr val="556F00"/>
                </a:solidFill>
                <a:latin typeface="Instrument Sans"/>
              </a:rPr>
              <a:t>—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Lifecycle harness: 7 testnet transactions, 9 refused calls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400" b="0">
                <a:solidFill>
                  <a:srgbClr val="556F00"/>
                </a:solidFill>
                <a:latin typeface="Instrument Sans"/>
              </a:rPr>
              <a:t>—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verify-head script and the public shipment page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400" b="0">
                <a:solidFill>
                  <a:srgbClr val="556F00"/>
                </a:solidFill>
                <a:latin typeface="Instrument Sans"/>
              </a:rPr>
              <a:t>— </a:t>
            </a:r>
            <a:r>
              <a:rPr sz="2400" b="0">
                <a:solidFill>
                  <a:srgbClr val="0E0F11"/>
                </a:solidFill>
                <a:latin typeface="Instrument Sans"/>
              </a:rPr>
              <a:t>Radox API reads the registry: same head (closed backend, testnet)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7315200"/>
            <a:ext cx="1645920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F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34440" y="7424927"/>
            <a:ext cx="15819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AI attribution  </a:t>
            </a:r>
            <a:r>
              <a:rPr sz="2000" b="0">
                <a:solidFill>
                  <a:srgbClr val="0E0F11"/>
                </a:solidFill>
                <a:latin typeface="Instrument Sans"/>
              </a:rPr>
              <a:t>Code, tests and scripts were written with AI coding agents (Claude Code); the team decided scope and what ships. Per-file record in AI_USAGE.md. The video narration is an AI voice generated from Pedro's voice.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09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3977639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VISION · NEXT · THE ASK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0E0F11"/>
                </a:solidFill>
                <a:latin typeface="Inter Tight"/>
              </a:rPr>
              <a:t>Vision: one custody standard, every corridor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3108960"/>
            <a:ext cx="1645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0E0F11"/>
                </a:solidFill>
                <a:latin typeface="Instrument Sans"/>
              </a:rPr>
              <a:t>Rio–Miami is the first corridor and the pilot. </a:t>
            </a:r>
            <a:r>
              <a:rPr sz="2800" b="0">
                <a:solidFill>
                  <a:srgbClr val="0E0F11"/>
                </a:solidFill>
                <a:latin typeface="Instrument Sans"/>
              </a:rPr>
              <a:t>The goal is an open, SWIFT-like standard for tokenized goods moving on rails anywhere, built to integrate with the systems of chambers of commerce, ports and airports.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97280" y="4604004"/>
            <a:ext cx="12618720" cy="27432"/>
          </a:xfrm>
          <a:prstGeom prst="rect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41832" y="4462272"/>
            <a:ext cx="310896" cy="310896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14400" y="4892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556F00"/>
                </a:solidFill>
                <a:latin typeface="JetBrains Mono"/>
              </a:rPr>
              <a:t>NOW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4400" y="534924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0E0F11"/>
                </a:solidFill>
                <a:latin typeface="Instrument Sans"/>
              </a:rPr>
              <a:t>Mechanism proven on testnet. No users or revenue yet.</a:t>
            </a:r>
          </a:p>
        </p:txBody>
      </p:sp>
      <p:sp>
        <p:nvSpPr>
          <p:cNvPr id="130" name="Oval 129"/>
          <p:cNvSpPr/>
          <p:nvPr/>
        </p:nvSpPr>
        <p:spPr>
          <a:xfrm>
            <a:off x="5184648" y="4498848"/>
            <a:ext cx="237744" cy="237744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20640" y="4892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556F00"/>
                </a:solidFill>
                <a:latin typeface="JetBrains Mono"/>
              </a:rPr>
              <a:t>NEXT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20640" y="534924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0E0F11"/>
                </a:solidFill>
                <a:latin typeface="Instrument Sans"/>
              </a:rPr>
              <a:t>One Rio–Miami pilot shipment (none agreed yet). Full test matrix.</a:t>
            </a:r>
          </a:p>
        </p:txBody>
      </p:sp>
      <p:sp>
        <p:nvSpPr>
          <p:cNvPr id="133" name="Oval 132"/>
          <p:cNvSpPr/>
          <p:nvPr/>
        </p:nvSpPr>
        <p:spPr>
          <a:xfrm>
            <a:off x="9390887" y="4498848"/>
            <a:ext cx="237744" cy="237744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326880" y="4892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556F00"/>
                </a:solidFill>
                <a:latin typeface="JetBrains Mono"/>
              </a:rPr>
              <a:t>PLANNED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326880" y="534924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0E0F11"/>
                </a:solidFill>
                <a:latin typeface="Instrument Sans"/>
              </a:rPr>
              <a:t>SCF Build application, then a security audit (neither done). Mainnet.</a:t>
            </a:r>
          </a:p>
        </p:txBody>
      </p:sp>
      <p:sp>
        <p:nvSpPr>
          <p:cNvPr id="136" name="Oval 135"/>
          <p:cNvSpPr/>
          <p:nvPr/>
        </p:nvSpPr>
        <p:spPr>
          <a:xfrm>
            <a:off x="13597127" y="4498848"/>
            <a:ext cx="237744" cy="237744"/>
          </a:xfrm>
          <a:prstGeom prst="ellipse">
            <a:avLst/>
          </a:prstGeom>
          <a:solidFill>
            <a:srgbClr val="55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3533119" y="4892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556F00"/>
                </a:solidFill>
                <a:latin typeface="JetBrains Mono"/>
              </a:rPr>
              <a:t>FUTURE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533119" y="534924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0E0F11"/>
                </a:solidFill>
                <a:latin typeface="Instrument Sans"/>
              </a:rPr>
              <a:t>More corridors on the same standard. A USD leg (not built).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14400" y="7040880"/>
            <a:ext cx="16459200" cy="1371600"/>
          </a:xfrm>
          <a:prstGeom prst="roundRect">
            <a:avLst>
              <a:gd name="adj" fmla="val 10666"/>
            </a:avLst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325880" y="7068312"/>
            <a:ext cx="15636240" cy="1316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1">
                <a:solidFill>
                  <a:srgbClr val="0E0F11"/>
                </a:solidFill>
                <a:latin typeface="JetBrains Mono"/>
              </a:rPr>
              <a:t>Our ask  </a:t>
            </a:r>
            <a:r>
              <a:rPr sz="2400" b="1">
                <a:solidFill>
                  <a:srgbClr val="0E0F11"/>
                </a:solidFill>
                <a:latin typeface="Instrument Sans"/>
              </a:rPr>
              <a:t>Introductions to one financial institution and one logistics operator for a first pilot shipment, and a Stellar engineer's review of the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/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6F24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10 / 10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1920240" cy="475488"/>
          </a:xfrm>
          <a:prstGeom prst="roundRect">
            <a:avLst>
              <a:gd fmla="val 50000" name="adj"/>
            </a:avLst>
          </a:prstGeom>
          <a:solidFill>
            <a:srgbClr val="C6F24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0F1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TEAM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0" y="9171432"/>
            <a:ext cx="2517969" cy="43891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>
                <a:solidFill>
                  <a:srgbClr val="0E0F11"/>
                </a:solidFill>
                <a:latin typeface="Inter Tight"/>
              </a:rPr>
              <a:t>Why us: a founder already on Stellar mainnet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310896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E0F11"/>
                </a:solidFill>
                <a:latin typeface="Inter Tight"/>
              </a:rPr>
              <a:t>Pedro Wakigawa Saragossy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0E0F11"/>
                </a:solidFill>
                <a:latin typeface="Instrument Sans"/>
              </a:rPr>
              <a:t>Founder, captain. Built Radox: 3 Soroban contracts on Stellar mainnet.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425196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E0F11"/>
                </a:solidFill>
                <a:latin typeface="Inter Tight"/>
              </a:rPr>
              <a:t>Leo Schlanger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0E0F11"/>
                </a:solidFill>
                <a:latin typeface="Instrument Sans"/>
              </a:rPr>
              <a:t>Developer: custody_registry, the testnet harness and the proofs.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539496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E0F11"/>
                </a:solidFill>
                <a:latin typeface="Inter Tight"/>
              </a:rPr>
              <a:t>Vhendala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0E0F11"/>
                </a:solidFill>
                <a:latin typeface="Instrument Sans"/>
              </a:rPr>
              <a:t>QA and product review: reads every deliverable as a judge would.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4400" y="653796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>
                <a:solidFill>
                  <a:srgbClr val="4D5560"/>
                </a:solidFill>
                <a:latin typeface="Instrument Sans"/>
              </a:rPr>
              <a:t>Leo and Vhendala joined for the hackathon.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1338560" y="3108960"/>
            <a:ext cx="6035040" cy="36576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4D55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338560" y="310896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0">
                <a:solidFill>
                  <a:srgbClr val="4D5560"/>
                </a:solidFill>
                <a:latin typeface="Instrument Sans"/>
              </a:rPr>
              <a:t>Team photo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14400" y="699516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800" b="1">
                <a:solidFill>
                  <a:srgbClr val="556F00"/>
                </a:solidFill>
                <a:latin typeface="Inter Tight"/>
              </a:rPr>
              <a:t>Rio–Miami first. Then one custody standard for every corridor.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14400" y="7626096"/>
            <a:ext cx="16459200" cy="18288"/>
          </a:xfrm>
          <a:prstGeom prst="rect">
            <a:avLst/>
          </a:prstGeom>
          <a:solidFill>
            <a:srgbClr val="DF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7726679"/>
            <a:ext cx="1645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Live page  </a:t>
            </a:r>
            <a:r>
              <a:rPr sz="1800" b="0">
                <a:solidFill>
                  <a:srgbClr val="0E0F11"/>
                </a:solidFill>
                <a:latin typeface="JetBrains Mono"/>
              </a:rPr>
              <a:t>rio-miami-rail.vercel.app</a:t>
            </a:r>
            <a:r>
              <a:rPr sz="1800" b="1">
                <a:solidFill>
                  <a:srgbClr val="556F00"/>
                </a:solidFill>
                <a:latin typeface="JetBrains Mono"/>
              </a:rPr>
              <a:t>     Code  </a:t>
            </a:r>
            <a:r>
              <a:rPr sz="1800" b="0">
                <a:solidFill>
                  <a:srgbClr val="0E0F11"/>
                </a:solidFill>
                <a:latin typeface="JetBrains Mono"/>
              </a:rPr>
              <a:t>github.com/pwsaragossy/rio-miami-rail (Apache-2.0)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556F00"/>
                </a:solidFill>
                <a:latin typeface="JetBrains Mono"/>
              </a:rPr>
              <a:t>AI  </a:t>
            </a:r>
            <a:r>
              <a:rPr sz="1800" b="0">
                <a:solidFill>
                  <a:srgbClr val="0E0F11"/>
                </a:solidFill>
                <a:latin typeface="Instrument Sans"/>
              </a:rPr>
              <a:t>Code written with AI coding agents (Claude Code). Narration: an AI voice from Pedro's voice. No AI-generated images in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
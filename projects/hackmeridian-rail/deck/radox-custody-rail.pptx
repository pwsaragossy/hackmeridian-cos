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61" r:id="rId23"/>
    <p:sldId id="262" r:id="rId24"/>
    <p:sldId id="263" r:id="rId25"/>
    <p:sldId id="264" r:id="rId26"/>
    <p:sldId id="265" r:id="rId27"/>
    <p:sldId id="266" r:id="rId28"/>
    <p:sldId id="267" r:id="rId29"/>
    <p:sldId id="268" r:id="rId30"/>
    <p:sldId id="269" r:id="rId31"/>
    <p:sldId id="270" r:id="rId32"/>
  </p:sldIdLst>
  <p:sldSz cy="10287000" cx="18288000"/>
  <p:notesSz cx="6858000" cy="9144000"/>
  <p:embeddedFontLst>
    <p:embeddedFont>
      <p:font typeface="Instrument Sans"/>
      <p:regular r:id="rId11"/>
      <p:bold r:id="rId12"/>
      <p:italic r:id="rId13"/>
      <p:boldItalic r:id="rId14"/>
    </p:embeddedFont>
    <p:embeddedFont>
      <p:font typeface="Inter Tight"/>
      <p:regular r:id="rId15"/>
      <p:bold r:id="rId16"/>
      <p:italic r:id="rId17"/>
      <p:boldItalic r:id="rId18"/>
    </p:embeddedFont>
    <p:embeddedFont>
      <p:font typeface="JetBrains Mono"/>
      <p:regular r:id="rId19"/>
      <p:bold r:id="rId20"/>
      <p:italic r:id="rId21"/>
      <p:boldItalic r:id="rId22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160">
          <p15:clr>
            <a:srgbClr val="000000"/>
          </p15:clr>
        </p15:guide>
        <p15:guide id="2" pos="2880">
          <p15:clr>
            <a:srgbClr val="000000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16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11" Type="http://schemas.openxmlformats.org/officeDocument/2006/relationships/font" Target="fonts/InstrumentSans-regular.fntdata"/><Relationship Id="rId12" Type="http://schemas.openxmlformats.org/officeDocument/2006/relationships/font" Target="fonts/InstrumentSans-bold.fntdata"/><Relationship Id="rId13" Type="http://schemas.openxmlformats.org/officeDocument/2006/relationships/font" Target="fonts/InstrumentSans-italic.fntdata"/><Relationship Id="rId14" Type="http://schemas.openxmlformats.org/officeDocument/2006/relationships/font" Target="fonts/InstrumentSans-boldItalic.fntdata"/><Relationship Id="rId15" Type="http://schemas.openxmlformats.org/officeDocument/2006/relationships/font" Target="fonts/InterTight-regular.fntdata"/><Relationship Id="rId16" Type="http://schemas.openxmlformats.org/officeDocument/2006/relationships/font" Target="fonts/InterTight-bold.fntdata"/><Relationship Id="rId17" Type="http://schemas.openxmlformats.org/officeDocument/2006/relationships/font" Target="fonts/InterTight-italic.fntdata"/><Relationship Id="rId18" Type="http://schemas.openxmlformats.org/officeDocument/2006/relationships/font" Target="fonts/InterTight-boldItalic.fntdata"/><Relationship Id="rId19" Type="http://schemas.openxmlformats.org/officeDocument/2006/relationships/font" Target="fonts/JetBrainsMono-regular.fntdata"/><Relationship Id="rId20" Type="http://schemas.openxmlformats.org/officeDocument/2006/relationships/font" Target="fonts/JetBrainsMono-bold.fntdata"/><Relationship Id="rId21" Type="http://schemas.openxmlformats.org/officeDocument/2006/relationships/font" Target="fonts/JetBrainsMono-italic.fntdata"/><Relationship Id="rId22" Type="http://schemas.openxmlformats.org/officeDocument/2006/relationships/font" Target="fonts/JetBrainsMono-boldItalic.fntdata"/><Relationship Id="rId23" Type="http://schemas.openxmlformats.org/officeDocument/2006/relationships/slide" Target="slides/slide6.xml"/><Relationship Id="rId24" Type="http://schemas.openxmlformats.org/officeDocument/2006/relationships/slide" Target="slides/slide7.xml"/><Relationship Id="rId25" Type="http://schemas.openxmlformats.org/officeDocument/2006/relationships/slide" Target="slides/slide8.xml"/><Relationship Id="rId26" Type="http://schemas.openxmlformats.org/officeDocument/2006/relationships/slide" Target="slides/slide9.xml"/><Relationship Id="rId27" Type="http://schemas.openxmlformats.org/officeDocument/2006/relationships/slide" Target="slides/slide10.xml"/><Relationship Id="rId28" Type="http://schemas.openxmlformats.org/officeDocument/2006/relationships/slide" Target="slides/slide11.xml"/><Relationship Id="rId29" Type="http://schemas.openxmlformats.org/officeDocument/2006/relationships/slide" Target="slides/slide12.xml"/><Relationship Id="rId30" Type="http://schemas.openxmlformats.org/officeDocument/2006/relationships/slide" Target="slides/slide13.xml"/><Relationship Id="rId31" Type="http://schemas.openxmlformats.org/officeDocument/2006/relationships/slide" Target="slides/slide14.xml"/><Relationship Id="rId32" Type="http://schemas.openxmlformats.org/officeDocument/2006/relationships/slide" Target="slides/slide1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" name="Google Shape;13;p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" name="Google Shape;14;p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 txBox="1"/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3"/>
          <p:cNvSpPr txBox="1"/>
          <p:nvPr>
            <p:ph idx="1" type="subTitle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18" name="Google Shape;18;p3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" name="Google Shape;19;p3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3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4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" name="Google Shape;23;p4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4" name="Google Shape;24;p4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" name="Google Shape;25;p4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4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5"/>
          <p:cNvSpPr txBox="1"/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Inter Tight"/>
              <a:buNone/>
              <a:defRPr b="1" sz="4000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5"/>
          <p:cNvSpPr txBox="1"/>
          <p:nvPr>
            <p:ph idx="1" type="body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indent="-228600" lvl="1" marL="914400" algn="l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0" name="Google Shape;30;p5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" name="Google Shape;31;p5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5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6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6"/>
          <p:cNvSpPr txBox="1"/>
          <p:nvPr>
            <p:ph idx="1" type="body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6" name="Google Shape;36;p6"/>
          <p:cNvSpPr txBox="1"/>
          <p:nvPr>
            <p:ph idx="2" type="body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7" name="Google Shape;37;p6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6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6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7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Inter Tight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7"/>
          <p:cNvSpPr txBox="1"/>
          <p:nvPr>
            <p:ph idx="1" type="body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3" name="Google Shape;43;p7"/>
          <p:cNvSpPr txBox="1"/>
          <p:nvPr>
            <p:ph idx="2" type="body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4" name="Google Shape;44;p7"/>
          <p:cNvSpPr txBox="1"/>
          <p:nvPr>
            <p:ph idx="3" type="body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5" name="Google Shape;45;p7"/>
          <p:cNvSpPr txBox="1"/>
          <p:nvPr>
            <p:ph idx="4" type="body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6" name="Google Shape;46;p7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7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7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8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8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8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8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9"/>
          <p:cNvSpPr txBox="1"/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Inter Tight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9"/>
          <p:cNvSpPr txBox="1"/>
          <p:nvPr>
            <p:ph idx="1" type="body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indent="-381000" lvl="2" marL="1371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indent="-355600" lvl="4" marL="22860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indent="-355600" lvl="5" marL="27432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57" name="Google Shape;57;p9"/>
          <p:cNvSpPr txBox="1"/>
          <p:nvPr>
            <p:ph idx="2" type="body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58" name="Google Shape;58;p9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9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9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0"/>
          <p:cNvSpPr txBox="1"/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Inter Tight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10"/>
          <p:cNvSpPr/>
          <p:nvPr>
            <p:ph idx="2" type="pic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10"/>
          <p:cNvSpPr txBox="1"/>
          <p:nvPr>
            <p:ph idx="1" type="body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65" name="Google Shape;65;p10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6" name="Google Shape;66;p10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10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1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11"/>
          <p:cNvSpPr txBox="1"/>
          <p:nvPr>
            <p:ph idx="1" type="body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1" name="Google Shape;71;p1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3" name="Google Shape;73;p1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2"/>
          <p:cNvSpPr txBox="1"/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2"/>
          <p:cNvSpPr txBox="1"/>
          <p:nvPr>
            <p:ph idx="1" type="body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7" name="Google Shape;77;p1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8" name="Google Shape;78;p1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Inter Tight"/>
              <a:buNone/>
              <a:defRPr b="0" i="0" sz="4400" u="none" cap="none" strike="noStrike">
                <a:solidFill>
                  <a:schemeClr val="dk1"/>
                </a:solidFill>
                <a:latin typeface="Inter Tight"/>
                <a:ea typeface="Inter Tight"/>
                <a:cs typeface="Inter Tight"/>
                <a:sym typeface="Inter T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marR="0" rtl="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b="0" i="0" sz="32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indent="-406400" lvl="1" marL="914400" marR="0" rtl="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b="0" i="0" sz="28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indent="-381000" lvl="2" marL="1371600" marR="0" rtl="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indent="-355600" lvl="3" marL="1828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b="0" i="0" sz="20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indent="-355600" lvl="4" marL="22860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b="0" i="0" sz="20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indent="-355600" lvl="5" marL="2743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indent="-355600" lvl="6" marL="3200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indent="-355600" lvl="7" marL="36576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indent="-355600" lvl="8" marL="4114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/>
        </p:txBody>
      </p:sp>
      <p:sp>
        <p:nvSpPr>
          <p:cNvPr id="9" name="Google Shape;9;p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/>
        </p:txBody>
      </p:sp>
      <p:sp>
        <p:nvSpPr>
          <p:cNvPr id="10" name="Google Shape;10;p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4.png"/><Relationship Id="rId4" Type="http://schemas.openxmlformats.org/officeDocument/2006/relationships/image" Target="../media/image2.png"/><Relationship Id="rId5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0F11"/>
        </a:solidFill>
      </p:bgPr>
    </p:bg>
    <p:spTree>
      <p:nvGrpSpPr>
        <p:cNvPr id="1" name=""/>
        <p:cNvGrpSpPr/>
        <p:nvPr/>
      </p:nvGrpSpPr>
      <p:grpSpPr/>
      <p:sp>
        <p:nvSpPr>
          <p:cNvPr id="84" name="Google Shape;84;p13"/>
          <p:cNvSpPr txBox="1"/>
          <p:nvPr/>
        </p:nvSpPr>
        <p:spPr>
          <a:xfrm>
            <a:off x="914400" y="777240"/>
            <a:ext cx="82296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HACKMERIDIAN 2026 · LISBON</a:t>
            </a:r>
            <a:endParaRPr/>
          </a:p>
        </p:txBody>
      </p:sp>
      <p:sp>
        <p:nvSpPr>
          <p:cNvPr id="85" name="Google Shape;85;p13"/>
          <p:cNvSpPr txBox="1"/>
          <p:nvPr/>
        </p:nvSpPr>
        <p:spPr>
          <a:xfrm>
            <a:off x="10058400" y="777240"/>
            <a:ext cx="73152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C6F24E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PLATFORM 01 / 10</a:t>
            </a:r>
            <a:endParaRPr/>
          </a:p>
        </p:txBody>
      </p:sp>
      <p:sp>
        <p:nvSpPr>
          <p:cNvPr id="86" name="Google Shape;86;p13"/>
          <p:cNvSpPr/>
          <p:nvPr/>
        </p:nvSpPr>
        <p:spPr>
          <a:xfrm>
            <a:off x="914400" y="1600200"/>
            <a:ext cx="6446520" cy="475488"/>
          </a:xfrm>
          <a:prstGeom prst="roundRect">
            <a:avLst>
              <a:gd fmla="val 50000" name="adj"/>
            </a:avLst>
          </a:prstGeom>
          <a:noFill/>
          <a:ln cap="flat" cmpd="sng" w="19050">
            <a:solidFill>
              <a:srgbClr val="C6F24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C6F24E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TESTNET · TEST KEYS · NOT REAL CUSTODIANS</a:t>
            </a:r>
            <a:endParaRPr/>
          </a:p>
        </p:txBody>
      </p:sp>
      <p:pic>
        <p:nvPicPr>
          <p:cNvPr id="87" name="Picture 8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6812280"/>
            <a:ext cx="4721192" cy="822960"/>
          </a:xfrm>
          <a:prstGeom prst="rect">
            <a:avLst/>
          </a:prstGeom>
        </p:spPr>
      </p:pic>
      <p:sp>
        <p:nvSpPr>
          <p:cNvPr id="92" name="Google Shape;92;p13"/>
          <p:cNvSpPr/>
          <p:nvPr/>
        </p:nvSpPr>
        <p:spPr>
          <a:xfrm>
            <a:off x="5989320" y="6766560"/>
            <a:ext cx="18288" cy="914400"/>
          </a:xfrm>
          <a:prstGeom prst="rect">
            <a:avLst/>
          </a:prstGeom>
          <a:solidFill>
            <a:srgbClr val="4A4A4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pic>
        <p:nvPicPr>
          <p:cNvPr id="93" name="Picture 9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5080" y="6967728"/>
            <a:ext cx="2159633" cy="512064"/>
          </a:xfrm>
          <a:prstGeom prst="rect">
            <a:avLst/>
          </a:prstGeom>
        </p:spPr>
      </p:pic>
      <p:pic>
        <p:nvPicPr>
          <p:cNvPr id="94" name="Picture 9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23960" y="6903720"/>
            <a:ext cx="2483581" cy="621792"/>
          </a:xfrm>
          <a:prstGeom prst="rect">
            <a:avLst/>
          </a:prstGeom>
        </p:spPr>
      </p:pic>
      <p:sp>
        <p:nvSpPr>
          <p:cNvPr id="95" name="Google Shape;95;p13"/>
          <p:cNvSpPr/>
          <p:nvPr/>
        </p:nvSpPr>
        <p:spPr>
          <a:xfrm rot="5400000">
            <a:off x="14904720" y="6858000"/>
            <a:ext cx="731520" cy="731520"/>
          </a:xfrm>
          <a:prstGeom prst="triangle">
            <a:avLst>
              <a:gd fmla="val 50000" name="adj"/>
            </a:avLst>
          </a:prstGeom>
          <a:solidFill>
            <a:srgbClr val="C6F24E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96" name="Google Shape;96;p13"/>
          <p:cNvSpPr/>
          <p:nvPr/>
        </p:nvSpPr>
        <p:spPr>
          <a:xfrm rot="5400000">
            <a:off x="15599664" y="6858000"/>
            <a:ext cx="731520" cy="731520"/>
          </a:xfrm>
          <a:prstGeom prst="triangle">
            <a:avLst>
              <a:gd fmla="val 50000" name="adj"/>
            </a:avLst>
          </a:prstGeom>
          <a:solidFill>
            <a:srgbClr val="C6F24E">
              <a:alpha val="6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97" name="Google Shape;97;p13"/>
          <p:cNvSpPr/>
          <p:nvPr/>
        </p:nvSpPr>
        <p:spPr>
          <a:xfrm rot="5400000">
            <a:off x="16294608" y="6858000"/>
            <a:ext cx="731520" cy="731520"/>
          </a:xfrm>
          <a:prstGeom prst="triangle">
            <a:avLst>
              <a:gd fmla="val 50000" name="adj"/>
            </a:avLst>
          </a:prstGeom>
          <a:solidFill>
            <a:srgbClr val="C6F24E">
              <a:alpha val="30196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98" name="Google Shape;98;p13"/>
          <p:cNvSpPr/>
          <p:nvPr/>
        </p:nvSpPr>
        <p:spPr>
          <a:xfrm>
            <a:off x="914400" y="8641080"/>
            <a:ext cx="16459200" cy="13716"/>
          </a:xfrm>
          <a:prstGeom prst="rect">
            <a:avLst/>
          </a:prstGeom>
          <a:solidFill>
            <a:srgbClr val="3A3A3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99" name="Google Shape;99;p13"/>
          <p:cNvSpPr txBox="1"/>
          <p:nvPr/>
        </p:nvSpPr>
        <p:spPr>
          <a:xfrm>
            <a:off x="914400" y="8961120"/>
            <a:ext cx="45720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October 2026</a:t>
            </a:r>
            <a:endParaRPr/>
          </a:p>
        </p:txBody>
      </p:sp>
      <p:sp>
        <p:nvSpPr>
          <p:cNvPr id="100" name="Google Shape;100;p13"/>
          <p:cNvSpPr txBox="1"/>
          <p:nvPr/>
        </p:nvSpPr>
        <p:spPr>
          <a:xfrm>
            <a:off x="6400800" y="8961120"/>
            <a:ext cx="54864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C6F24E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#HackMeridian26</a:t>
            </a:r>
            <a:endParaRPr/>
          </a:p>
        </p:txBody>
      </p:sp>
      <p:sp>
        <p:nvSpPr>
          <p:cNvPr id="101" name="Google Shape;101;p13"/>
          <p:cNvSpPr txBox="1"/>
          <p:nvPr/>
        </p:nvSpPr>
        <p:spPr>
          <a:xfrm>
            <a:off x="11887200" y="8961120"/>
            <a:ext cx="54864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A7A7A7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© 2026 HackMeridian · Lisbon</a:t>
            </a:r>
            <a:endParaRPr/>
          </a:p>
        </p:txBody>
      </p:sp>
      <p:sp>
        <p:nvSpPr>
          <p:cNvPr id="102" name="TextBox 101"/>
          <p:cNvSpPr txBox="1"/>
          <p:nvPr/>
        </p:nvSpPr>
        <p:spPr>
          <a:xfrm>
            <a:off x="914400" y="2331720"/>
            <a:ext cx="1143000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Aft>
                <a:spcPts val="600"/>
              </a:spcAft>
            </a:pPr>
            <a:r>
              <a:rPr sz="10000" b="1">
                <a:solidFill>
                  <a:srgbClr val="C6F24E"/>
                </a:solidFill>
                <a:latin typeface="Inter Tight"/>
              </a:rPr>
              <a:t>Radox Custody Rail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914400" y="3794760"/>
            <a:ext cx="1097280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4400" b="1">
                <a:solidFill>
                  <a:srgbClr val="E7E8EA"/>
                </a:solidFill>
                <a:latin typeface="Inter Tight"/>
              </a:rPr>
              <a:t>Know who holds the goods: every handover signed by both custodians.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914400" y="5440680"/>
            <a:ext cx="11430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400" b="0">
                <a:solidFill>
                  <a:srgbClr val="A3A8B0"/>
                </a:solidFill>
                <a:latin typeface="Instrument Sans"/>
              </a:rPr>
              <a:t>Toward a SWIFT-like custody standard on Stellar  ·  Pilot corridor: Rio–Miami</a:t>
            </a:r>
          </a:p>
        </p:txBody>
      </p:sp>
      <p:pic>
        <p:nvPicPr>
          <p:cNvPr id="105" name="Picture 104" descr="qr-page-dar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4401800" y="1600200"/>
            <a:ext cx="2377440" cy="2377440"/>
          </a:xfrm>
          <a:prstGeom prst="rect">
            <a:avLst/>
          </a:prstGeom>
        </p:spPr>
      </p:pic>
      <p:sp>
        <p:nvSpPr>
          <p:cNvPr id="106" name="TextBox 105"/>
          <p:cNvSpPr txBox="1"/>
          <p:nvPr/>
        </p:nvSpPr>
        <p:spPr>
          <a:xfrm>
            <a:off x="13075920" y="4114800"/>
            <a:ext cx="50292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200"/>
              </a:spcAft>
            </a:pPr>
            <a:r>
              <a:rPr sz="2000" b="0">
                <a:solidFill>
                  <a:srgbClr val="E7E8EA"/>
                </a:solidFill>
                <a:latin typeface="Instrument Sans"/>
              </a:rPr>
              <a:t>Scan: the live shipment</a:t>
            </a:r>
          </a:p>
          <a:p>
            <a:pPr algn="ctr">
              <a:lnSpc>
                <a:spcPct val="112000"/>
              </a:lnSpc>
              <a:spcAft>
                <a:spcPts val="200"/>
              </a:spcAft>
            </a:pPr>
            <a:r>
              <a:rPr sz="1800" b="0">
                <a:solidFill>
                  <a:srgbClr val="C6F24E"/>
                </a:solidFill>
                <a:latin typeface="JetBrains Mono"/>
              </a:rPr>
              <a:t>rio-miami-rail.vercel.app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12801600" y="5609844"/>
            <a:ext cx="4572000" cy="27432"/>
          </a:xfrm>
          <a:prstGeom prst="rect">
            <a:avLst/>
          </a:prstGeom>
          <a:solidFill>
            <a:srgbClr val="556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Oval 107"/>
          <p:cNvSpPr/>
          <p:nvPr/>
        </p:nvSpPr>
        <p:spPr>
          <a:xfrm>
            <a:off x="12682728" y="5504688"/>
            <a:ext cx="237744" cy="237744"/>
          </a:xfrm>
          <a:prstGeom prst="ellipse">
            <a:avLst/>
          </a:prstGeom>
          <a:solidFill>
            <a:srgbClr val="C6F2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Oval 108"/>
          <p:cNvSpPr/>
          <p:nvPr/>
        </p:nvSpPr>
        <p:spPr>
          <a:xfrm>
            <a:off x="13642848" y="5550408"/>
            <a:ext cx="146304" cy="146304"/>
          </a:xfrm>
          <a:prstGeom prst="ellipse">
            <a:avLst/>
          </a:prstGeom>
          <a:solidFill>
            <a:srgbClr val="C6F2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Oval 109"/>
          <p:cNvSpPr/>
          <p:nvPr/>
        </p:nvSpPr>
        <p:spPr>
          <a:xfrm>
            <a:off x="14557248" y="5550408"/>
            <a:ext cx="146304" cy="146304"/>
          </a:xfrm>
          <a:prstGeom prst="ellipse">
            <a:avLst/>
          </a:prstGeom>
          <a:solidFill>
            <a:srgbClr val="C6F2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Oval 110"/>
          <p:cNvSpPr/>
          <p:nvPr/>
        </p:nvSpPr>
        <p:spPr>
          <a:xfrm>
            <a:off x="15471648" y="5550408"/>
            <a:ext cx="146304" cy="146304"/>
          </a:xfrm>
          <a:prstGeom prst="ellipse">
            <a:avLst/>
          </a:prstGeom>
          <a:solidFill>
            <a:srgbClr val="C6F2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Oval 111"/>
          <p:cNvSpPr/>
          <p:nvPr/>
        </p:nvSpPr>
        <p:spPr>
          <a:xfrm>
            <a:off x="16386048" y="5550408"/>
            <a:ext cx="146304" cy="146304"/>
          </a:xfrm>
          <a:prstGeom prst="ellipse">
            <a:avLst/>
          </a:prstGeom>
          <a:solidFill>
            <a:srgbClr val="C6F2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Oval 112"/>
          <p:cNvSpPr/>
          <p:nvPr/>
        </p:nvSpPr>
        <p:spPr>
          <a:xfrm>
            <a:off x="17254728" y="5504688"/>
            <a:ext cx="237744" cy="237744"/>
          </a:xfrm>
          <a:prstGeom prst="ellipse">
            <a:avLst/>
          </a:prstGeom>
          <a:solidFill>
            <a:srgbClr val="C6F2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12682728" y="5870448"/>
            <a:ext cx="1828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800" b="1">
                <a:solidFill>
                  <a:srgbClr val="A3A8B0"/>
                </a:solidFill>
                <a:latin typeface="JetBrains Mono"/>
              </a:rPr>
              <a:t>RIO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15663672" y="5870448"/>
            <a:ext cx="1828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2000"/>
              </a:lnSpc>
              <a:spcAft>
                <a:spcPts val="600"/>
              </a:spcAft>
            </a:pPr>
            <a:r>
              <a:rPr sz="1800" b="1">
                <a:solidFill>
                  <a:srgbClr val="A3A8B0"/>
                </a:solidFill>
                <a:latin typeface="JetBrains Mono"/>
              </a:rPr>
              <a:t>MIAMI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</p:bgPr>
    </p:bg>
    <p:spTree>
      <p:nvGrpSpPr>
        <p:cNvPr id="1" name=""/>
        <p:cNvGrpSpPr/>
        <p:nvPr/>
      </p:nvGrpSpPr>
      <p:grpSpPr/>
      <p:sp>
        <p:nvSpPr>
          <p:cNvPr id="106" name="Google Shape;106;p14"/>
          <p:cNvSpPr/>
          <p:nvPr/>
        </p:nvSpPr>
        <p:spPr>
          <a:xfrm>
            <a:off x="0" y="0"/>
            <a:ext cx="18288000" cy="731520"/>
          </a:xfrm>
          <a:prstGeom prst="rect">
            <a:avLst/>
          </a:prstGeom>
          <a:solidFill>
            <a:srgbClr val="0F0F0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07" name="Google Shape;107;p14"/>
          <p:cNvSpPr txBox="1"/>
          <p:nvPr/>
        </p:nvSpPr>
        <p:spPr>
          <a:xfrm>
            <a:off x="914400" y="201168"/>
            <a:ext cx="45720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C6F24E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PLATFORM 02 / 10</a:t>
            </a:r>
            <a:endParaRPr/>
          </a:p>
        </p:txBody>
      </p:sp>
      <p:sp>
        <p:nvSpPr>
          <p:cNvPr id="108" name="Google Shape;108;p14"/>
          <p:cNvSpPr txBox="1"/>
          <p:nvPr/>
        </p:nvSpPr>
        <p:spPr>
          <a:xfrm>
            <a:off x="5486400" y="201168"/>
            <a:ext cx="73152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HACKMERIDIAN 2026 · LISBON</a:t>
            </a:r>
            <a:endParaRPr/>
          </a:p>
        </p:txBody>
      </p:sp>
      <p:sp>
        <p:nvSpPr>
          <p:cNvPr id="109" name="Google Shape;109;p14"/>
          <p:cNvSpPr txBox="1"/>
          <p:nvPr/>
        </p:nvSpPr>
        <p:spPr>
          <a:xfrm>
            <a:off x="12801600" y="201168"/>
            <a:ext cx="45720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C6F24E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NEXT ▸ WHAT IT COSTS</a:t>
            </a:r>
            <a:endParaRPr/>
          </a:p>
        </p:txBody>
      </p:sp>
      <p:sp>
        <p:nvSpPr>
          <p:cNvPr id="110" name="Google Shape;110;p14"/>
          <p:cNvSpPr/>
          <p:nvPr/>
        </p:nvSpPr>
        <p:spPr>
          <a:xfrm>
            <a:off x="914400" y="1417320"/>
            <a:ext cx="3154679" cy="475488"/>
          </a:xfrm>
          <a:prstGeom prst="roundRect">
            <a:avLst>
              <a:gd fmla="val 50000" name="adj"/>
            </a:avLst>
          </a:prstGeom>
          <a:solidFill>
            <a:srgbClr val="C6F24E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0E0F11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PMF · THE PROBLEM</a:t>
            </a:r>
            <a:endParaRPr/>
          </a:p>
        </p:txBody>
      </p:sp>
      <p:sp>
        <p:nvSpPr>
          <p:cNvPr id="121" name="Google Shape;121;p14"/>
          <p:cNvSpPr/>
          <p:nvPr/>
        </p:nvSpPr>
        <p:spPr>
          <a:xfrm>
            <a:off x="914400" y="8915400"/>
            <a:ext cx="16459200" cy="13716"/>
          </a:xfrm>
          <a:prstGeom prst="rect">
            <a:avLst/>
          </a:prstGeom>
          <a:solidFill>
            <a:srgbClr val="DFDD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22" name="Google Shape;122;p14"/>
          <p:cNvSpPr txBox="1"/>
          <p:nvPr/>
        </p:nvSpPr>
        <p:spPr>
          <a:xfrm>
            <a:off x="914400" y="9253728"/>
            <a:ext cx="91440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5C5C5C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© 2026 HackMeridian · Lisbon  ·  #HackMeridian26</a:t>
            </a:r>
            <a:endParaRPr/>
          </a:p>
        </p:txBody>
      </p:sp>
      <p:pic>
        <p:nvPicPr>
          <p:cNvPr id="123" name="Picture 12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859000" y="9171432"/>
            <a:ext cx="2517969" cy="438912"/>
          </a:xfrm>
          <a:prstGeom prst="rect">
            <a:avLst/>
          </a:prstGeom>
        </p:spPr>
      </p:pic>
      <p:sp>
        <p:nvSpPr>
          <p:cNvPr id="124" name="TextBox 123"/>
          <p:cNvSpPr txBox="1"/>
          <p:nvPr/>
        </p:nvSpPr>
        <p:spPr>
          <a:xfrm>
            <a:off x="914400" y="2011680"/>
            <a:ext cx="164592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5800" b="1">
                <a:solidFill>
                  <a:srgbClr val="0E0F11"/>
                </a:solidFill>
                <a:latin typeface="Inter Tight"/>
              </a:rPr>
              <a:t>Who holds the cargo right now?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1463040" y="3415284"/>
            <a:ext cx="15361919" cy="27432"/>
          </a:xfrm>
          <a:prstGeom prst="rect">
            <a:avLst/>
          </a:prstGeom>
          <a:solidFill>
            <a:srgbClr val="556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Oval 125"/>
          <p:cNvSpPr/>
          <p:nvPr/>
        </p:nvSpPr>
        <p:spPr>
          <a:xfrm>
            <a:off x="1325880" y="3291840"/>
            <a:ext cx="274320" cy="274320"/>
          </a:xfrm>
          <a:prstGeom prst="ellipse">
            <a:avLst/>
          </a:prstGeom>
          <a:solidFill>
            <a:srgbClr val="556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274320" y="3657600"/>
            <a:ext cx="23774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2200" b="1">
                <a:solidFill>
                  <a:srgbClr val="0E0F11"/>
                </a:solidFill>
                <a:latin typeface="Instrument Sans"/>
              </a:rPr>
              <a:t>Warehouse</a:t>
            </a:r>
          </a:p>
        </p:txBody>
      </p:sp>
      <p:sp>
        <p:nvSpPr>
          <p:cNvPr id="128" name="Oval 127"/>
          <p:cNvSpPr/>
          <p:nvPr/>
        </p:nvSpPr>
        <p:spPr>
          <a:xfrm>
            <a:off x="5166359" y="3291840"/>
            <a:ext cx="274320" cy="274320"/>
          </a:xfrm>
          <a:prstGeom prst="ellipse">
            <a:avLst/>
          </a:prstGeom>
          <a:solidFill>
            <a:srgbClr val="556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TextBox 128"/>
          <p:cNvSpPr txBox="1"/>
          <p:nvPr/>
        </p:nvSpPr>
        <p:spPr>
          <a:xfrm>
            <a:off x="4114799" y="3657600"/>
            <a:ext cx="23774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2200" b="1">
                <a:solidFill>
                  <a:srgbClr val="0E0F11"/>
                </a:solidFill>
                <a:latin typeface="Instrument Sans"/>
              </a:rPr>
              <a:t>Port</a:t>
            </a:r>
          </a:p>
        </p:txBody>
      </p:sp>
      <p:sp>
        <p:nvSpPr>
          <p:cNvPr id="130" name="Oval 129"/>
          <p:cNvSpPr/>
          <p:nvPr/>
        </p:nvSpPr>
        <p:spPr>
          <a:xfrm>
            <a:off x="9006839" y="3291840"/>
            <a:ext cx="274320" cy="274320"/>
          </a:xfrm>
          <a:prstGeom prst="ellipse">
            <a:avLst/>
          </a:prstGeom>
          <a:solidFill>
            <a:srgbClr val="556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7955279" y="3657600"/>
            <a:ext cx="23774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2200" b="1">
                <a:solidFill>
                  <a:srgbClr val="0E0F11"/>
                </a:solidFill>
                <a:latin typeface="Instrument Sans"/>
              </a:rPr>
              <a:t>Carrier</a:t>
            </a:r>
          </a:p>
        </p:txBody>
      </p:sp>
      <p:sp>
        <p:nvSpPr>
          <p:cNvPr id="132" name="Oval 131"/>
          <p:cNvSpPr/>
          <p:nvPr/>
        </p:nvSpPr>
        <p:spPr>
          <a:xfrm>
            <a:off x="12847319" y="3291840"/>
            <a:ext cx="274320" cy="274320"/>
          </a:xfrm>
          <a:prstGeom prst="ellipse">
            <a:avLst/>
          </a:prstGeom>
          <a:solidFill>
            <a:srgbClr val="556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11795759" y="3657600"/>
            <a:ext cx="23774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2200" b="1">
                <a:solidFill>
                  <a:srgbClr val="0E0F11"/>
                </a:solidFill>
                <a:latin typeface="Instrument Sans"/>
              </a:rPr>
              <a:t>Customs</a:t>
            </a:r>
          </a:p>
        </p:txBody>
      </p:sp>
      <p:sp>
        <p:nvSpPr>
          <p:cNvPr id="134" name="Oval 133"/>
          <p:cNvSpPr/>
          <p:nvPr/>
        </p:nvSpPr>
        <p:spPr>
          <a:xfrm>
            <a:off x="16687800" y="3291840"/>
            <a:ext cx="274320" cy="274320"/>
          </a:xfrm>
          <a:prstGeom prst="ellipse">
            <a:avLst/>
          </a:prstGeom>
          <a:solidFill>
            <a:srgbClr val="556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TextBox 134"/>
          <p:cNvSpPr txBox="1"/>
          <p:nvPr/>
        </p:nvSpPr>
        <p:spPr>
          <a:xfrm>
            <a:off x="15636239" y="3657600"/>
            <a:ext cx="23774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2200" b="1">
                <a:solidFill>
                  <a:srgbClr val="0E0F11"/>
                </a:solidFill>
                <a:latin typeface="Instrument Sans"/>
              </a:rPr>
              <a:t>Recipient</a:t>
            </a:r>
          </a:p>
        </p:txBody>
      </p:sp>
      <p:sp>
        <p:nvSpPr>
          <p:cNvPr id="136" name="Rectangle 135"/>
          <p:cNvSpPr/>
          <p:nvPr/>
        </p:nvSpPr>
        <p:spPr>
          <a:xfrm>
            <a:off x="914400" y="4421124"/>
            <a:ext cx="5120640" cy="27432"/>
          </a:xfrm>
          <a:prstGeom prst="rect">
            <a:avLst/>
          </a:prstGeom>
          <a:solidFill>
            <a:srgbClr val="556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914400" y="4617720"/>
            <a:ext cx="512064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Aft>
                <a:spcPts val="600"/>
              </a:spcAft>
            </a:pPr>
            <a:r>
              <a:rPr sz="6400" b="1">
                <a:solidFill>
                  <a:srgbClr val="0E0F11"/>
                </a:solidFill>
                <a:latin typeface="Inter Tight"/>
              </a:rPr>
              <a:t>5.7%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914400" y="5760720"/>
            <a:ext cx="51206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400" b="1">
                <a:solidFill>
                  <a:srgbClr val="0E0F11"/>
                </a:solidFill>
                <a:latin typeface="Instrument Sans"/>
              </a:rPr>
              <a:t>of bills of lading issued electronically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914400" y="6675120"/>
            <a:ext cx="51206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800" b="0">
                <a:solidFill>
                  <a:srgbClr val="4D5560"/>
                </a:solidFill>
                <a:latin typeface="Instrument Sans"/>
              </a:rPr>
              <a:t>DCSA, Jan 2025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6492240" y="4421124"/>
            <a:ext cx="5120640" cy="27432"/>
          </a:xfrm>
          <a:prstGeom prst="rect">
            <a:avLst/>
          </a:prstGeom>
          <a:solidFill>
            <a:srgbClr val="556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TextBox 140"/>
          <p:cNvSpPr txBox="1"/>
          <p:nvPr/>
        </p:nvSpPr>
        <p:spPr>
          <a:xfrm>
            <a:off x="6492240" y="4617720"/>
            <a:ext cx="512064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Aft>
                <a:spcPts val="600"/>
              </a:spcAft>
            </a:pPr>
            <a:r>
              <a:rPr sz="6400" b="1">
                <a:solidFill>
                  <a:srgbClr val="0E0F11"/>
                </a:solidFill>
                <a:latin typeface="Inter Tight"/>
              </a:rPr>
              <a:t>11.2%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492240" y="5760720"/>
            <a:ext cx="51206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400" b="1">
                <a:solidFill>
                  <a:srgbClr val="0E0F11"/>
                </a:solidFill>
                <a:latin typeface="Instrument Sans"/>
              </a:rPr>
              <a:t>of surveyed firms use only electronic bills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6492240" y="6675120"/>
            <a:ext cx="51206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800" b="0">
                <a:solidFill>
                  <a:srgbClr val="4D5560"/>
                </a:solidFill>
                <a:latin typeface="Instrument Sans"/>
              </a:rPr>
              <a:t>ICC / FIT Alliance survey, 190 replies, Oct 2026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12070080" y="4421124"/>
            <a:ext cx="5120640" cy="27432"/>
          </a:xfrm>
          <a:prstGeom prst="rect">
            <a:avLst/>
          </a:prstGeom>
          <a:solidFill>
            <a:srgbClr val="556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TextBox 144"/>
          <p:cNvSpPr txBox="1"/>
          <p:nvPr/>
        </p:nvSpPr>
        <p:spPr>
          <a:xfrm>
            <a:off x="12070080" y="4617720"/>
            <a:ext cx="512064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Aft>
                <a:spcPts val="600"/>
              </a:spcAft>
            </a:pPr>
            <a:r>
              <a:rPr sz="6400" b="1">
                <a:solidFill>
                  <a:srgbClr val="0E0F11"/>
                </a:solidFill>
                <a:latin typeface="Inter Tight"/>
              </a:rPr>
              <a:t>22%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2070080" y="5760720"/>
            <a:ext cx="51206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400" b="1">
                <a:solidFill>
                  <a:srgbClr val="0E0F11"/>
                </a:solidFill>
                <a:latin typeface="Instrument Sans"/>
              </a:rPr>
              <a:t>of cargo thefts worldwide involve an insider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2070080" y="6675120"/>
            <a:ext cx="51206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800" b="0">
                <a:solidFill>
                  <a:srgbClr val="4D5560"/>
                </a:solidFill>
                <a:latin typeface="Instrument Sans"/>
              </a:rPr>
              <a:t>TT Club &amp; BSI Cargo Theft Report, Apr 2026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914400" y="7863840"/>
            <a:ext cx="164592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800" b="0">
                <a:solidFill>
                  <a:srgbClr val="4D5560"/>
                </a:solidFill>
                <a:latin typeface="Instrument Sans"/>
              </a:rPr>
              <a:t>Context: our explainer video about a Rio–Miami trade-corridor initiative poses one possibility: a unique digital record for every shipment that both sides can check. This project is a custody layer for that record.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</p:bgPr>
    </p:bg>
    <p:spTree>
      <p:nvGrpSpPr>
        <p:cNvPr id="1" name=""/>
        <p:cNvGrpSpPr/>
        <p:nvPr/>
      </p:nvGrpSpPr>
      <p:grpSpPr/>
      <p:sp>
        <p:nvSpPr>
          <p:cNvPr id="106" name="Google Shape;106;p14"/>
          <p:cNvSpPr/>
          <p:nvPr/>
        </p:nvSpPr>
        <p:spPr>
          <a:xfrm>
            <a:off x="0" y="0"/>
            <a:ext cx="18288000" cy="731520"/>
          </a:xfrm>
          <a:prstGeom prst="rect">
            <a:avLst/>
          </a:prstGeom>
          <a:solidFill>
            <a:srgbClr val="0F0F0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07" name="Google Shape;107;p14"/>
          <p:cNvSpPr txBox="1"/>
          <p:nvPr/>
        </p:nvSpPr>
        <p:spPr>
          <a:xfrm>
            <a:off x="914400" y="201168"/>
            <a:ext cx="45720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C6F24E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PLATFORM 03 / 10</a:t>
            </a:r>
            <a:endParaRPr/>
          </a:p>
        </p:txBody>
      </p:sp>
      <p:sp>
        <p:nvSpPr>
          <p:cNvPr id="108" name="Google Shape;108;p14"/>
          <p:cNvSpPr txBox="1"/>
          <p:nvPr/>
        </p:nvSpPr>
        <p:spPr>
          <a:xfrm>
            <a:off x="5486400" y="201168"/>
            <a:ext cx="73152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HACKMERIDIAN 2026 · LISBON</a:t>
            </a:r>
            <a:endParaRPr/>
          </a:p>
        </p:txBody>
      </p:sp>
      <p:sp>
        <p:nvSpPr>
          <p:cNvPr id="109" name="Google Shape;109;p14"/>
          <p:cNvSpPr txBox="1"/>
          <p:nvPr/>
        </p:nvSpPr>
        <p:spPr>
          <a:xfrm>
            <a:off x="12801600" y="201168"/>
            <a:ext cx="45720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C6F24E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NEXT ▸ THE SOLUTION</a:t>
            </a:r>
            <a:endParaRPr/>
          </a:p>
        </p:txBody>
      </p:sp>
      <p:sp>
        <p:nvSpPr>
          <p:cNvPr id="110" name="Google Shape;110;p14"/>
          <p:cNvSpPr/>
          <p:nvPr/>
        </p:nvSpPr>
        <p:spPr>
          <a:xfrm>
            <a:off x="914400" y="1417320"/>
            <a:ext cx="3429000" cy="475488"/>
          </a:xfrm>
          <a:prstGeom prst="roundRect">
            <a:avLst>
              <a:gd fmla="val 50000" name="adj"/>
            </a:avLst>
          </a:prstGeom>
          <a:solidFill>
            <a:srgbClr val="C6F24E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0E0F11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PMF · WHAT IT COSTS</a:t>
            </a:r>
            <a:endParaRPr/>
          </a:p>
        </p:txBody>
      </p:sp>
      <p:sp>
        <p:nvSpPr>
          <p:cNvPr id="121" name="Google Shape;121;p14"/>
          <p:cNvSpPr/>
          <p:nvPr/>
        </p:nvSpPr>
        <p:spPr>
          <a:xfrm>
            <a:off x="914400" y="8915400"/>
            <a:ext cx="16459200" cy="13716"/>
          </a:xfrm>
          <a:prstGeom prst="rect">
            <a:avLst/>
          </a:prstGeom>
          <a:solidFill>
            <a:srgbClr val="DFDD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22" name="Google Shape;122;p14"/>
          <p:cNvSpPr txBox="1"/>
          <p:nvPr/>
        </p:nvSpPr>
        <p:spPr>
          <a:xfrm>
            <a:off x="914400" y="9253728"/>
            <a:ext cx="91440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5C5C5C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© 2026 HackMeridian · Lisbon  ·  #HackMeridian26</a:t>
            </a:r>
            <a:endParaRPr/>
          </a:p>
        </p:txBody>
      </p:sp>
      <p:pic>
        <p:nvPicPr>
          <p:cNvPr id="123" name="Picture 12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859000" y="9171432"/>
            <a:ext cx="2517969" cy="438912"/>
          </a:xfrm>
          <a:prstGeom prst="rect">
            <a:avLst/>
          </a:prstGeom>
        </p:spPr>
      </p:pic>
      <p:sp>
        <p:nvSpPr>
          <p:cNvPr id="124" name="TextBox 123"/>
          <p:cNvSpPr txBox="1"/>
          <p:nvPr/>
        </p:nvSpPr>
        <p:spPr>
          <a:xfrm>
            <a:off x="914400" y="2011680"/>
            <a:ext cx="164592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5800" b="1">
                <a:solidFill>
                  <a:srgbClr val="0E0F11"/>
                </a:solidFill>
                <a:latin typeface="Inter Tight"/>
              </a:rPr>
              <a:t>Cargo goes missing. Finance waits.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914400" y="3108960"/>
            <a:ext cx="164592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400" b="1">
                <a:solidFill>
                  <a:srgbClr val="556F00"/>
                </a:solidFill>
                <a:latin typeface="Instrument Sans"/>
              </a:rPr>
              <a:t>Our hypothesis: </a:t>
            </a:r>
            <a:r>
              <a:rPr sz="2400" b="0">
                <a:solidFill>
                  <a:srgbClr val="0E0F11"/>
                </a:solidFill>
                <a:latin typeface="Instrument Sans"/>
              </a:rPr>
              <a:t>a financier cannot see who holds the goods before paying. No customer has confirmed it yet.</a:t>
            </a:r>
          </a:p>
        </p:txBody>
      </p:sp>
      <p:sp>
        <p:nvSpPr>
          <p:cNvPr id="126" name="Rectangle 125"/>
          <p:cNvSpPr/>
          <p:nvPr/>
        </p:nvSpPr>
        <p:spPr>
          <a:xfrm>
            <a:off x="914400" y="4192524"/>
            <a:ext cx="8046720" cy="27432"/>
          </a:xfrm>
          <a:prstGeom prst="rect">
            <a:avLst/>
          </a:prstGeom>
          <a:solidFill>
            <a:srgbClr val="556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914400" y="4389120"/>
            <a:ext cx="804672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Aft>
                <a:spcPts val="600"/>
              </a:spcAft>
            </a:pPr>
            <a:r>
              <a:rPr sz="6400" b="1">
                <a:solidFill>
                  <a:srgbClr val="0E0F11"/>
                </a:solidFill>
                <a:latin typeface="Inter Tight"/>
              </a:rPr>
              <a:t>R$900M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914400" y="5532120"/>
            <a:ext cx="80467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400" b="1">
                <a:solidFill>
                  <a:srgbClr val="0E0F11"/>
                </a:solidFill>
                <a:latin typeface="Instrument Sans"/>
              </a:rPr>
              <a:t>direct loss from 8,570 cargo robberies in Brazil, 2025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914400" y="6446520"/>
            <a:ext cx="80467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800" b="0">
                <a:solidFill>
                  <a:srgbClr val="4D5560"/>
                </a:solidFill>
                <a:latin typeface="Instrument Sans"/>
              </a:rPr>
              <a:t>NTC&amp;Logística survey, published 28 Mar 2026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9326880" y="4192524"/>
            <a:ext cx="8046720" cy="27432"/>
          </a:xfrm>
          <a:prstGeom prst="rect">
            <a:avLst/>
          </a:prstGeom>
          <a:solidFill>
            <a:srgbClr val="556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9326880" y="4389120"/>
            <a:ext cx="804672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Aft>
                <a:spcPts val="600"/>
              </a:spcAft>
            </a:pPr>
            <a:r>
              <a:rPr sz="6400" b="1">
                <a:solidFill>
                  <a:srgbClr val="0E0F11"/>
                </a:solidFill>
                <a:latin typeface="Inter Tight"/>
              </a:rPr>
              <a:t>US$2.5T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326880" y="5532120"/>
            <a:ext cx="80467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400" b="1">
                <a:solidFill>
                  <a:srgbClr val="0E0F11"/>
                </a:solidFill>
                <a:latin typeface="Instrument Sans"/>
              </a:rPr>
              <a:t>global trade finance gap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9326880" y="6446520"/>
            <a:ext cx="80467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800" b="0">
                <a:solidFill>
                  <a:srgbClr val="4D5560"/>
                </a:solidFill>
                <a:latin typeface="Instrument Sans"/>
              </a:rPr>
              <a:t>ADB Global Trade Finance Gap Survey, Dec 2025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914400" y="7498079"/>
            <a:ext cx="164592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000" b="0">
                <a:solidFill>
                  <a:srgbClr val="4D5560"/>
                </a:solidFill>
                <a:latin typeface="Instrument Sans"/>
              </a:rPr>
              <a:t>These numbers size the problem in the market, not results of ours. This build does not solve all of it.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</p:bgPr>
    </p:bg>
    <p:spTree>
      <p:nvGrpSpPr>
        <p:cNvPr id="1" name=""/>
        <p:cNvGrpSpPr/>
        <p:nvPr/>
      </p:nvGrpSpPr>
      <p:grpSpPr/>
      <p:sp>
        <p:nvSpPr>
          <p:cNvPr id="106" name="Google Shape;106;p14"/>
          <p:cNvSpPr/>
          <p:nvPr/>
        </p:nvSpPr>
        <p:spPr>
          <a:xfrm>
            <a:off x="0" y="0"/>
            <a:ext cx="18288000" cy="731520"/>
          </a:xfrm>
          <a:prstGeom prst="rect">
            <a:avLst/>
          </a:prstGeom>
          <a:solidFill>
            <a:srgbClr val="0F0F0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07" name="Google Shape;107;p14"/>
          <p:cNvSpPr txBox="1"/>
          <p:nvPr/>
        </p:nvSpPr>
        <p:spPr>
          <a:xfrm>
            <a:off x="914400" y="201168"/>
            <a:ext cx="45720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C6F24E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PLATFORM 04 / 10</a:t>
            </a:r>
            <a:endParaRPr/>
          </a:p>
        </p:txBody>
      </p:sp>
      <p:sp>
        <p:nvSpPr>
          <p:cNvPr id="108" name="Google Shape;108;p14"/>
          <p:cNvSpPr txBox="1"/>
          <p:nvPr/>
        </p:nvSpPr>
        <p:spPr>
          <a:xfrm>
            <a:off x="5486400" y="201168"/>
            <a:ext cx="73152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HACKMERIDIAN 2026 · LISBON</a:t>
            </a:r>
            <a:endParaRPr/>
          </a:p>
        </p:txBody>
      </p:sp>
      <p:sp>
        <p:nvSpPr>
          <p:cNvPr id="109" name="Google Shape;109;p14"/>
          <p:cNvSpPr txBox="1"/>
          <p:nvPr/>
        </p:nvSpPr>
        <p:spPr>
          <a:xfrm>
            <a:off x="12801600" y="201168"/>
            <a:ext cx="45720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C6F24E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NEXT ▸ LIVE ON TESTNET</a:t>
            </a:r>
            <a:endParaRPr/>
          </a:p>
        </p:txBody>
      </p:sp>
      <p:sp>
        <p:nvSpPr>
          <p:cNvPr id="110" name="Google Shape;110;p14"/>
          <p:cNvSpPr/>
          <p:nvPr/>
        </p:nvSpPr>
        <p:spPr>
          <a:xfrm>
            <a:off x="914400" y="1417320"/>
            <a:ext cx="2468879" cy="475488"/>
          </a:xfrm>
          <a:prstGeom prst="roundRect">
            <a:avLst>
              <a:gd fmla="val 50000" name="adj"/>
            </a:avLst>
          </a:prstGeom>
          <a:solidFill>
            <a:srgbClr val="C6F24E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0E0F11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THE SOLUTION</a:t>
            </a:r>
            <a:endParaRPr/>
          </a:p>
        </p:txBody>
      </p:sp>
      <p:sp>
        <p:nvSpPr>
          <p:cNvPr id="121" name="Google Shape;121;p14"/>
          <p:cNvSpPr/>
          <p:nvPr/>
        </p:nvSpPr>
        <p:spPr>
          <a:xfrm>
            <a:off x="914400" y="8915400"/>
            <a:ext cx="16459200" cy="13716"/>
          </a:xfrm>
          <a:prstGeom prst="rect">
            <a:avLst/>
          </a:prstGeom>
          <a:solidFill>
            <a:srgbClr val="DFDD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22" name="Google Shape;122;p14"/>
          <p:cNvSpPr txBox="1"/>
          <p:nvPr/>
        </p:nvSpPr>
        <p:spPr>
          <a:xfrm>
            <a:off x="914400" y="9253728"/>
            <a:ext cx="91440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5C5C5C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© 2026 HackMeridian · Lisbon  ·  #HackMeridian26</a:t>
            </a:r>
            <a:endParaRPr/>
          </a:p>
        </p:txBody>
      </p:sp>
      <p:pic>
        <p:nvPicPr>
          <p:cNvPr id="123" name="Picture 12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859000" y="9171432"/>
            <a:ext cx="2517969" cy="438912"/>
          </a:xfrm>
          <a:prstGeom prst="rect">
            <a:avLst/>
          </a:prstGeom>
        </p:spPr>
      </p:pic>
      <p:sp>
        <p:nvSpPr>
          <p:cNvPr id="124" name="TextBox 123"/>
          <p:cNvSpPr txBox="1"/>
          <p:nvPr/>
        </p:nvSpPr>
        <p:spPr>
          <a:xfrm>
            <a:off x="914400" y="2011680"/>
            <a:ext cx="164592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5800" b="1">
                <a:solidFill>
                  <a:srgbClr val="0E0F11"/>
                </a:solidFill>
                <a:latin typeface="Inter Tight"/>
              </a:rPr>
              <a:t>Both custodians sign, or nothing changes</a:t>
            </a:r>
          </a:p>
        </p:txBody>
      </p:sp>
      <p:sp>
        <p:nvSpPr>
          <p:cNvPr id="125" name="Rounded Rectangle 124"/>
          <p:cNvSpPr/>
          <p:nvPr/>
        </p:nvSpPr>
        <p:spPr>
          <a:xfrm>
            <a:off x="914400" y="3291840"/>
            <a:ext cx="4480560" cy="1325880"/>
          </a:xfrm>
          <a:prstGeom prst="roundRect">
            <a:avLst>
              <a:gd name="adj" fmla="val 11034"/>
            </a:avLst>
          </a:prstGeom>
          <a:solidFill>
            <a:srgbClr val="FFFFFF"/>
          </a:solidFill>
          <a:ln w="12700">
            <a:solidFill>
              <a:srgbClr val="DFDD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914400" y="3474720"/>
            <a:ext cx="448056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200"/>
              </a:spcAft>
            </a:pPr>
            <a:r>
              <a:rPr sz="2800" b="1">
                <a:solidFill>
                  <a:srgbClr val="0E0F11"/>
                </a:solidFill>
                <a:latin typeface="Instrument Sans"/>
              </a:rPr>
              <a:t>Outgoing custodian</a:t>
            </a:r>
          </a:p>
          <a:p>
            <a:pPr algn="ctr">
              <a:lnSpc>
                <a:spcPct val="112000"/>
              </a:lnSpc>
              <a:spcAft>
                <a:spcPts val="200"/>
              </a:spcAft>
            </a:pPr>
            <a:r>
              <a:rPr sz="1800" b="0">
                <a:solidFill>
                  <a:srgbClr val="4D5560"/>
                </a:solidFill>
                <a:latin typeface="JetBrains Mono"/>
              </a:rPr>
              <a:t>signs</a:t>
            </a:r>
          </a:p>
        </p:txBody>
      </p:sp>
      <p:sp>
        <p:nvSpPr>
          <p:cNvPr id="127" name="Rounded Rectangle 126"/>
          <p:cNvSpPr/>
          <p:nvPr/>
        </p:nvSpPr>
        <p:spPr>
          <a:xfrm>
            <a:off x="5989320" y="3291840"/>
            <a:ext cx="6309360" cy="1325880"/>
          </a:xfrm>
          <a:prstGeom prst="roundRect">
            <a:avLst>
              <a:gd name="adj" fmla="val 11034"/>
            </a:avLst>
          </a:prstGeom>
          <a:solidFill>
            <a:srgbClr val="C6F2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TextBox 127"/>
          <p:cNvSpPr txBox="1"/>
          <p:nvPr/>
        </p:nvSpPr>
        <p:spPr>
          <a:xfrm>
            <a:off x="5989320" y="3474720"/>
            <a:ext cx="630936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200"/>
              </a:spcAft>
            </a:pPr>
            <a:r>
              <a:rPr sz="2800" b="1">
                <a:solidFill>
                  <a:srgbClr val="0E0F11"/>
                </a:solidFill>
                <a:latin typeface="Instrument Sans"/>
              </a:rPr>
              <a:t>One Stellar transaction</a:t>
            </a:r>
          </a:p>
          <a:p>
            <a:pPr algn="ctr">
              <a:lnSpc>
                <a:spcPct val="112000"/>
              </a:lnSpc>
              <a:spcAft>
                <a:spcPts val="200"/>
              </a:spcAft>
            </a:pPr>
            <a:r>
              <a:rPr sz="1800" b="0">
                <a:solidFill>
                  <a:srgbClr val="0E0F11"/>
                </a:solidFill>
                <a:latin typeface="JetBrains Mono"/>
              </a:rPr>
              <a:t>custody_registry.handover</a:t>
            </a:r>
          </a:p>
        </p:txBody>
      </p:sp>
      <p:sp>
        <p:nvSpPr>
          <p:cNvPr id="129" name="Rounded Rectangle 128"/>
          <p:cNvSpPr/>
          <p:nvPr/>
        </p:nvSpPr>
        <p:spPr>
          <a:xfrm>
            <a:off x="12893040" y="3291840"/>
            <a:ext cx="4480560" cy="1325880"/>
          </a:xfrm>
          <a:prstGeom prst="roundRect">
            <a:avLst>
              <a:gd name="adj" fmla="val 11034"/>
            </a:avLst>
          </a:prstGeom>
          <a:solidFill>
            <a:srgbClr val="FFFFFF"/>
          </a:solidFill>
          <a:ln w="12700">
            <a:solidFill>
              <a:srgbClr val="DFDD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TextBox 129"/>
          <p:cNvSpPr txBox="1"/>
          <p:nvPr/>
        </p:nvSpPr>
        <p:spPr>
          <a:xfrm>
            <a:off x="12893040" y="3474720"/>
            <a:ext cx="448056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200"/>
              </a:spcAft>
            </a:pPr>
            <a:r>
              <a:rPr sz="2800" b="1">
                <a:solidFill>
                  <a:srgbClr val="0E0F11"/>
                </a:solidFill>
                <a:latin typeface="Instrument Sans"/>
              </a:rPr>
              <a:t>Incoming custodian</a:t>
            </a:r>
          </a:p>
          <a:p>
            <a:pPr algn="ctr">
              <a:lnSpc>
                <a:spcPct val="112000"/>
              </a:lnSpc>
              <a:spcAft>
                <a:spcPts val="200"/>
              </a:spcAft>
            </a:pPr>
            <a:r>
              <a:rPr sz="1800" b="0">
                <a:solidFill>
                  <a:srgbClr val="4D5560"/>
                </a:solidFill>
                <a:latin typeface="JetBrains Mono"/>
              </a:rPr>
              <a:t>signs</a:t>
            </a:r>
          </a:p>
        </p:txBody>
      </p:sp>
      <p:sp>
        <p:nvSpPr>
          <p:cNvPr id="131" name="Rectangle 130"/>
          <p:cNvSpPr/>
          <p:nvPr/>
        </p:nvSpPr>
        <p:spPr>
          <a:xfrm>
            <a:off x="5394960" y="3931920"/>
            <a:ext cx="594360" cy="36576"/>
          </a:xfrm>
          <a:prstGeom prst="rect">
            <a:avLst/>
          </a:prstGeom>
          <a:solidFill>
            <a:srgbClr val="0E0F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Rectangle 131"/>
          <p:cNvSpPr/>
          <p:nvPr/>
        </p:nvSpPr>
        <p:spPr>
          <a:xfrm>
            <a:off x="12298680" y="3931920"/>
            <a:ext cx="594360" cy="36576"/>
          </a:xfrm>
          <a:prstGeom prst="rect">
            <a:avLst/>
          </a:prstGeom>
          <a:solidFill>
            <a:srgbClr val="0E0F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914400" y="4983480"/>
            <a:ext cx="164592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3000" b="1">
                <a:solidFill>
                  <a:srgbClr val="0E0F11"/>
                </a:solidFill>
                <a:latin typeface="Instrument Sans"/>
              </a:rPr>
              <a:t>Either signature missing → the call fails.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914400" y="5897880"/>
            <a:ext cx="16459200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2600" b="0">
                <a:solidFill>
                  <a:srgbClr val="556F00"/>
                </a:solidFill>
                <a:latin typeface="Instrument Sans"/>
              </a:rPr>
              <a:t>— </a:t>
            </a:r>
            <a:r>
              <a:rPr sz="2600" b="0">
                <a:solidFill>
                  <a:srgbClr val="0E0F11"/>
                </a:solidFill>
                <a:latin typeface="Instrument Sans"/>
              </a:rPr>
              <a:t>Each handover moves custody and extends an on-chain hash chain, the </a:t>
            </a:r>
            <a:r>
              <a:rPr sz="2600" b="0">
                <a:solidFill>
                  <a:srgbClr val="0E0F11"/>
                </a:solidFill>
                <a:latin typeface="JetBrains Mono"/>
              </a:rPr>
              <a:t>head</a:t>
            </a:r>
            <a:r>
              <a:rPr sz="2600" b="0">
                <a:solidFill>
                  <a:srgbClr val="0E0F11"/>
                </a:solidFill>
                <a:latin typeface="Instrument Sans"/>
              </a:rPr>
              <a:t>.</a:t>
            </a:r>
          </a:p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2600" b="0">
                <a:solidFill>
                  <a:srgbClr val="556F00"/>
                </a:solidFill>
                <a:latin typeface="Instrument Sans"/>
              </a:rPr>
              <a:t>— </a:t>
            </a:r>
            <a:r>
              <a:rPr sz="2600" b="0">
                <a:solidFill>
                  <a:srgbClr val="0E0F11"/>
                </a:solidFill>
                <a:latin typeface="Instrument Sans"/>
              </a:rPr>
              <a:t>The token stays with its holder in transit; only custody changes.</a:t>
            </a:r>
          </a:p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2600" b="0">
                <a:solidFill>
                  <a:srgbClr val="556F00"/>
                </a:solidFill>
                <a:latin typeface="Instrument Sans"/>
              </a:rPr>
              <a:t>— </a:t>
            </a:r>
            <a:r>
              <a:rPr sz="2600" b="0">
                <a:solidFill>
                  <a:srgbClr val="0E0F11"/>
                </a:solidFill>
                <a:latin typeface="Instrument Sans"/>
              </a:rPr>
              <a:t>After Delivered, the operator burns the token with the existing </a:t>
            </a:r>
            <a:r>
              <a:rPr sz="2600" b="0">
                <a:solidFill>
                  <a:srgbClr val="0E0F11"/>
                </a:solidFill>
                <a:latin typeface="JetBrains Mono"/>
              </a:rPr>
              <a:t>redeem</a:t>
            </a:r>
            <a:r>
              <a:rPr sz="2600" b="0">
                <a:solidFill>
                  <a:srgbClr val="0E0F11"/>
                </a:solidFill>
                <a:latin typeface="Instrument Sans"/>
              </a:rPr>
              <a:t>¹.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914400" y="7909560"/>
            <a:ext cx="164592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800" b="0">
                <a:solidFill>
                  <a:srgbClr val="4D5560"/>
                </a:solidFill>
                <a:latin typeface="Instrument Sans"/>
              </a:rPr>
              <a:t>A custody record keyed to the container number. In production it would sit beside the carrier's bill of lading; not integrated in this build.</a:t>
            </a:r>
          </a:p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800" b="0">
                <a:solidFill>
                  <a:srgbClr val="4D5560"/>
                </a:solidFill>
                <a:latin typeface="Instrument Sans"/>
              </a:rPr>
              <a:t>¹ Radox platform policy, not enforced on-chain by the registry; redeem still needs the holder's signature.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0F11"/>
        </a:solidFill>
      </p:bgPr>
    </p:bg>
    <p:spTree>
      <p:nvGrpSpPr>
        <p:cNvPr id="1" name=""/>
        <p:cNvGrpSpPr/>
        <p:nvPr/>
      </p:nvGrpSpPr>
      <p:grpSpPr/>
      <p:sp>
        <p:nvSpPr>
          <p:cNvPr id="106" name="Google Shape;106;p14"/>
          <p:cNvSpPr/>
          <p:nvPr/>
        </p:nvSpPr>
        <p:spPr>
          <a:xfrm>
            <a:off x="0" y="0"/>
            <a:ext cx="18288000" cy="731520"/>
          </a:xfrm>
          <a:prstGeom prst="rect">
            <a:avLst/>
          </a:prstGeom>
          <a:solidFill>
            <a:srgbClr val="131517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07" name="Google Shape;107;p14"/>
          <p:cNvSpPr txBox="1"/>
          <p:nvPr/>
        </p:nvSpPr>
        <p:spPr>
          <a:xfrm>
            <a:off x="914400" y="201168"/>
            <a:ext cx="45720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C6F24E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PLATFORM 05 / 10</a:t>
            </a:r>
            <a:endParaRPr/>
          </a:p>
        </p:txBody>
      </p:sp>
      <p:sp>
        <p:nvSpPr>
          <p:cNvPr id="108" name="Google Shape;108;p14"/>
          <p:cNvSpPr txBox="1"/>
          <p:nvPr/>
        </p:nvSpPr>
        <p:spPr>
          <a:xfrm>
            <a:off x="5486400" y="201168"/>
            <a:ext cx="73152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HACKMERIDIAN 2026 · LISBON</a:t>
            </a:r>
            <a:endParaRPr/>
          </a:p>
        </p:txBody>
      </p:sp>
      <p:sp>
        <p:nvSpPr>
          <p:cNvPr id="109" name="Google Shape;109;p14"/>
          <p:cNvSpPr txBox="1"/>
          <p:nvPr/>
        </p:nvSpPr>
        <p:spPr>
          <a:xfrm>
            <a:off x="12801600" y="201168"/>
            <a:ext cx="45720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C6F24E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NEXT ▸ WHY STELLAR</a:t>
            </a:r>
            <a:endParaRPr/>
          </a:p>
        </p:txBody>
      </p:sp>
      <p:sp>
        <p:nvSpPr>
          <p:cNvPr id="110" name="Google Shape;110;p14"/>
          <p:cNvSpPr/>
          <p:nvPr/>
        </p:nvSpPr>
        <p:spPr>
          <a:xfrm>
            <a:off x="914400" y="1417320"/>
            <a:ext cx="4800600" cy="475488"/>
          </a:xfrm>
          <a:prstGeom prst="roundRect">
            <a:avLst>
              <a:gd fmla="val 50000" name="adj"/>
            </a:avLst>
          </a:prstGeom>
          <a:solidFill>
            <a:srgbClr val="C6F24E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0E0F11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THE PRODUCT · LIVE ON TESTNET</a:t>
            </a:r>
            <a:endParaRPr/>
          </a:p>
        </p:txBody>
      </p:sp>
      <p:sp>
        <p:nvSpPr>
          <p:cNvPr id="121" name="Google Shape;121;p14"/>
          <p:cNvSpPr/>
          <p:nvPr/>
        </p:nvSpPr>
        <p:spPr>
          <a:xfrm>
            <a:off x="914400" y="8915400"/>
            <a:ext cx="16459200" cy="13716"/>
          </a:xfrm>
          <a:prstGeom prst="rect">
            <a:avLst/>
          </a:prstGeom>
          <a:solidFill>
            <a:srgbClr val="2A2F3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22" name="Google Shape;122;p14"/>
          <p:cNvSpPr txBox="1"/>
          <p:nvPr/>
        </p:nvSpPr>
        <p:spPr>
          <a:xfrm>
            <a:off x="914400" y="9253728"/>
            <a:ext cx="91440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A3A8B0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© 2026 HackMeridian · Lisbon  ·  #HackMeridian26</a:t>
            </a:r>
            <a:endParaRPr/>
          </a:p>
        </p:txBody>
      </p:sp>
      <p:pic>
        <p:nvPicPr>
          <p:cNvPr id="123" name="Picture 12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859000" y="9171432"/>
            <a:ext cx="2517969" cy="438912"/>
          </a:xfrm>
          <a:prstGeom prst="rect">
            <a:avLst/>
          </a:prstGeom>
        </p:spPr>
      </p:pic>
      <p:sp>
        <p:nvSpPr>
          <p:cNvPr id="124" name="TextBox 123"/>
          <p:cNvSpPr txBox="1"/>
          <p:nvPr/>
        </p:nvSpPr>
        <p:spPr>
          <a:xfrm>
            <a:off x="914400" y="2011680"/>
            <a:ext cx="164592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5800" b="1">
                <a:solidFill>
                  <a:srgbClr val="E7E8EA"/>
                </a:solidFill>
                <a:latin typeface="Inter Tight"/>
              </a:rPr>
              <a:t>7 testnet transactions. Anyone can check them.</a:t>
            </a:r>
          </a:p>
        </p:txBody>
      </p:sp>
      <p:pic>
        <p:nvPicPr>
          <p:cNvPr id="125" name="Picture 124" descr="page-handovers-row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3108960"/>
            <a:ext cx="6766560" cy="4591594"/>
          </a:xfrm>
          <a:prstGeom prst="rect">
            <a:avLst/>
          </a:prstGeom>
        </p:spPr>
      </p:pic>
      <p:sp>
        <p:nvSpPr>
          <p:cNvPr id="126" name="Rectangle 125"/>
          <p:cNvSpPr/>
          <p:nvPr/>
        </p:nvSpPr>
        <p:spPr>
          <a:xfrm>
            <a:off x="914400" y="3108960"/>
            <a:ext cx="6766560" cy="4591594"/>
          </a:xfrm>
          <a:prstGeom prst="rect">
            <a:avLst/>
          </a:prstGeom>
          <a:noFill/>
          <a:ln w="12700">
            <a:solidFill>
              <a:srgbClr val="2A2F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8229600" y="306324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800" b="0">
                <a:solidFill>
                  <a:srgbClr val="C6F24E"/>
                </a:solidFill>
                <a:latin typeface="JetBrains Mono"/>
              </a:rPr>
              <a:t>2b3d51f0</a:t>
            </a:r>
            <a:r>
              <a:rPr sz="1800" b="0">
                <a:solidFill>
                  <a:srgbClr val="E7E8EA"/>
                </a:solidFill>
                <a:latin typeface="Instrument Sans"/>
              </a:rPr>
              <a:t>   open · operator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229600" y="342900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800" b="0">
                <a:solidFill>
                  <a:srgbClr val="C6F24E"/>
                </a:solidFill>
                <a:latin typeface="JetBrains Mono"/>
              </a:rPr>
              <a:t>635c99ac</a:t>
            </a:r>
            <a:r>
              <a:rPr sz="1800" b="0">
                <a:solidFill>
                  <a:srgbClr val="E7E8EA"/>
                </a:solidFill>
                <a:latin typeface="Instrument Sans"/>
              </a:rPr>
              <a:t>   handover 1 · Warehouse → Port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8229600" y="379476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800" b="0">
                <a:solidFill>
                  <a:srgbClr val="C6F24E"/>
                </a:solidFill>
                <a:latin typeface="JetBrains Mono"/>
              </a:rPr>
              <a:t>56a0f006</a:t>
            </a:r>
            <a:r>
              <a:rPr sz="1800" b="0">
                <a:solidFill>
                  <a:srgbClr val="E7E8EA"/>
                </a:solidFill>
                <a:latin typeface="Instrument Sans"/>
              </a:rPr>
              <a:t>   handover 2 · Port → Carrier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8229600" y="416052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800" b="0">
                <a:solidFill>
                  <a:srgbClr val="C6F24E"/>
                </a:solidFill>
                <a:latin typeface="JetBrains Mono"/>
              </a:rPr>
              <a:t>ac268a49</a:t>
            </a:r>
            <a:r>
              <a:rPr sz="1800" b="0">
                <a:solidFill>
                  <a:srgbClr val="E7E8EA"/>
                </a:solidFill>
                <a:latin typeface="Instrument Sans"/>
              </a:rPr>
              <a:t>   handover 3 · Carrier → Customs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229600" y="452628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800" b="0">
                <a:solidFill>
                  <a:srgbClr val="C6F24E"/>
                </a:solidFill>
                <a:latin typeface="JetBrains Mono"/>
              </a:rPr>
              <a:t>5199d4fb</a:t>
            </a:r>
            <a:r>
              <a:rPr sz="1800" b="0">
                <a:solidFill>
                  <a:srgbClr val="E7E8EA"/>
                </a:solidFill>
                <a:latin typeface="Instrument Sans"/>
              </a:rPr>
              <a:t>   handover 4 · Customs → Recipient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8229600" y="489204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800" b="0">
                <a:solidFill>
                  <a:srgbClr val="C6F24E"/>
                </a:solidFill>
                <a:latin typeface="JetBrains Mono"/>
              </a:rPr>
              <a:t>919def8c</a:t>
            </a:r>
            <a:r>
              <a:rPr sz="1800" b="0">
                <a:solidFill>
                  <a:srgbClr val="E7E8EA"/>
                </a:solidFill>
                <a:latin typeface="Instrument Sans"/>
              </a:rPr>
              <a:t>   deliver · Recipient → Holder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8229600" y="525780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800" b="0">
                <a:solidFill>
                  <a:srgbClr val="C6F24E"/>
                </a:solidFill>
                <a:latin typeface="JetBrains Mono"/>
              </a:rPr>
              <a:t>864fd164</a:t>
            </a:r>
            <a:r>
              <a:rPr sz="1800" b="0">
                <a:solidFill>
                  <a:srgbClr val="E7E8EA"/>
                </a:solidFill>
                <a:latin typeface="Instrument Sans"/>
              </a:rPr>
              <a:t>   burn · existing redeem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8229600" y="5760720"/>
            <a:ext cx="22860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0000"/>
              </a:lnSpc>
              <a:spcAft>
                <a:spcPts val="600"/>
              </a:spcAft>
            </a:pPr>
            <a:r>
              <a:rPr sz="4400" b="1">
                <a:solidFill>
                  <a:srgbClr val="C6F24E"/>
                </a:solidFill>
                <a:latin typeface="Inter Tight"/>
              </a:rPr>
              <a:t>7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8229600" y="6492240"/>
            <a:ext cx="22402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800" b="0">
                <a:solidFill>
                  <a:srgbClr val="E7E8EA"/>
                </a:solidFill>
                <a:latin typeface="Instrument Sans"/>
              </a:rPr>
              <a:t>successful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10561320" y="5760720"/>
            <a:ext cx="22860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0000"/>
              </a:lnSpc>
              <a:spcAft>
                <a:spcPts val="600"/>
              </a:spcAft>
            </a:pPr>
            <a:r>
              <a:rPr sz="4400" b="1">
                <a:solidFill>
                  <a:srgbClr val="C6F24E"/>
                </a:solidFill>
                <a:latin typeface="Inter Tight"/>
              </a:rPr>
              <a:t>9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10561320" y="6492240"/>
            <a:ext cx="22402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800" b="0">
                <a:solidFill>
                  <a:srgbClr val="E7E8EA"/>
                </a:solidFill>
                <a:latin typeface="Instrument Sans"/>
              </a:rPr>
              <a:t>refused (simulated)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2893040" y="5760720"/>
            <a:ext cx="22860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0000"/>
              </a:lnSpc>
              <a:spcAft>
                <a:spcPts val="600"/>
              </a:spcAft>
            </a:pPr>
            <a:r>
              <a:rPr sz="4400" b="1">
                <a:solidFill>
                  <a:srgbClr val="C6F24E"/>
                </a:solidFill>
                <a:latin typeface="Inter Tight"/>
              </a:rPr>
              <a:t>24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12893040" y="6492240"/>
            <a:ext cx="22402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800" b="0">
                <a:solidFill>
                  <a:srgbClr val="E7E8EA"/>
                </a:solidFill>
                <a:latin typeface="Instrument Sans"/>
              </a:rPr>
              <a:t>unit tests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15224759" y="5760720"/>
            <a:ext cx="22860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0000"/>
              </a:lnSpc>
              <a:spcAft>
                <a:spcPts val="600"/>
              </a:spcAft>
            </a:pPr>
            <a:r>
              <a:rPr sz="4400" b="1">
                <a:solidFill>
                  <a:srgbClr val="C6F24E"/>
                </a:solidFill>
                <a:latin typeface="Inter Tight"/>
              </a:rPr>
              <a:t>MATCH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15224759" y="6492240"/>
            <a:ext cx="22402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800" b="0">
                <a:solidFill>
                  <a:srgbClr val="E7E8EA"/>
                </a:solidFill>
                <a:latin typeface="Instrument Sans"/>
              </a:rPr>
              <a:t>head check, 25 Oct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8229600" y="6903720"/>
            <a:ext cx="914400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800" b="0">
                <a:solidFill>
                  <a:srgbClr val="A3A8B0"/>
                </a:solidFill>
                <a:latin typeface="JetBrains Mono"/>
              </a:rPr>
              <a:t>custody_registry </a:t>
            </a:r>
            <a:r>
              <a:rPr sz="1800" b="0">
                <a:solidFill>
                  <a:srgbClr val="E7E8EA"/>
                </a:solidFill>
                <a:latin typeface="JetBrains Mono"/>
              </a:rPr>
              <a:t>CCBJVXMJYWPHTDJHDFPRGKPGXGEP24JOPJAMUS5C3BMZJTRTWR2H4LII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800" b="0">
                <a:solidFill>
                  <a:srgbClr val="A3A8B0"/>
                </a:solidFill>
                <a:latin typeface="Instrument Sans"/>
              </a:rPr>
              <a:t>Plus attestation 33379211. Second run (branch three-machine): two team members authorised handovers on their own computers and testnet keys.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800" b="1">
                <a:solidFill>
                  <a:srgbClr val="E7E8EA"/>
                </a:solidFill>
                <a:latin typeface="Instrument Sans"/>
              </a:rPr>
              <a:t>All test keys, mostly in one harness: it proves the mechanism, not independent custodians.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</p:bgPr>
    </p:bg>
    <p:spTree>
      <p:nvGrpSpPr>
        <p:cNvPr id="1" name=""/>
        <p:cNvGrpSpPr/>
        <p:nvPr/>
      </p:nvGrpSpPr>
      <p:grpSpPr/>
      <p:sp>
        <p:nvSpPr>
          <p:cNvPr id="106" name="Google Shape;106;p14"/>
          <p:cNvSpPr/>
          <p:nvPr/>
        </p:nvSpPr>
        <p:spPr>
          <a:xfrm>
            <a:off x="0" y="0"/>
            <a:ext cx="18288000" cy="731520"/>
          </a:xfrm>
          <a:prstGeom prst="rect">
            <a:avLst/>
          </a:prstGeom>
          <a:solidFill>
            <a:srgbClr val="0F0F0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07" name="Google Shape;107;p14"/>
          <p:cNvSpPr txBox="1"/>
          <p:nvPr/>
        </p:nvSpPr>
        <p:spPr>
          <a:xfrm>
            <a:off x="914400" y="201168"/>
            <a:ext cx="45720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C6F24E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PLATFORM 06 / 10</a:t>
            </a:r>
            <a:endParaRPr/>
          </a:p>
        </p:txBody>
      </p:sp>
      <p:sp>
        <p:nvSpPr>
          <p:cNvPr id="108" name="Google Shape;108;p14"/>
          <p:cNvSpPr txBox="1"/>
          <p:nvPr/>
        </p:nvSpPr>
        <p:spPr>
          <a:xfrm>
            <a:off x="5486400" y="201168"/>
            <a:ext cx="73152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HACKMERIDIAN 2026 · LISBON</a:t>
            </a:r>
            <a:endParaRPr/>
          </a:p>
        </p:txBody>
      </p:sp>
      <p:sp>
        <p:nvSpPr>
          <p:cNvPr id="109" name="Google Shape;109;p14"/>
          <p:cNvSpPr txBox="1"/>
          <p:nvPr/>
        </p:nvSpPr>
        <p:spPr>
          <a:xfrm>
            <a:off x="12801600" y="201168"/>
            <a:ext cx="45720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C6F24E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NEXT ▸ USERS AND MODEL</a:t>
            </a:r>
            <a:endParaRPr/>
          </a:p>
        </p:txBody>
      </p:sp>
      <p:sp>
        <p:nvSpPr>
          <p:cNvPr id="110" name="Google Shape;110;p14"/>
          <p:cNvSpPr/>
          <p:nvPr/>
        </p:nvSpPr>
        <p:spPr>
          <a:xfrm>
            <a:off x="914400" y="1417320"/>
            <a:ext cx="3977639" cy="475488"/>
          </a:xfrm>
          <a:prstGeom prst="roundRect">
            <a:avLst>
              <a:gd fmla="val 50000" name="adj"/>
            </a:avLst>
          </a:prstGeom>
          <a:solidFill>
            <a:srgbClr val="C6F24E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0E0F11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ECOSYSTEM · WHY STELLAR</a:t>
            </a:r>
            <a:endParaRPr/>
          </a:p>
        </p:txBody>
      </p:sp>
      <p:sp>
        <p:nvSpPr>
          <p:cNvPr id="121" name="Google Shape;121;p14"/>
          <p:cNvSpPr/>
          <p:nvPr/>
        </p:nvSpPr>
        <p:spPr>
          <a:xfrm>
            <a:off x="914400" y="8915400"/>
            <a:ext cx="16459200" cy="13716"/>
          </a:xfrm>
          <a:prstGeom prst="rect">
            <a:avLst/>
          </a:prstGeom>
          <a:solidFill>
            <a:srgbClr val="DFDD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22" name="Google Shape;122;p14"/>
          <p:cNvSpPr txBox="1"/>
          <p:nvPr/>
        </p:nvSpPr>
        <p:spPr>
          <a:xfrm>
            <a:off x="914400" y="9253728"/>
            <a:ext cx="91440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5C5C5C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© 2026 HackMeridian · Lisbon  ·  #HackMeridian26</a:t>
            </a:r>
            <a:endParaRPr/>
          </a:p>
        </p:txBody>
      </p:sp>
      <p:pic>
        <p:nvPicPr>
          <p:cNvPr id="123" name="Picture 12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859000" y="9171432"/>
            <a:ext cx="2517969" cy="438912"/>
          </a:xfrm>
          <a:prstGeom prst="rect">
            <a:avLst/>
          </a:prstGeom>
        </p:spPr>
      </p:pic>
      <p:sp>
        <p:nvSpPr>
          <p:cNvPr id="124" name="TextBox 123"/>
          <p:cNvSpPr txBox="1"/>
          <p:nvPr/>
        </p:nvSpPr>
        <p:spPr>
          <a:xfrm>
            <a:off x="914400" y="2011680"/>
            <a:ext cx="164592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5800" b="1">
                <a:solidFill>
                  <a:srgbClr val="0E0F11"/>
                </a:solidFill>
                <a:latin typeface="Inter Tight"/>
              </a:rPr>
              <a:t>Why Stellar: two signers, one call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914400" y="3127248"/>
            <a:ext cx="16459200" cy="18288"/>
          </a:xfrm>
          <a:prstGeom prst="rect">
            <a:avLst/>
          </a:prstGeom>
          <a:solidFill>
            <a:srgbClr val="DFDD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914400" y="3319272"/>
            <a:ext cx="914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400" b="1">
                <a:solidFill>
                  <a:srgbClr val="556F00"/>
                </a:solidFill>
                <a:latin typeface="JetBrains Mono"/>
              </a:rPr>
              <a:t>01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1828800" y="3246120"/>
            <a:ext cx="585216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3000" b="1">
                <a:solidFill>
                  <a:srgbClr val="0E0F11"/>
                </a:solidFill>
                <a:latin typeface="Inter Tight"/>
              </a:rPr>
              <a:t>Multi-party auth in one call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7863840" y="3264408"/>
            <a:ext cx="950976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400" b="0">
                <a:solidFill>
                  <a:srgbClr val="0E0F11"/>
                </a:solidFill>
                <a:latin typeface="Instrument Sans"/>
              </a:rPr>
              <a:t>Soroban authorises both custodians inside one contract invocation: the handover is atomic.</a:t>
            </a:r>
          </a:p>
        </p:txBody>
      </p:sp>
      <p:sp>
        <p:nvSpPr>
          <p:cNvPr id="129" name="Rectangle 128"/>
          <p:cNvSpPr/>
          <p:nvPr/>
        </p:nvSpPr>
        <p:spPr>
          <a:xfrm>
            <a:off x="914400" y="4498848"/>
            <a:ext cx="16459200" cy="18288"/>
          </a:xfrm>
          <a:prstGeom prst="rect">
            <a:avLst/>
          </a:prstGeom>
          <a:solidFill>
            <a:srgbClr val="DFDD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TextBox 129"/>
          <p:cNvSpPr txBox="1"/>
          <p:nvPr/>
        </p:nvSpPr>
        <p:spPr>
          <a:xfrm>
            <a:off x="914400" y="4690872"/>
            <a:ext cx="914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400" b="1">
                <a:solidFill>
                  <a:srgbClr val="556F00"/>
                </a:solidFill>
                <a:latin typeface="JetBrains Mono"/>
              </a:rPr>
              <a:t>02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828800" y="4617720"/>
            <a:ext cx="585216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3000" b="1">
                <a:solidFill>
                  <a:srgbClr val="0E0F11"/>
                </a:solidFill>
                <a:latin typeface="Inter Tight"/>
              </a:rPr>
              <a:t>Events plus an on-chain head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7863840" y="4636007"/>
            <a:ext cx="950976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400" b="0">
                <a:solidFill>
                  <a:srgbClr val="0E0F11"/>
                </a:solidFill>
                <a:latin typeface="Instrument Sans"/>
              </a:rPr>
              <a:t>RPC keeps contract events about 7 days. The head stored in the contract lets anyone rebuild the full history later.</a:t>
            </a:r>
          </a:p>
        </p:txBody>
      </p:sp>
      <p:sp>
        <p:nvSpPr>
          <p:cNvPr id="133" name="Rectangle 132"/>
          <p:cNvSpPr/>
          <p:nvPr/>
        </p:nvSpPr>
        <p:spPr>
          <a:xfrm>
            <a:off x="914400" y="5870448"/>
            <a:ext cx="16459200" cy="18288"/>
          </a:xfrm>
          <a:prstGeom prst="rect">
            <a:avLst/>
          </a:prstGeom>
          <a:solidFill>
            <a:srgbClr val="DFDD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914400" y="6062472"/>
            <a:ext cx="914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400" b="1">
                <a:solidFill>
                  <a:srgbClr val="556F00"/>
                </a:solidFill>
                <a:latin typeface="JetBrains Mono"/>
              </a:rPr>
              <a:t>03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1828800" y="5989320"/>
            <a:ext cx="585216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3000" b="1">
                <a:solidFill>
                  <a:srgbClr val="0E0F11"/>
                </a:solidFill>
                <a:latin typeface="Inter Tight"/>
              </a:rPr>
              <a:t>The token stays put, then burns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7863840" y="6007607"/>
            <a:ext cx="950976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400" b="0">
                <a:solidFill>
                  <a:srgbClr val="0E0F11"/>
                </a:solidFill>
                <a:latin typeface="Instrument Sans"/>
              </a:rPr>
              <a:t>The shipment token never moves in transit; the existing Radox redeem burns it after delivery.</a:t>
            </a:r>
          </a:p>
        </p:txBody>
      </p:sp>
      <p:sp>
        <p:nvSpPr>
          <p:cNvPr id="137" name="Rectangle 136"/>
          <p:cNvSpPr/>
          <p:nvPr/>
        </p:nvSpPr>
        <p:spPr>
          <a:xfrm>
            <a:off x="914400" y="7242048"/>
            <a:ext cx="16459200" cy="18288"/>
          </a:xfrm>
          <a:prstGeom prst="rect">
            <a:avLst/>
          </a:prstGeom>
          <a:solidFill>
            <a:srgbClr val="DFDD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TextBox 137"/>
          <p:cNvSpPr txBox="1"/>
          <p:nvPr/>
        </p:nvSpPr>
        <p:spPr>
          <a:xfrm>
            <a:off x="914400" y="7424927"/>
            <a:ext cx="1645920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100" b="1">
                <a:solidFill>
                  <a:srgbClr val="0E0F11"/>
                </a:solidFill>
                <a:latin typeface="Instrument Sans"/>
              </a:rPr>
              <a:t>Nearest neighbours we found on Stellar </a:t>
            </a:r>
            <a:r>
              <a:rPr sz="2100" b="0">
                <a:solidFill>
                  <a:srgbClr val="4D5560"/>
                </a:solidFill>
                <a:latin typeface="Instrument Sans"/>
              </a:rPr>
              <a:t>(LumenLoop, SCF, Scout, 24–25 Oct): </a:t>
            </a:r>
            <a:r>
              <a:rPr sz="2100" b="0">
                <a:solidFill>
                  <a:srgbClr val="0E0F11"/>
                </a:solidFill>
                <a:latin typeface="Instrument Sans"/>
              </a:rPr>
              <a:t>Kutana and Trustless Work release escrow on trade milestones; Pipeline finances commodity trade. We found none that records a custody handover signed by two custodians, and no SEP.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100" b="1">
                <a:solidFill>
                  <a:srgbClr val="556F00"/>
                </a:solidFill>
                <a:latin typeface="Instrument Sans"/>
              </a:rPr>
              <a:t>Open source, Apache-2.0: </a:t>
            </a:r>
            <a:r>
              <a:rPr sz="2100" b="0">
                <a:solidFill>
                  <a:srgbClr val="0E0F11"/>
                </a:solidFill>
                <a:latin typeface="Instrument Sans"/>
              </a:rPr>
              <a:t>a custody primitive other Stellar real-world-asset issuers can reuse.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</p:bgPr>
    </p:bg>
    <p:spTree>
      <p:nvGrpSpPr>
        <p:cNvPr id="1" name=""/>
        <p:cNvGrpSpPr/>
        <p:nvPr/>
      </p:nvGrpSpPr>
      <p:grpSpPr/>
      <p:sp>
        <p:nvSpPr>
          <p:cNvPr id="106" name="Google Shape;106;p14"/>
          <p:cNvSpPr/>
          <p:nvPr/>
        </p:nvSpPr>
        <p:spPr>
          <a:xfrm>
            <a:off x="0" y="0"/>
            <a:ext cx="18288000" cy="731520"/>
          </a:xfrm>
          <a:prstGeom prst="rect">
            <a:avLst/>
          </a:prstGeom>
          <a:solidFill>
            <a:srgbClr val="0F0F0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07" name="Google Shape;107;p14"/>
          <p:cNvSpPr txBox="1"/>
          <p:nvPr/>
        </p:nvSpPr>
        <p:spPr>
          <a:xfrm>
            <a:off x="914400" y="201168"/>
            <a:ext cx="45720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C6F24E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PLATFORM 07 / 10</a:t>
            </a:r>
            <a:endParaRPr/>
          </a:p>
        </p:txBody>
      </p:sp>
      <p:sp>
        <p:nvSpPr>
          <p:cNvPr id="108" name="Google Shape;108;p14"/>
          <p:cNvSpPr txBox="1"/>
          <p:nvPr/>
        </p:nvSpPr>
        <p:spPr>
          <a:xfrm>
            <a:off x="5486400" y="201168"/>
            <a:ext cx="73152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HACKMERIDIAN 2026 · LISBON</a:t>
            </a:r>
            <a:endParaRPr/>
          </a:p>
        </p:txBody>
      </p:sp>
      <p:sp>
        <p:nvSpPr>
          <p:cNvPr id="109" name="Google Shape;109;p14"/>
          <p:cNvSpPr txBox="1"/>
          <p:nvPr/>
        </p:nvSpPr>
        <p:spPr>
          <a:xfrm>
            <a:off x="12801600" y="201168"/>
            <a:ext cx="45720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C6F24E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NEXT ▸ BUILT THIS WEEKEND</a:t>
            </a:r>
            <a:endParaRPr/>
          </a:p>
        </p:txBody>
      </p:sp>
      <p:sp>
        <p:nvSpPr>
          <p:cNvPr id="110" name="Google Shape;110;p14"/>
          <p:cNvSpPr/>
          <p:nvPr/>
        </p:nvSpPr>
        <p:spPr>
          <a:xfrm>
            <a:off x="914400" y="1417320"/>
            <a:ext cx="3840480" cy="475488"/>
          </a:xfrm>
          <a:prstGeom prst="roundRect">
            <a:avLst>
              <a:gd fmla="val 50000" name="adj"/>
            </a:avLst>
          </a:prstGeom>
          <a:solidFill>
            <a:srgbClr val="C6F24E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0E0F11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USERS · BUSINESS MODEL</a:t>
            </a:r>
            <a:endParaRPr/>
          </a:p>
        </p:txBody>
      </p:sp>
      <p:sp>
        <p:nvSpPr>
          <p:cNvPr id="121" name="Google Shape;121;p14"/>
          <p:cNvSpPr/>
          <p:nvPr/>
        </p:nvSpPr>
        <p:spPr>
          <a:xfrm>
            <a:off x="914400" y="8915400"/>
            <a:ext cx="16459200" cy="13716"/>
          </a:xfrm>
          <a:prstGeom prst="rect">
            <a:avLst/>
          </a:prstGeom>
          <a:solidFill>
            <a:srgbClr val="DFDD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22" name="Google Shape;122;p14"/>
          <p:cNvSpPr txBox="1"/>
          <p:nvPr/>
        </p:nvSpPr>
        <p:spPr>
          <a:xfrm>
            <a:off x="914400" y="9253728"/>
            <a:ext cx="91440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5C5C5C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© 2026 HackMeridian · Lisbon  ·  #HackMeridian26</a:t>
            </a:r>
            <a:endParaRPr/>
          </a:p>
        </p:txBody>
      </p:sp>
      <p:pic>
        <p:nvPicPr>
          <p:cNvPr id="123" name="Picture 12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859000" y="9171432"/>
            <a:ext cx="2517969" cy="438912"/>
          </a:xfrm>
          <a:prstGeom prst="rect">
            <a:avLst/>
          </a:prstGeom>
        </p:spPr>
      </p:pic>
      <p:sp>
        <p:nvSpPr>
          <p:cNvPr id="124" name="TextBox 123"/>
          <p:cNvSpPr txBox="1"/>
          <p:nvPr/>
        </p:nvSpPr>
        <p:spPr>
          <a:xfrm>
            <a:off x="914400" y="2011680"/>
            <a:ext cx="164592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5800" b="1">
                <a:solidFill>
                  <a:srgbClr val="0E0F11"/>
                </a:solidFill>
                <a:latin typeface="Inter Tight"/>
              </a:rPr>
              <a:t>Integrate once, reach every party that joins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914400" y="3063240"/>
            <a:ext cx="164592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400" b="0">
                <a:solidFill>
                  <a:srgbClr val="0E0F11"/>
                </a:solidFill>
                <a:latin typeface="Instrument Sans"/>
              </a:rPr>
              <a:t>With one public custody standard, a port, airport, carrier, chamber or financier would integrate once and reach every other party: adopt without a custom project.</a:t>
            </a:r>
          </a:p>
        </p:txBody>
      </p:sp>
      <p:cxnSp>
        <p:nvCxnSpPr>
          <p:cNvPr id="126" name="Connector 125"/>
          <p:cNvCxnSpPr/>
          <p:nvPr/>
        </p:nvCxnSpPr>
        <p:spPr>
          <a:xfrm>
            <a:off x="2560320" y="4572000"/>
            <a:ext cx="826163" cy="600243"/>
          </a:xfrm>
          <a:prstGeom prst="line">
            <a:avLst/>
          </a:prstGeom>
          <a:ln w="15875">
            <a:solidFill>
              <a:srgbClr val="4D55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7" name="Connector 126"/>
          <p:cNvCxnSpPr/>
          <p:nvPr/>
        </p:nvCxnSpPr>
        <p:spPr>
          <a:xfrm>
            <a:off x="2560320" y="4572000"/>
            <a:ext cx="510597" cy="1571456"/>
          </a:xfrm>
          <a:prstGeom prst="line">
            <a:avLst/>
          </a:prstGeom>
          <a:ln w="15875">
            <a:solidFill>
              <a:srgbClr val="4D55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8" name="Connector 127"/>
          <p:cNvCxnSpPr/>
          <p:nvPr/>
        </p:nvCxnSpPr>
        <p:spPr>
          <a:xfrm flipH="1">
            <a:off x="2049722" y="4572000"/>
            <a:ext cx="510598" cy="1571456"/>
          </a:xfrm>
          <a:prstGeom prst="line">
            <a:avLst/>
          </a:prstGeom>
          <a:ln w="15875">
            <a:solidFill>
              <a:srgbClr val="4D55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9" name="Connector 128"/>
          <p:cNvCxnSpPr/>
          <p:nvPr/>
        </p:nvCxnSpPr>
        <p:spPr>
          <a:xfrm flipH="1">
            <a:off x="1734156" y="4572000"/>
            <a:ext cx="826164" cy="600243"/>
          </a:xfrm>
          <a:prstGeom prst="line">
            <a:avLst/>
          </a:prstGeom>
          <a:ln w="15875">
            <a:solidFill>
              <a:srgbClr val="4D55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0" name="Connector 129"/>
          <p:cNvCxnSpPr/>
          <p:nvPr/>
        </p:nvCxnSpPr>
        <p:spPr>
          <a:xfrm flipH="1">
            <a:off x="3070917" y="5172243"/>
            <a:ext cx="315566" cy="971213"/>
          </a:xfrm>
          <a:prstGeom prst="line">
            <a:avLst/>
          </a:prstGeom>
          <a:ln w="15875">
            <a:solidFill>
              <a:srgbClr val="4D55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1" name="Connector 130"/>
          <p:cNvCxnSpPr/>
          <p:nvPr/>
        </p:nvCxnSpPr>
        <p:spPr>
          <a:xfrm flipH="1">
            <a:off x="2049722" y="5172243"/>
            <a:ext cx="1336761" cy="971213"/>
          </a:xfrm>
          <a:prstGeom prst="line">
            <a:avLst/>
          </a:prstGeom>
          <a:ln w="15875">
            <a:solidFill>
              <a:srgbClr val="4D55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2" name="Connector 131"/>
          <p:cNvCxnSpPr/>
          <p:nvPr/>
        </p:nvCxnSpPr>
        <p:spPr>
          <a:xfrm flipH="1">
            <a:off x="1734156" y="5172243"/>
            <a:ext cx="1652327" cy="0"/>
          </a:xfrm>
          <a:prstGeom prst="line">
            <a:avLst/>
          </a:prstGeom>
          <a:ln w="15875">
            <a:solidFill>
              <a:srgbClr val="4D55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3" name="Connector 132"/>
          <p:cNvCxnSpPr/>
          <p:nvPr/>
        </p:nvCxnSpPr>
        <p:spPr>
          <a:xfrm flipH="1">
            <a:off x="2049722" y="6143456"/>
            <a:ext cx="1021195" cy="0"/>
          </a:xfrm>
          <a:prstGeom prst="line">
            <a:avLst/>
          </a:prstGeom>
          <a:ln w="15875">
            <a:solidFill>
              <a:srgbClr val="4D55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4" name="Connector 133"/>
          <p:cNvCxnSpPr/>
          <p:nvPr/>
        </p:nvCxnSpPr>
        <p:spPr>
          <a:xfrm flipH="1" flipV="1">
            <a:off x="1734156" y="5172243"/>
            <a:ext cx="1336761" cy="971213"/>
          </a:xfrm>
          <a:prstGeom prst="line">
            <a:avLst/>
          </a:prstGeom>
          <a:ln w="15875">
            <a:solidFill>
              <a:srgbClr val="4D55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5" name="Connector 134"/>
          <p:cNvCxnSpPr/>
          <p:nvPr/>
        </p:nvCxnSpPr>
        <p:spPr>
          <a:xfrm flipH="1" flipV="1">
            <a:off x="1734156" y="5172243"/>
            <a:ext cx="315566" cy="971213"/>
          </a:xfrm>
          <a:prstGeom prst="line">
            <a:avLst/>
          </a:prstGeom>
          <a:ln w="15875">
            <a:solidFill>
              <a:srgbClr val="4D55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6" name="Oval 135"/>
          <p:cNvSpPr/>
          <p:nvPr/>
        </p:nvSpPr>
        <p:spPr>
          <a:xfrm>
            <a:off x="2441448" y="4453128"/>
            <a:ext cx="237744" cy="237744"/>
          </a:xfrm>
          <a:prstGeom prst="ellipse">
            <a:avLst/>
          </a:prstGeom>
          <a:solidFill>
            <a:srgbClr val="0E0F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Oval 136"/>
          <p:cNvSpPr/>
          <p:nvPr/>
        </p:nvSpPr>
        <p:spPr>
          <a:xfrm>
            <a:off x="3267611" y="5053371"/>
            <a:ext cx="237744" cy="237744"/>
          </a:xfrm>
          <a:prstGeom prst="ellipse">
            <a:avLst/>
          </a:prstGeom>
          <a:solidFill>
            <a:srgbClr val="0E0F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Oval 137"/>
          <p:cNvSpPr/>
          <p:nvPr/>
        </p:nvSpPr>
        <p:spPr>
          <a:xfrm>
            <a:off x="2952045" y="6024584"/>
            <a:ext cx="237744" cy="237744"/>
          </a:xfrm>
          <a:prstGeom prst="ellipse">
            <a:avLst/>
          </a:prstGeom>
          <a:solidFill>
            <a:srgbClr val="0E0F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Oval 138"/>
          <p:cNvSpPr/>
          <p:nvPr/>
        </p:nvSpPr>
        <p:spPr>
          <a:xfrm>
            <a:off x="1930850" y="6024584"/>
            <a:ext cx="237744" cy="237744"/>
          </a:xfrm>
          <a:prstGeom prst="ellipse">
            <a:avLst/>
          </a:prstGeom>
          <a:solidFill>
            <a:srgbClr val="0E0F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Oval 139"/>
          <p:cNvSpPr/>
          <p:nvPr/>
        </p:nvSpPr>
        <p:spPr>
          <a:xfrm>
            <a:off x="1615284" y="5053371"/>
            <a:ext cx="237744" cy="237744"/>
          </a:xfrm>
          <a:prstGeom prst="ellipse">
            <a:avLst/>
          </a:prstGeom>
          <a:solidFill>
            <a:srgbClr val="0E0F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TextBox 140"/>
          <p:cNvSpPr txBox="1"/>
          <p:nvPr/>
        </p:nvSpPr>
        <p:spPr>
          <a:xfrm>
            <a:off x="914399" y="4069080"/>
            <a:ext cx="32918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1800" b="1">
                <a:solidFill>
                  <a:srgbClr val="4D5560"/>
                </a:solidFill>
                <a:latin typeface="JetBrains Mono"/>
              </a:rPr>
              <a:t>PAIR BY PAIR · 10 LINKS</a:t>
            </a:r>
          </a:p>
        </p:txBody>
      </p:sp>
      <p:cxnSp>
        <p:nvCxnSpPr>
          <p:cNvPr id="142" name="Connector 141"/>
          <p:cNvCxnSpPr/>
          <p:nvPr/>
        </p:nvCxnSpPr>
        <p:spPr>
          <a:xfrm flipV="1">
            <a:off x="6080760" y="4572000"/>
            <a:ext cx="0" cy="868680"/>
          </a:xfrm>
          <a:prstGeom prst="line">
            <a:avLst/>
          </a:prstGeom>
          <a:ln w="25400">
            <a:solidFill>
              <a:srgbClr val="556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3" name="Connector 142"/>
          <p:cNvCxnSpPr/>
          <p:nvPr/>
        </p:nvCxnSpPr>
        <p:spPr>
          <a:xfrm flipV="1">
            <a:off x="6080760" y="5172243"/>
            <a:ext cx="826163" cy="268437"/>
          </a:xfrm>
          <a:prstGeom prst="line">
            <a:avLst/>
          </a:prstGeom>
          <a:ln w="25400">
            <a:solidFill>
              <a:srgbClr val="556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4" name="Connector 143"/>
          <p:cNvCxnSpPr/>
          <p:nvPr/>
        </p:nvCxnSpPr>
        <p:spPr>
          <a:xfrm>
            <a:off x="6080760" y="5440680"/>
            <a:ext cx="510597" cy="702776"/>
          </a:xfrm>
          <a:prstGeom prst="line">
            <a:avLst/>
          </a:prstGeom>
          <a:ln w="25400">
            <a:solidFill>
              <a:srgbClr val="556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5" name="Connector 144"/>
          <p:cNvCxnSpPr/>
          <p:nvPr/>
        </p:nvCxnSpPr>
        <p:spPr>
          <a:xfrm flipH="1">
            <a:off x="5570162" y="5440680"/>
            <a:ext cx="510598" cy="702776"/>
          </a:xfrm>
          <a:prstGeom prst="line">
            <a:avLst/>
          </a:prstGeom>
          <a:ln w="25400">
            <a:solidFill>
              <a:srgbClr val="556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6" name="Connector 145"/>
          <p:cNvCxnSpPr/>
          <p:nvPr/>
        </p:nvCxnSpPr>
        <p:spPr>
          <a:xfrm flipH="1" flipV="1">
            <a:off x="5254596" y="5172243"/>
            <a:ext cx="826164" cy="268437"/>
          </a:xfrm>
          <a:prstGeom prst="line">
            <a:avLst/>
          </a:prstGeom>
          <a:ln w="25400">
            <a:solidFill>
              <a:srgbClr val="556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7" name="Oval 146"/>
          <p:cNvSpPr/>
          <p:nvPr/>
        </p:nvSpPr>
        <p:spPr>
          <a:xfrm>
            <a:off x="5888736" y="5248656"/>
            <a:ext cx="384048" cy="384048"/>
          </a:xfrm>
          <a:prstGeom prst="ellipse">
            <a:avLst/>
          </a:prstGeom>
          <a:solidFill>
            <a:srgbClr val="C6F2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Oval 147"/>
          <p:cNvSpPr/>
          <p:nvPr/>
        </p:nvSpPr>
        <p:spPr>
          <a:xfrm>
            <a:off x="5961888" y="4453128"/>
            <a:ext cx="237744" cy="237744"/>
          </a:xfrm>
          <a:prstGeom prst="ellipse">
            <a:avLst/>
          </a:prstGeom>
          <a:solidFill>
            <a:srgbClr val="0E0F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Oval 148"/>
          <p:cNvSpPr/>
          <p:nvPr/>
        </p:nvSpPr>
        <p:spPr>
          <a:xfrm>
            <a:off x="6788051" y="5053371"/>
            <a:ext cx="237744" cy="237744"/>
          </a:xfrm>
          <a:prstGeom prst="ellipse">
            <a:avLst/>
          </a:prstGeom>
          <a:solidFill>
            <a:srgbClr val="0E0F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Oval 149"/>
          <p:cNvSpPr/>
          <p:nvPr/>
        </p:nvSpPr>
        <p:spPr>
          <a:xfrm>
            <a:off x="6472485" y="6024584"/>
            <a:ext cx="237744" cy="237744"/>
          </a:xfrm>
          <a:prstGeom prst="ellipse">
            <a:avLst/>
          </a:prstGeom>
          <a:solidFill>
            <a:srgbClr val="0E0F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Oval 150"/>
          <p:cNvSpPr/>
          <p:nvPr/>
        </p:nvSpPr>
        <p:spPr>
          <a:xfrm>
            <a:off x="5451290" y="6024584"/>
            <a:ext cx="237744" cy="237744"/>
          </a:xfrm>
          <a:prstGeom prst="ellipse">
            <a:avLst/>
          </a:prstGeom>
          <a:solidFill>
            <a:srgbClr val="0E0F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Oval 151"/>
          <p:cNvSpPr/>
          <p:nvPr/>
        </p:nvSpPr>
        <p:spPr>
          <a:xfrm>
            <a:off x="5135724" y="5053371"/>
            <a:ext cx="237744" cy="237744"/>
          </a:xfrm>
          <a:prstGeom prst="ellipse">
            <a:avLst/>
          </a:prstGeom>
          <a:solidFill>
            <a:srgbClr val="0E0F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TextBox 152"/>
          <p:cNvSpPr txBox="1"/>
          <p:nvPr/>
        </p:nvSpPr>
        <p:spPr>
          <a:xfrm>
            <a:off x="4434840" y="4069080"/>
            <a:ext cx="32918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1800" b="1">
                <a:solidFill>
                  <a:srgbClr val="556F00"/>
                </a:solidFill>
                <a:latin typeface="JetBrains Mono"/>
              </a:rPr>
              <a:t>ONE RADOX RAIL · 5 LINKS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914400" y="6583680"/>
            <a:ext cx="71323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2000" b="0">
                <a:solidFill>
                  <a:srgbClr val="4D5560"/>
                </a:solidFill>
                <a:latin typeface="Instrument Sans"/>
              </a:rPr>
              <a:t>Example, 5 parties: 10 custom links, or 5 links to one standard.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8503920" y="4069080"/>
            <a:ext cx="43891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800" b="1">
                <a:solidFill>
                  <a:srgbClr val="556F00"/>
                </a:solidFill>
                <a:latin typeface="JetBrains Mono"/>
              </a:rPr>
              <a:t>OPEN · ANYONE</a:t>
            </a:r>
          </a:p>
        </p:txBody>
      </p:sp>
      <p:sp>
        <p:nvSpPr>
          <p:cNvPr id="156" name="Rectangle 155"/>
          <p:cNvSpPr/>
          <p:nvPr/>
        </p:nvSpPr>
        <p:spPr>
          <a:xfrm>
            <a:off x="8503920" y="4539996"/>
            <a:ext cx="4251960" cy="27432"/>
          </a:xfrm>
          <a:prstGeom prst="rect">
            <a:avLst/>
          </a:prstGeom>
          <a:solidFill>
            <a:srgbClr val="556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TextBox 156"/>
          <p:cNvSpPr txBox="1"/>
          <p:nvPr/>
        </p:nvSpPr>
        <p:spPr>
          <a:xfrm>
            <a:off x="8503920" y="4709160"/>
            <a:ext cx="4343400" cy="274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2100" b="0">
                <a:solidFill>
                  <a:srgbClr val="556F00"/>
                </a:solidFill>
                <a:latin typeface="Instrument Sans"/>
              </a:rPr>
              <a:t>— </a:t>
            </a:r>
            <a:r>
              <a:rPr sz="2100" b="0">
                <a:solidFill>
                  <a:srgbClr val="0E0F11"/>
                </a:solidFill>
                <a:latin typeface="Instrument Sans"/>
              </a:rPr>
              <a:t>Record format, roles and events: the custody_registry contract (Apache-2.0)</a:t>
            </a:r>
          </a:p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2100" b="0">
                <a:solidFill>
                  <a:srgbClr val="556F00"/>
                </a:solidFill>
                <a:latin typeface="Instrument Sans"/>
              </a:rPr>
              <a:t>— </a:t>
            </a:r>
            <a:r>
              <a:rPr sz="2100" b="0">
                <a:solidFill>
                  <a:srgbClr val="0E0F11"/>
                </a:solidFill>
                <a:latin typeface="Instrument Sans"/>
              </a:rPr>
              <a:t>Verify any shipment, no login (slide 5)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13121640" y="4069080"/>
            <a:ext cx="43891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800" b="1">
                <a:solidFill>
                  <a:srgbClr val="0E0F11"/>
                </a:solidFill>
                <a:latin typeface="JetBrains Mono"/>
              </a:rPr>
              <a:t>RADOX OPERATES · CLIENT PAYS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13121640" y="4539996"/>
            <a:ext cx="4251960" cy="27432"/>
          </a:xfrm>
          <a:prstGeom prst="rect">
            <a:avLst/>
          </a:prstGeom>
          <a:solidFill>
            <a:srgbClr val="0E0F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13121640" y="4709160"/>
            <a:ext cx="4343400" cy="274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2100" b="0">
                <a:solidFill>
                  <a:srgbClr val="0E0F11"/>
                </a:solidFill>
                <a:latin typeface="Instrument Sans"/>
              </a:rPr>
              <a:t>— </a:t>
            </a:r>
            <a:r>
              <a:rPr sz="2100" b="0">
                <a:solidFill>
                  <a:srgbClr val="0E0F11"/>
                </a:solidFill>
                <a:latin typeface="Instrument Sans"/>
              </a:rPr>
              <a:t>Custodian onboarding, issuance controls, operation</a:t>
            </a:r>
          </a:p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2100" b="0">
                <a:solidFill>
                  <a:srgbClr val="0E0F11"/>
                </a:solidFill>
                <a:latin typeface="Instrument Sans"/>
              </a:rPr>
              <a:t>— </a:t>
            </a:r>
            <a:r>
              <a:rPr sz="2100" b="0">
                <a:solidFill>
                  <a:srgbClr val="0E0F11"/>
                </a:solidFill>
                <a:latin typeface="Instrument Sans"/>
              </a:rPr>
              <a:t>The API and backend: closed, not self-hostable</a:t>
            </a:r>
          </a:p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2100" b="0">
                <a:solidFill>
                  <a:srgbClr val="0E0F11"/>
                </a:solidFill>
                <a:latin typeface="Instrument Sans"/>
              </a:rPr>
              <a:t>— </a:t>
            </a:r>
            <a:r>
              <a:rPr sz="2100" b="0">
                <a:solidFill>
                  <a:srgbClr val="0E0F11"/>
                </a:solidFill>
                <a:latin typeface="Instrument Sans"/>
              </a:rPr>
              <a:t>Paid by the financial institution; not priced</a:t>
            </a:r>
          </a:p>
        </p:txBody>
      </p:sp>
      <p:sp>
        <p:nvSpPr>
          <p:cNvPr id="161" name="Rectangle 160"/>
          <p:cNvSpPr/>
          <p:nvPr/>
        </p:nvSpPr>
        <p:spPr>
          <a:xfrm>
            <a:off x="914400" y="7580376"/>
            <a:ext cx="16459200" cy="18288"/>
          </a:xfrm>
          <a:prstGeom prst="rect">
            <a:avLst/>
          </a:prstGeom>
          <a:solidFill>
            <a:srgbClr val="DFDD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TextBox 161"/>
          <p:cNvSpPr txBox="1"/>
          <p:nvPr/>
        </p:nvSpPr>
        <p:spPr>
          <a:xfrm>
            <a:off x="914400" y="7699248"/>
            <a:ext cx="164592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800" b="0">
                <a:solidFill>
                  <a:srgbClr val="0E0F11"/>
                </a:solidFill>
                <a:latin typeface="Instrument Sans"/>
              </a:rPr>
              <a:t>Adoption still takes work: a key per party, its own signatures, one connection to the rail (the Radox API).</a:t>
            </a:r>
          </a:p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800" b="0">
                <a:solidFill>
                  <a:srgbClr val="4D5560"/>
                </a:solidFill>
                <a:latin typeface="Instrument Sans"/>
              </a:rPr>
              <a:t>Radox is the rail, never the issuer. Regulation and licences stay with the client and its local counsel.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</p:bgPr>
    </p:bg>
    <p:spTree>
      <p:nvGrpSpPr>
        <p:cNvPr id="1" name=""/>
        <p:cNvGrpSpPr/>
        <p:nvPr/>
      </p:nvGrpSpPr>
      <p:grpSpPr/>
      <p:sp>
        <p:nvSpPr>
          <p:cNvPr id="106" name="Google Shape;106;p14"/>
          <p:cNvSpPr/>
          <p:nvPr/>
        </p:nvSpPr>
        <p:spPr>
          <a:xfrm>
            <a:off x="0" y="0"/>
            <a:ext cx="18288000" cy="731520"/>
          </a:xfrm>
          <a:prstGeom prst="rect">
            <a:avLst/>
          </a:prstGeom>
          <a:solidFill>
            <a:srgbClr val="0F0F0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07" name="Google Shape;107;p14"/>
          <p:cNvSpPr txBox="1"/>
          <p:nvPr/>
        </p:nvSpPr>
        <p:spPr>
          <a:xfrm>
            <a:off x="914400" y="201168"/>
            <a:ext cx="45720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C6F24E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PLATFORM 08 / 10</a:t>
            </a:r>
            <a:endParaRPr/>
          </a:p>
        </p:txBody>
      </p:sp>
      <p:sp>
        <p:nvSpPr>
          <p:cNvPr id="108" name="Google Shape;108;p14"/>
          <p:cNvSpPr txBox="1"/>
          <p:nvPr/>
        </p:nvSpPr>
        <p:spPr>
          <a:xfrm>
            <a:off x="5486400" y="201168"/>
            <a:ext cx="73152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HACKMERIDIAN 2026 · LISBON</a:t>
            </a:r>
            <a:endParaRPr/>
          </a:p>
        </p:txBody>
      </p:sp>
      <p:sp>
        <p:nvSpPr>
          <p:cNvPr id="109" name="Google Shape;109;p14"/>
          <p:cNvSpPr txBox="1"/>
          <p:nvPr/>
        </p:nvSpPr>
        <p:spPr>
          <a:xfrm>
            <a:off x="12801600" y="201168"/>
            <a:ext cx="45720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C6F24E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NEXT ▸ VISION AND ASK</a:t>
            </a:r>
            <a:endParaRPr/>
          </a:p>
        </p:txBody>
      </p:sp>
      <p:sp>
        <p:nvSpPr>
          <p:cNvPr id="110" name="Google Shape;110;p14"/>
          <p:cNvSpPr/>
          <p:nvPr/>
        </p:nvSpPr>
        <p:spPr>
          <a:xfrm>
            <a:off x="914400" y="1417320"/>
            <a:ext cx="3291839" cy="475488"/>
          </a:xfrm>
          <a:prstGeom prst="roundRect">
            <a:avLst>
              <a:gd fmla="val 50000" name="adj"/>
            </a:avLst>
          </a:prstGeom>
          <a:solidFill>
            <a:srgbClr val="C6F24E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0E0F11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HACKATHON PROGRESS</a:t>
            </a:r>
            <a:endParaRPr/>
          </a:p>
        </p:txBody>
      </p:sp>
      <p:sp>
        <p:nvSpPr>
          <p:cNvPr id="121" name="Google Shape;121;p14"/>
          <p:cNvSpPr/>
          <p:nvPr/>
        </p:nvSpPr>
        <p:spPr>
          <a:xfrm>
            <a:off x="914400" y="8915400"/>
            <a:ext cx="16459200" cy="13716"/>
          </a:xfrm>
          <a:prstGeom prst="rect">
            <a:avLst/>
          </a:prstGeom>
          <a:solidFill>
            <a:srgbClr val="DFDD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22" name="Google Shape;122;p14"/>
          <p:cNvSpPr txBox="1"/>
          <p:nvPr/>
        </p:nvSpPr>
        <p:spPr>
          <a:xfrm>
            <a:off x="914400" y="9253728"/>
            <a:ext cx="91440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5C5C5C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© 2026 HackMeridian · Lisbon  ·  #HackMeridian26</a:t>
            </a:r>
            <a:endParaRPr/>
          </a:p>
        </p:txBody>
      </p:sp>
      <p:pic>
        <p:nvPicPr>
          <p:cNvPr id="123" name="Picture 12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859000" y="9171432"/>
            <a:ext cx="2517969" cy="438912"/>
          </a:xfrm>
          <a:prstGeom prst="rect">
            <a:avLst/>
          </a:prstGeom>
        </p:spPr>
      </p:pic>
      <p:sp>
        <p:nvSpPr>
          <p:cNvPr id="124" name="TextBox 123"/>
          <p:cNvSpPr txBox="1"/>
          <p:nvPr/>
        </p:nvSpPr>
        <p:spPr>
          <a:xfrm>
            <a:off x="914400" y="2011680"/>
            <a:ext cx="164592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5800" b="1">
                <a:solidFill>
                  <a:srgbClr val="0E0F11"/>
                </a:solidFill>
                <a:latin typeface="Inter Tight"/>
              </a:rPr>
              <a:t>Built this weekend, on disclosed prior work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914400" y="3200400"/>
            <a:ext cx="795527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800" b="1">
                <a:solidFill>
                  <a:srgbClr val="4D5560"/>
                </a:solidFill>
                <a:latin typeface="JetBrains Mono"/>
              </a:rPr>
              <a:t>PRIOR WORK · BEFORE SUN 25 OCT 09:00</a:t>
            </a:r>
          </a:p>
        </p:txBody>
      </p:sp>
      <p:sp>
        <p:nvSpPr>
          <p:cNvPr id="126" name="Rectangle 125"/>
          <p:cNvSpPr/>
          <p:nvPr/>
        </p:nvSpPr>
        <p:spPr>
          <a:xfrm>
            <a:off x="914400" y="3717036"/>
            <a:ext cx="7955279" cy="27432"/>
          </a:xfrm>
          <a:prstGeom prst="rect">
            <a:avLst/>
          </a:prstGeom>
          <a:solidFill>
            <a:srgbClr val="4D5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914400" y="3886200"/>
            <a:ext cx="7955279" cy="3383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2100" b="0">
                <a:solidFill>
                  <a:srgbClr val="4D5560"/>
                </a:solidFill>
                <a:latin typeface="Instrument Sans"/>
              </a:rPr>
              <a:t>— </a:t>
            </a:r>
            <a:r>
              <a:rPr sz="2100" b="0">
                <a:solidFill>
                  <a:srgbClr val="0E0F11"/>
                </a:solidFill>
                <a:latin typeface="Instrument Sans"/>
              </a:rPr>
              <a:t>Radox platform (closed backend); its 3 Soroban contracts are on Stellar mainnet, public since 2026-08-19</a:t>
            </a:r>
          </a:p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2100" b="0">
                <a:solidFill>
                  <a:srgbClr val="4D5560"/>
                </a:solidFill>
                <a:latin typeface="Instrument Sans"/>
              </a:rPr>
              <a:t>— </a:t>
            </a:r>
            <a:r>
              <a:rPr sz="2100" b="0">
                <a:solidFill>
                  <a:srgbClr val="0E0F11"/>
                </a:solidFill>
                <a:latin typeface="Instrument Sans"/>
              </a:rPr>
              <a:t>transfer_agent and its redeem (new testnet instance from the existing wasm)</a:t>
            </a:r>
          </a:p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2100" b="0">
                <a:solidFill>
                  <a:srgbClr val="4D5560"/>
                </a:solidFill>
                <a:latin typeface="Instrument Sans"/>
              </a:rPr>
              <a:t>— </a:t>
            </a:r>
            <a:r>
              <a:rPr sz="2100" b="0">
                <a:solidFill>
                  <a:srgbClr val="0E0F11"/>
                </a:solidFill>
                <a:latin typeface="Instrument Sans"/>
              </a:rPr>
              <a:t>Architecture notes (20 Oct), planning files (24–25 Oct), the explainer video, our agent tooling (from 22 Oct)</a:t>
            </a:r>
          </a:p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2100" b="0">
                <a:solidFill>
                  <a:srgbClr val="4D5560"/>
                </a:solidFill>
                <a:latin typeface="Instrument Sans"/>
              </a:rPr>
              <a:t>— </a:t>
            </a:r>
            <a:r>
              <a:rPr sz="2100" b="0">
                <a:solidFill>
                  <a:srgbClr val="0E0F11"/>
                </a:solidFill>
                <a:latin typeface="Instrument Sans"/>
              </a:rPr>
              <a:t>No contract code before then: first repo commit 25 Oct 09:00 UTC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9418320" y="3200400"/>
            <a:ext cx="795527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800" b="1">
                <a:solidFill>
                  <a:srgbClr val="556F00"/>
                </a:solidFill>
                <a:latin typeface="JetBrains Mono"/>
              </a:rPr>
              <a:t>BUILT AT HACKMERIDIAN</a:t>
            </a:r>
          </a:p>
        </p:txBody>
      </p:sp>
      <p:sp>
        <p:nvSpPr>
          <p:cNvPr id="129" name="Rectangle 128"/>
          <p:cNvSpPr/>
          <p:nvPr/>
        </p:nvSpPr>
        <p:spPr>
          <a:xfrm>
            <a:off x="9418320" y="3717036"/>
            <a:ext cx="7955279" cy="27432"/>
          </a:xfrm>
          <a:prstGeom prst="rect">
            <a:avLst/>
          </a:prstGeom>
          <a:solidFill>
            <a:srgbClr val="556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TextBox 129"/>
          <p:cNvSpPr txBox="1"/>
          <p:nvPr/>
        </p:nvSpPr>
        <p:spPr>
          <a:xfrm>
            <a:off x="9418320" y="3886200"/>
            <a:ext cx="7955279" cy="3383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2100" b="0">
                <a:solidFill>
                  <a:srgbClr val="556F00"/>
                </a:solidFill>
                <a:latin typeface="Instrument Sans"/>
              </a:rPr>
              <a:t>— </a:t>
            </a:r>
            <a:r>
              <a:rPr sz="2100" b="0">
                <a:solidFill>
                  <a:srgbClr val="0E0F11"/>
                </a:solidFill>
                <a:latin typeface="Instrument Sans"/>
              </a:rPr>
              <a:t>custody_registry contract, 24 unit tests</a:t>
            </a:r>
          </a:p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2100" b="0">
                <a:solidFill>
                  <a:srgbClr val="556F00"/>
                </a:solidFill>
                <a:latin typeface="Instrument Sans"/>
              </a:rPr>
              <a:t>— </a:t>
            </a:r>
            <a:r>
              <a:rPr sz="2100" b="0">
                <a:solidFill>
                  <a:srgbClr val="0E0F11"/>
                </a:solidFill>
                <a:latin typeface="Instrument Sans"/>
              </a:rPr>
              <a:t>Lifecycle harness: 7 testnet transactions, 9 refused calls</a:t>
            </a:r>
          </a:p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2100" b="0">
                <a:solidFill>
                  <a:srgbClr val="556F00"/>
                </a:solidFill>
                <a:latin typeface="Instrument Sans"/>
              </a:rPr>
              <a:t>— </a:t>
            </a:r>
            <a:r>
              <a:rPr sz="2100" b="0">
                <a:solidFill>
                  <a:srgbClr val="0E0F11"/>
                </a:solidFill>
                <a:latin typeface="Instrument Sans"/>
              </a:rPr>
              <a:t>verify-head script, the public shipment page, this deck</a:t>
            </a:r>
          </a:p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2100" b="0">
                <a:solidFill>
                  <a:srgbClr val="556F00"/>
                </a:solidFill>
                <a:latin typeface="Instrument Sans"/>
              </a:rPr>
              <a:t>— </a:t>
            </a:r>
            <a:r>
              <a:rPr sz="2100" b="0">
                <a:solidFill>
                  <a:srgbClr val="0E0F11"/>
                </a:solidFill>
                <a:latin typeface="Instrument Sans"/>
              </a:rPr>
              <a:t>Radox API reads the registry: same head (closed backend, testnet)</a:t>
            </a:r>
          </a:p>
        </p:txBody>
      </p:sp>
      <p:sp>
        <p:nvSpPr>
          <p:cNvPr id="131" name="Rounded Rectangle 130"/>
          <p:cNvSpPr/>
          <p:nvPr/>
        </p:nvSpPr>
        <p:spPr>
          <a:xfrm>
            <a:off x="914400" y="7315200"/>
            <a:ext cx="16459200" cy="1325880"/>
          </a:xfrm>
          <a:prstGeom prst="roundRect">
            <a:avLst>
              <a:gd name="adj" fmla="val 11034"/>
            </a:avLst>
          </a:prstGeom>
          <a:solidFill>
            <a:srgbClr val="FFFFFF"/>
          </a:solidFill>
          <a:ln w="12700">
            <a:solidFill>
              <a:srgbClr val="DFDD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TextBox 131"/>
          <p:cNvSpPr txBox="1"/>
          <p:nvPr/>
        </p:nvSpPr>
        <p:spPr>
          <a:xfrm>
            <a:off x="1234440" y="7424927"/>
            <a:ext cx="15819120" cy="10972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800" b="1">
                <a:solidFill>
                  <a:srgbClr val="556F00"/>
                </a:solidFill>
                <a:latin typeface="JetBrains Mono"/>
              </a:rPr>
              <a:t>AI attribution  </a:t>
            </a:r>
            <a:r>
              <a:rPr sz="2000" b="0">
                <a:solidFill>
                  <a:srgbClr val="0E0F11"/>
                </a:solidFill>
                <a:latin typeface="Instrument Sans"/>
              </a:rPr>
              <a:t>Code, tests, scripts, the shipment page, docs and this deck were made with AI coding agents (Claude Code); the team decided scope and what ships. Per-file record in AI_USAGE.md. The video narration is an AI voice generated from Pedro's voice.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</p:bgPr>
    </p:bg>
    <p:spTree>
      <p:nvGrpSpPr>
        <p:cNvPr id="1" name=""/>
        <p:cNvGrpSpPr/>
        <p:nvPr/>
      </p:nvGrpSpPr>
      <p:grpSpPr/>
      <p:sp>
        <p:nvSpPr>
          <p:cNvPr id="106" name="Google Shape;106;p14"/>
          <p:cNvSpPr/>
          <p:nvPr/>
        </p:nvSpPr>
        <p:spPr>
          <a:xfrm>
            <a:off x="0" y="0"/>
            <a:ext cx="18288000" cy="731520"/>
          </a:xfrm>
          <a:prstGeom prst="rect">
            <a:avLst/>
          </a:prstGeom>
          <a:solidFill>
            <a:srgbClr val="0F0F0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07" name="Google Shape;107;p14"/>
          <p:cNvSpPr txBox="1"/>
          <p:nvPr/>
        </p:nvSpPr>
        <p:spPr>
          <a:xfrm>
            <a:off x="914400" y="201168"/>
            <a:ext cx="45720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C6F24E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PLATFORM 09 / 10</a:t>
            </a:r>
            <a:endParaRPr/>
          </a:p>
        </p:txBody>
      </p:sp>
      <p:sp>
        <p:nvSpPr>
          <p:cNvPr id="108" name="Google Shape;108;p14"/>
          <p:cNvSpPr txBox="1"/>
          <p:nvPr/>
        </p:nvSpPr>
        <p:spPr>
          <a:xfrm>
            <a:off x="5486400" y="201168"/>
            <a:ext cx="73152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HACKMERIDIAN 2026 · LISBON</a:t>
            </a:r>
            <a:endParaRPr/>
          </a:p>
        </p:txBody>
      </p:sp>
      <p:sp>
        <p:nvSpPr>
          <p:cNvPr id="109" name="Google Shape;109;p14"/>
          <p:cNvSpPr txBox="1"/>
          <p:nvPr/>
        </p:nvSpPr>
        <p:spPr>
          <a:xfrm>
            <a:off x="12801600" y="201168"/>
            <a:ext cx="45720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C6F24E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NEXT ▸ THE TEAM</a:t>
            </a:r>
            <a:endParaRPr/>
          </a:p>
        </p:txBody>
      </p:sp>
      <p:sp>
        <p:nvSpPr>
          <p:cNvPr id="110" name="Google Shape;110;p14"/>
          <p:cNvSpPr/>
          <p:nvPr/>
        </p:nvSpPr>
        <p:spPr>
          <a:xfrm>
            <a:off x="914400" y="1417320"/>
            <a:ext cx="3977639" cy="475488"/>
          </a:xfrm>
          <a:prstGeom prst="roundRect">
            <a:avLst>
              <a:gd fmla="val 50000" name="adj"/>
            </a:avLst>
          </a:prstGeom>
          <a:solidFill>
            <a:srgbClr val="C6F24E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0E0F11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VISION · NEXT · THE ASK</a:t>
            </a:r>
            <a:endParaRPr/>
          </a:p>
        </p:txBody>
      </p:sp>
      <p:sp>
        <p:nvSpPr>
          <p:cNvPr id="121" name="Google Shape;121;p14"/>
          <p:cNvSpPr/>
          <p:nvPr/>
        </p:nvSpPr>
        <p:spPr>
          <a:xfrm>
            <a:off x="914400" y="8915400"/>
            <a:ext cx="16459200" cy="13716"/>
          </a:xfrm>
          <a:prstGeom prst="rect">
            <a:avLst/>
          </a:prstGeom>
          <a:solidFill>
            <a:srgbClr val="DFDD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22" name="Google Shape;122;p14"/>
          <p:cNvSpPr txBox="1"/>
          <p:nvPr/>
        </p:nvSpPr>
        <p:spPr>
          <a:xfrm>
            <a:off x="914400" y="9253728"/>
            <a:ext cx="91440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5C5C5C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© 2026 HackMeridian · Lisbon  ·  #HackMeridian26</a:t>
            </a:r>
            <a:endParaRPr/>
          </a:p>
        </p:txBody>
      </p:sp>
      <p:pic>
        <p:nvPicPr>
          <p:cNvPr id="123" name="Picture 12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859000" y="9171432"/>
            <a:ext cx="2517969" cy="438912"/>
          </a:xfrm>
          <a:prstGeom prst="rect">
            <a:avLst/>
          </a:prstGeom>
        </p:spPr>
      </p:pic>
      <p:sp>
        <p:nvSpPr>
          <p:cNvPr id="124" name="TextBox 123"/>
          <p:cNvSpPr txBox="1"/>
          <p:nvPr/>
        </p:nvSpPr>
        <p:spPr>
          <a:xfrm>
            <a:off x="914400" y="2011680"/>
            <a:ext cx="164592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5800" b="1">
                <a:solidFill>
                  <a:srgbClr val="0E0F11"/>
                </a:solidFill>
                <a:latin typeface="Inter Tight"/>
              </a:rPr>
              <a:t>Vision: one custody standard, every corridor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914400" y="3108960"/>
            <a:ext cx="1645920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600" b="1">
                <a:solidFill>
                  <a:srgbClr val="0E0F11"/>
                </a:solidFill>
                <a:latin typeface="Instrument Sans"/>
              </a:rPr>
              <a:t>Rio–Miami is our pilot corridor. </a:t>
            </a:r>
            <a:r>
              <a:rPr sz="2600" b="0">
                <a:solidFill>
                  <a:srgbClr val="0E0F11"/>
                </a:solidFill>
                <a:latin typeface="Instrument Sans"/>
              </a:rPr>
              <a:t>The goal is a public, SWIFT-like custody standard on Stellar for tokenized goods in transit worldwide, to integrate with the systems of chambers of commerce, ports and airports.</a:t>
            </a:r>
          </a:p>
        </p:txBody>
      </p:sp>
      <p:sp>
        <p:nvSpPr>
          <p:cNvPr id="126" name="Rectangle 125"/>
          <p:cNvSpPr/>
          <p:nvPr/>
        </p:nvSpPr>
        <p:spPr>
          <a:xfrm>
            <a:off x="1097280" y="4832604"/>
            <a:ext cx="12618720" cy="27432"/>
          </a:xfrm>
          <a:prstGeom prst="rect">
            <a:avLst/>
          </a:prstGeom>
          <a:solidFill>
            <a:srgbClr val="556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Oval 126"/>
          <p:cNvSpPr/>
          <p:nvPr/>
        </p:nvSpPr>
        <p:spPr>
          <a:xfrm>
            <a:off x="941832" y="4690872"/>
            <a:ext cx="310896" cy="310896"/>
          </a:xfrm>
          <a:prstGeom prst="ellipse">
            <a:avLst/>
          </a:prstGeom>
          <a:solidFill>
            <a:srgbClr val="556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TextBox 127"/>
          <p:cNvSpPr txBox="1"/>
          <p:nvPr/>
        </p:nvSpPr>
        <p:spPr>
          <a:xfrm>
            <a:off x="914400" y="5074920"/>
            <a:ext cx="3931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000" b="1">
                <a:solidFill>
                  <a:srgbClr val="556F00"/>
                </a:solidFill>
                <a:latin typeface="JetBrains Mono"/>
              </a:rPr>
              <a:t>NOW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914400" y="5486400"/>
            <a:ext cx="393192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200" b="0">
                <a:solidFill>
                  <a:srgbClr val="0E0F11"/>
                </a:solidFill>
                <a:latin typeface="Instrument Sans"/>
              </a:rPr>
              <a:t>Mechanism proven on testnet. No standard, users or revenue yet.</a:t>
            </a:r>
          </a:p>
        </p:txBody>
      </p:sp>
      <p:sp>
        <p:nvSpPr>
          <p:cNvPr id="130" name="Oval 129"/>
          <p:cNvSpPr/>
          <p:nvPr/>
        </p:nvSpPr>
        <p:spPr>
          <a:xfrm>
            <a:off x="5184648" y="4727448"/>
            <a:ext cx="237744" cy="237744"/>
          </a:xfrm>
          <a:prstGeom prst="ellipse">
            <a:avLst/>
          </a:prstGeom>
          <a:solidFill>
            <a:srgbClr val="556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5120640" y="5074920"/>
            <a:ext cx="3931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000" b="1">
                <a:solidFill>
                  <a:srgbClr val="556F00"/>
                </a:solidFill>
                <a:latin typeface="JetBrains Mono"/>
              </a:rPr>
              <a:t>NEXT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5120640" y="5486400"/>
            <a:ext cx="393192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200" b="0">
                <a:solidFill>
                  <a:srgbClr val="0E0F11"/>
                </a:solidFill>
                <a:latin typeface="Instrument Sans"/>
              </a:rPr>
              <a:t>One Rio–Miami pilot shipment (none agreed yet). Full test matrix.</a:t>
            </a:r>
          </a:p>
        </p:txBody>
      </p:sp>
      <p:sp>
        <p:nvSpPr>
          <p:cNvPr id="133" name="Oval 132"/>
          <p:cNvSpPr/>
          <p:nvPr/>
        </p:nvSpPr>
        <p:spPr>
          <a:xfrm>
            <a:off x="9390887" y="4727448"/>
            <a:ext cx="237744" cy="237744"/>
          </a:xfrm>
          <a:prstGeom prst="ellipse">
            <a:avLst/>
          </a:prstGeom>
          <a:solidFill>
            <a:srgbClr val="556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9326880" y="5074920"/>
            <a:ext cx="3931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000" b="1">
                <a:solidFill>
                  <a:srgbClr val="556F00"/>
                </a:solidFill>
                <a:latin typeface="JetBrains Mono"/>
              </a:rPr>
              <a:t>PLANNED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9326880" y="5486400"/>
            <a:ext cx="393192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200" b="0">
                <a:solidFill>
                  <a:srgbClr val="0E0F11"/>
                </a:solidFill>
                <a:latin typeface="Instrument Sans"/>
              </a:rPr>
              <a:t>SCF Build, then a security audit (neither done). Mainnet.</a:t>
            </a:r>
          </a:p>
        </p:txBody>
      </p:sp>
      <p:sp>
        <p:nvSpPr>
          <p:cNvPr id="136" name="Oval 135"/>
          <p:cNvSpPr/>
          <p:nvPr/>
        </p:nvSpPr>
        <p:spPr>
          <a:xfrm>
            <a:off x="13597127" y="4727448"/>
            <a:ext cx="237744" cy="237744"/>
          </a:xfrm>
          <a:prstGeom prst="ellipse">
            <a:avLst/>
          </a:prstGeom>
          <a:solidFill>
            <a:srgbClr val="556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13533119" y="5074920"/>
            <a:ext cx="3931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000" b="1">
                <a:solidFill>
                  <a:srgbClr val="556F00"/>
                </a:solidFill>
                <a:latin typeface="JetBrains Mono"/>
              </a:rPr>
              <a:t>FUTURE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3533119" y="5486400"/>
            <a:ext cx="393192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200" b="0">
                <a:solidFill>
                  <a:srgbClr val="0E0F11"/>
                </a:solidFill>
                <a:latin typeface="Instrument Sans"/>
              </a:rPr>
              <a:t>More corridors; port, airport, chamber links (none confirmed); USD leg (not built).</a:t>
            </a:r>
          </a:p>
        </p:txBody>
      </p:sp>
      <p:sp>
        <p:nvSpPr>
          <p:cNvPr id="139" name="Rounded Rectangle 138"/>
          <p:cNvSpPr/>
          <p:nvPr/>
        </p:nvSpPr>
        <p:spPr>
          <a:xfrm>
            <a:off x="914400" y="7223760"/>
            <a:ext cx="16459200" cy="1234440"/>
          </a:xfrm>
          <a:prstGeom prst="roundRect">
            <a:avLst>
              <a:gd name="adj" fmla="val 11851"/>
            </a:avLst>
          </a:prstGeom>
          <a:solidFill>
            <a:srgbClr val="C6F2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TextBox 139"/>
          <p:cNvSpPr txBox="1"/>
          <p:nvPr/>
        </p:nvSpPr>
        <p:spPr>
          <a:xfrm>
            <a:off x="1325880" y="7223760"/>
            <a:ext cx="15636240" cy="12344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000" b="1">
                <a:solidFill>
                  <a:srgbClr val="0E0F11"/>
                </a:solidFill>
                <a:latin typeface="JetBrains Mono"/>
              </a:rPr>
              <a:t>Our ask  </a:t>
            </a:r>
            <a:r>
              <a:rPr sz="2400" b="1">
                <a:solidFill>
                  <a:srgbClr val="0E0F11"/>
                </a:solidFill>
                <a:latin typeface="Instrument Sans"/>
              </a:rPr>
              <a:t>Introductions to one financial institution and one port, airport or logistics operator for a first pilot shipment, and a Stellar engineer's review of the design.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</p:bgPr>
    </p:bg>
    <p:spTree>
      <p:nvGrpSpPr>
        <p:cNvPr id="1" name=""/>
        <p:cNvGrpSpPr/>
        <p:nvPr/>
      </p:nvGrpSpPr>
      <p:grpSpPr/>
      <p:sp>
        <p:nvSpPr>
          <p:cNvPr id="106" name="Google Shape;106;p14"/>
          <p:cNvSpPr/>
          <p:nvPr/>
        </p:nvSpPr>
        <p:spPr>
          <a:xfrm>
            <a:off x="0" y="0"/>
            <a:ext cx="18288000" cy="731520"/>
          </a:xfrm>
          <a:prstGeom prst="rect">
            <a:avLst/>
          </a:prstGeom>
          <a:solidFill>
            <a:srgbClr val="0F0F0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07" name="Google Shape;107;p14"/>
          <p:cNvSpPr txBox="1"/>
          <p:nvPr/>
        </p:nvSpPr>
        <p:spPr>
          <a:xfrm>
            <a:off x="914400" y="201168"/>
            <a:ext cx="45720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C6F24E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PLATFORM 10 / 10</a:t>
            </a:r>
            <a:endParaRPr/>
          </a:p>
        </p:txBody>
      </p:sp>
      <p:sp>
        <p:nvSpPr>
          <p:cNvPr id="108" name="Google Shape;108;p14"/>
          <p:cNvSpPr txBox="1"/>
          <p:nvPr/>
        </p:nvSpPr>
        <p:spPr>
          <a:xfrm>
            <a:off x="5486400" y="201168"/>
            <a:ext cx="73152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HACKMERIDIAN 2026 · LISBON</a:t>
            </a:r>
            <a:endParaRPr/>
          </a:p>
        </p:txBody>
      </p:sp>
      <p:sp>
        <p:nvSpPr>
          <p:cNvPr id="109" name="Google Shape;109;p14"/>
          <p:cNvSpPr txBox="1"/>
          <p:nvPr/>
        </p:nvSpPr>
        <p:spPr>
          <a:xfrm>
            <a:off x="12801600" y="201168"/>
            <a:ext cx="45720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FINAL STOP</a:t>
            </a:r>
            <a:endParaRPr/>
          </a:p>
        </p:txBody>
      </p:sp>
      <p:sp>
        <p:nvSpPr>
          <p:cNvPr id="110" name="Google Shape;110;p14"/>
          <p:cNvSpPr/>
          <p:nvPr/>
        </p:nvSpPr>
        <p:spPr>
          <a:xfrm>
            <a:off x="914400" y="1417320"/>
            <a:ext cx="1920240" cy="475488"/>
          </a:xfrm>
          <a:prstGeom prst="roundRect">
            <a:avLst>
              <a:gd fmla="val 50000" name="adj"/>
            </a:avLst>
          </a:prstGeom>
          <a:solidFill>
            <a:srgbClr val="C6F24E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0E0F11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THE TEAM</a:t>
            </a:r>
            <a:endParaRPr/>
          </a:p>
        </p:txBody>
      </p:sp>
      <p:sp>
        <p:nvSpPr>
          <p:cNvPr id="121" name="Google Shape;121;p14"/>
          <p:cNvSpPr/>
          <p:nvPr/>
        </p:nvSpPr>
        <p:spPr>
          <a:xfrm>
            <a:off x="914400" y="8915400"/>
            <a:ext cx="16459200" cy="13716"/>
          </a:xfrm>
          <a:prstGeom prst="rect">
            <a:avLst/>
          </a:prstGeom>
          <a:solidFill>
            <a:srgbClr val="DFDD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22" name="Google Shape;122;p14"/>
          <p:cNvSpPr txBox="1"/>
          <p:nvPr/>
        </p:nvSpPr>
        <p:spPr>
          <a:xfrm>
            <a:off x="914400" y="9253728"/>
            <a:ext cx="91440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5C5C5C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© 2026 HackMeridian · Lisbon  ·  #HackMeridian26</a:t>
            </a:r>
            <a:endParaRPr/>
          </a:p>
        </p:txBody>
      </p:sp>
      <p:pic>
        <p:nvPicPr>
          <p:cNvPr id="123" name="Picture 12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859000" y="9171432"/>
            <a:ext cx="2517969" cy="438912"/>
          </a:xfrm>
          <a:prstGeom prst="rect">
            <a:avLst/>
          </a:prstGeom>
        </p:spPr>
      </p:pic>
      <p:sp>
        <p:nvSpPr>
          <p:cNvPr id="124" name="TextBox 123"/>
          <p:cNvSpPr txBox="1"/>
          <p:nvPr/>
        </p:nvSpPr>
        <p:spPr>
          <a:xfrm>
            <a:off x="914400" y="2011680"/>
            <a:ext cx="164592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5800" b="1">
                <a:solidFill>
                  <a:srgbClr val="0E0F11"/>
                </a:solidFill>
                <a:latin typeface="Inter Tight"/>
              </a:rPr>
              <a:t>Why us: a founder already on Stellar mainnet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914400" y="3108960"/>
            <a:ext cx="987552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3000" b="1">
                <a:solidFill>
                  <a:srgbClr val="0E0F11"/>
                </a:solidFill>
                <a:latin typeface="Inter Tight"/>
              </a:rPr>
              <a:t>Pedro Wakigawa Saragossy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2100" b="0">
                <a:solidFill>
                  <a:srgbClr val="0E0F11"/>
                </a:solidFill>
                <a:latin typeface="Instrument Sans"/>
              </a:rPr>
              <a:t>Founder, captain. Built Radox: 3 Soroban contracts on Stellar mainnet.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914400" y="4251960"/>
            <a:ext cx="987552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3000" b="1">
                <a:solidFill>
                  <a:srgbClr val="0E0F11"/>
                </a:solidFill>
                <a:latin typeface="Inter Tight"/>
              </a:rPr>
              <a:t>Leo Schlanger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2100" b="0">
                <a:solidFill>
                  <a:srgbClr val="0E0F11"/>
                </a:solidFill>
                <a:latin typeface="Instrument Sans"/>
              </a:rPr>
              <a:t>Developer: custody_registry, the testnet harness and the proofs.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914400" y="5394960"/>
            <a:ext cx="987552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3000" b="1">
                <a:solidFill>
                  <a:srgbClr val="0E0F11"/>
                </a:solidFill>
                <a:latin typeface="Inter Tight"/>
              </a:rPr>
              <a:t>Vhendala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2100" b="0">
                <a:solidFill>
                  <a:srgbClr val="0E0F11"/>
                </a:solidFill>
                <a:latin typeface="Instrument Sans"/>
              </a:rPr>
              <a:t>QA and product review: reads every deliverable as a judge would.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914400" y="6537960"/>
            <a:ext cx="9692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000" b="0">
                <a:solidFill>
                  <a:srgbClr val="4D5560"/>
                </a:solidFill>
                <a:latin typeface="Instrument Sans"/>
              </a:rPr>
              <a:t>Leo and Vhendala joined for the hackathon.</a:t>
            </a:r>
          </a:p>
        </p:txBody>
      </p:sp>
      <p:sp>
        <p:nvSpPr>
          <p:cNvPr id="129" name="Rounded Rectangle 128"/>
          <p:cNvSpPr/>
          <p:nvPr/>
        </p:nvSpPr>
        <p:spPr>
          <a:xfrm>
            <a:off x="11338560" y="3108960"/>
            <a:ext cx="6035040" cy="3657600"/>
          </a:xfrm>
          <a:prstGeom prst="roundRect">
            <a:avLst>
              <a:gd name="adj" fmla="val 4000"/>
            </a:avLst>
          </a:prstGeom>
          <a:noFill/>
          <a:ln w="12700">
            <a:solidFill>
              <a:srgbClr val="4D556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TextBox 129"/>
          <p:cNvSpPr txBox="1"/>
          <p:nvPr/>
        </p:nvSpPr>
        <p:spPr>
          <a:xfrm>
            <a:off x="11338560" y="3108960"/>
            <a:ext cx="6035040" cy="3657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2200" b="0">
                <a:solidFill>
                  <a:srgbClr val="4D5560"/>
                </a:solidFill>
                <a:latin typeface="Instrument Sans"/>
              </a:rPr>
              <a:t>Team photo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914400" y="6995160"/>
            <a:ext cx="164592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800" b="1">
                <a:solidFill>
                  <a:srgbClr val="556F00"/>
                </a:solidFill>
                <a:latin typeface="Inter Tight"/>
              </a:rPr>
              <a:t>Rio–Miami first. Our goal: one custody standard for every corridor.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914400" y="7626096"/>
            <a:ext cx="16459200" cy="18288"/>
          </a:xfrm>
          <a:prstGeom prst="rect">
            <a:avLst/>
          </a:prstGeom>
          <a:solidFill>
            <a:srgbClr val="DFDD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914400" y="7726679"/>
            <a:ext cx="164592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800" b="1">
                <a:solidFill>
                  <a:srgbClr val="556F00"/>
                </a:solidFill>
                <a:latin typeface="JetBrains Mono"/>
              </a:rPr>
              <a:t>Live page  </a:t>
            </a:r>
            <a:r>
              <a:rPr sz="1800" b="0">
                <a:solidFill>
                  <a:srgbClr val="0E0F11"/>
                </a:solidFill>
                <a:latin typeface="JetBrains Mono"/>
              </a:rPr>
              <a:t>rio-miami-rail.vercel.app</a:t>
            </a:r>
            <a:r>
              <a:rPr sz="1800" b="1">
                <a:solidFill>
                  <a:srgbClr val="556F00"/>
                </a:solidFill>
                <a:latin typeface="JetBrains Mono"/>
              </a:rPr>
              <a:t>     Code  </a:t>
            </a:r>
            <a:r>
              <a:rPr sz="1800" b="0">
                <a:solidFill>
                  <a:srgbClr val="0E0F11"/>
                </a:solidFill>
                <a:latin typeface="JetBrains Mono"/>
              </a:rPr>
              <a:t>github.com/pwsaragossy/rio-miami-rail (Apache-2.0)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800" b="1">
                <a:solidFill>
                  <a:srgbClr val="556F00"/>
                </a:solidFill>
                <a:latin typeface="JetBrains Mono"/>
              </a:rPr>
              <a:t>AI  </a:t>
            </a:r>
            <a:r>
              <a:rPr sz="1800" b="0">
                <a:solidFill>
                  <a:srgbClr val="0E0F11"/>
                </a:solidFill>
                <a:latin typeface="Instrument Sans"/>
              </a:rPr>
              <a:t>Code, page, docs and deck made with AI coding agents (Claude Code). Narration: an AI voice from Pedro's voice. No AI-generated images in this deck.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
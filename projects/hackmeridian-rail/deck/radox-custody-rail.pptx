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61" r:id="rId23"/>
    <p:sldId id="262" r:id="rId24"/>
    <p:sldId id="263" r:id="rId25"/>
    <p:sldId id="264" r:id="rId26"/>
    <p:sldId id="265" r:id="rId27"/>
    <p:sldId id="266" r:id="rId28"/>
    <p:sldId id="267" r:id="rId29"/>
    <p:sldId id="268" r:id="rId30"/>
    <p:sldId id="269" r:id="rId31"/>
    <p:sldId id="270" r:id="rId32"/>
    <p:sldId id="271" r:id="rId33"/>
  </p:sldIdLst>
  <p:sldSz cy="10287000" cx="18288000"/>
  <p:notesSz cx="6858000" cy="9144000"/>
  <p:embeddedFontLst>
    <p:embeddedFont>
      <p:font typeface="Instrument Sans"/>
      <p:regular r:id="rId11"/>
      <p:bold r:id="rId12"/>
      <p:italic r:id="rId13"/>
      <p:boldItalic r:id="rId14"/>
    </p:embeddedFont>
    <p:embeddedFont>
      <p:font typeface="Inter Tight"/>
      <p:regular r:id="rId15"/>
      <p:bold r:id="rId16"/>
      <p:italic r:id="rId17"/>
      <p:boldItalic r:id="rId18"/>
    </p:embeddedFont>
    <p:embeddedFont>
      <p:font typeface="JetBrains Mon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1" Type="http://schemas.openxmlformats.org/officeDocument/2006/relationships/font" Target="fonts/InstrumentSans-regular.fntdata"/><Relationship Id="rId12" Type="http://schemas.openxmlformats.org/officeDocument/2006/relationships/font" Target="fonts/InstrumentSans-bold.fntdata"/><Relationship Id="rId13" Type="http://schemas.openxmlformats.org/officeDocument/2006/relationships/font" Target="fonts/InstrumentSans-italic.fntdata"/><Relationship Id="rId14" Type="http://schemas.openxmlformats.org/officeDocument/2006/relationships/font" Target="fonts/InstrumentSans-boldItalic.fntdata"/><Relationship Id="rId15" Type="http://schemas.openxmlformats.org/officeDocument/2006/relationships/font" Target="fonts/InterTight-regular.fntdata"/><Relationship Id="rId16" Type="http://schemas.openxmlformats.org/officeDocument/2006/relationships/font" Target="fonts/InterTight-bold.fntdata"/><Relationship Id="rId17" Type="http://schemas.openxmlformats.org/officeDocument/2006/relationships/font" Target="fonts/InterTight-italic.fntdata"/><Relationship Id="rId18" Type="http://schemas.openxmlformats.org/officeDocument/2006/relationships/font" Target="fonts/InterTight-boldItalic.fntdata"/><Relationship Id="rId19" Type="http://schemas.openxmlformats.org/officeDocument/2006/relationships/font" Target="fonts/JetBrainsMono-regular.fntdata"/><Relationship Id="rId20" Type="http://schemas.openxmlformats.org/officeDocument/2006/relationships/font" Target="fonts/JetBrainsMono-bold.fntdata"/><Relationship Id="rId21" Type="http://schemas.openxmlformats.org/officeDocument/2006/relationships/font" Target="fonts/JetBrainsMono-italic.fntdata"/><Relationship Id="rId22" Type="http://schemas.openxmlformats.org/officeDocument/2006/relationships/font" Target="fonts/JetBrainsMono-boldItalic.fntdata"/><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Platform first, feature second. Radox is the rail for a financial institution's offering, from onboarding to holding: nine asset categories, atomic USDC sale, yield and maturity payouts, physical-asset holding. Three Soroban contracts are on Stellar mainnet; every stage is built and runs on testnet. Radox existed before this weekend; only the Custody Rail is new.</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Inter Tight"/>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Inter Tigh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Inter Tight"/>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Inter Tight"/>
              <a:buNone/>
              <a:defRPr b="0" i="0" sz="4400" u="none" cap="none" strike="noStrike">
                <a:solidFill>
                  <a:schemeClr val="dk1"/>
                </a:solidFill>
                <a:latin typeface="Inter Tight"/>
                <a:ea typeface="Inter Tight"/>
                <a:cs typeface="Inter Tight"/>
                <a:sym typeface="Inter T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Instrument Sans"/>
                <a:ea typeface="Instrument Sans"/>
                <a:cs typeface="Instrument Sans"/>
                <a:sym typeface="Instrument Sans"/>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Instrument Sans"/>
                <a:ea typeface="Instrument Sans"/>
                <a:cs typeface="Instrument Sans"/>
                <a:sym typeface="Instrument Sans"/>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Instrument Sans"/>
                <a:ea typeface="Instrument Sans"/>
                <a:cs typeface="Instrument Sans"/>
                <a:sym typeface="Instrument Sans"/>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Instrument Sans"/>
                <a:ea typeface="Instrument Sans"/>
                <a:cs typeface="Instrument Sans"/>
                <a:sym typeface="Instrument Sans"/>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Instrument Sans"/>
                <a:ea typeface="Instrument Sans"/>
                <a:cs typeface="Instrument Sans"/>
                <a:sym typeface="Instrument Sans"/>
              </a:defRPr>
            </a:lvl1pPr>
            <a:lvl2pPr lvl="1"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2pPr>
            <a:lvl3pPr lvl="2"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3pPr>
            <a:lvl4pPr lvl="3"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4pPr>
            <a:lvl5pPr lvl="4"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5pPr>
            <a:lvl6pPr lvl="5"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6pPr>
            <a:lvl7pPr lvl="6"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7pPr>
            <a:lvl8pPr lvl="7"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8pPr>
            <a:lvl9pPr lvl="8" marR="0" rtl="0" algn="l">
              <a:spcBef>
                <a:spcPts val="0"/>
              </a:spcBef>
              <a:spcAft>
                <a:spcPts val="0"/>
              </a:spcAft>
              <a:buSzPts val="1400"/>
              <a:buNone/>
              <a:defRPr b="0" i="0" sz="1800" u="none" cap="none" strike="noStrike">
                <a:solidFill>
                  <a:schemeClr val="dk1"/>
                </a:solidFill>
                <a:latin typeface="Instrument Sans"/>
                <a:ea typeface="Instrument Sans"/>
                <a:cs typeface="Instrument Sans"/>
                <a:sym typeface="Instrument Sans"/>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1pPr>
            <a:lvl2pPr indent="0" lvl="1"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2pPr>
            <a:lvl3pPr indent="0" lvl="2"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3pPr>
            <a:lvl4pPr indent="0" lvl="3"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4pPr>
            <a:lvl5pPr indent="0" lvl="4"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5pPr>
            <a:lvl6pPr indent="0" lvl="5"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6pPr>
            <a:lvl7pPr indent="0" lvl="6"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7pPr>
            <a:lvl8pPr indent="0" lvl="7"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8pPr>
            <a:lvl9pPr indent="0" lvl="8" marL="0" marR="0" rtl="0" algn="r">
              <a:spcBef>
                <a:spcPts val="0"/>
              </a:spcBef>
              <a:buNone/>
              <a:defRPr b="0" i="0" sz="1200" u="none" cap="none" strike="noStrike">
                <a:solidFill>
                  <a:srgbClr val="888888"/>
                </a:solidFill>
                <a:latin typeface="Instrument Sans"/>
                <a:ea typeface="Instrument Sans"/>
                <a:cs typeface="Instrument Sans"/>
                <a:sym typeface="Instrument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84" name="Google Shape;84;p13"/>
          <p:cNvSpPr txBox="1"/>
          <p:nvPr/>
        </p:nvSpPr>
        <p:spPr>
          <a:xfrm>
            <a:off x="914400" y="777240"/>
            <a:ext cx="82296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85" name="Google Shape;85;p13"/>
          <p:cNvSpPr txBox="1"/>
          <p:nvPr/>
        </p:nvSpPr>
        <p:spPr>
          <a:xfrm>
            <a:off x="10058400" y="777240"/>
            <a:ext cx="731520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01 / 11</a:t>
            </a:r>
            <a:endParaRPr/>
          </a:p>
        </p:txBody>
      </p:sp>
      <p:sp>
        <p:nvSpPr>
          <p:cNvPr id="86" name="Google Shape;86;p13"/>
          <p:cNvSpPr/>
          <p:nvPr/>
        </p:nvSpPr>
        <p:spPr>
          <a:xfrm>
            <a:off x="914400" y="1600200"/>
            <a:ext cx="3429000" cy="475488"/>
          </a:xfrm>
          <a:prstGeom prst="roundRect">
            <a:avLst>
              <a:gd fmla="val 50000" name="adj"/>
            </a:avLst>
          </a:prstGeom>
          <a:noFill/>
          <a:ln cap="flat" cmpd="sng" w="19050">
            <a:solidFill>
              <a:srgbClr val="C6F24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C6F24E"/>
                </a:solidFill>
                <a:latin typeface="JetBrains Mono"/>
                <a:ea typeface="JetBrains Mono"/>
                <a:cs typeface="JetBrains Mono"/>
                <a:sym typeface="JetBrains Mono"/>
              </a:rPr>
              <a:t>TESTNET · TEST KEYS</a:t>
            </a:r>
            <a:endParaRPr/>
          </a:p>
        </p:txBody>
      </p:sp>
      <p:pic>
        <p:nvPicPr>
          <p:cNvPr id="87" name="Picture 86" descr="image.png"/>
          <p:cNvPicPr>
            <a:picLocks noChangeAspect="1"/>
          </p:cNvPicPr>
          <p:nvPr/>
        </p:nvPicPr>
        <p:blipFill>
          <a:blip r:embed="rId2"/>
          <a:stretch>
            <a:fillRect/>
          </a:stretch>
        </p:blipFill>
        <p:spPr>
          <a:xfrm>
            <a:off x="914400" y="6812280"/>
            <a:ext cx="4721192" cy="822960"/>
          </a:xfrm>
          <a:prstGeom prst="rect">
            <a:avLst/>
          </a:prstGeom>
        </p:spPr>
      </p:pic>
      <p:sp>
        <p:nvSpPr>
          <p:cNvPr id="92" name="Google Shape;92;p13"/>
          <p:cNvSpPr/>
          <p:nvPr/>
        </p:nvSpPr>
        <p:spPr>
          <a:xfrm>
            <a:off x="5989320" y="6766560"/>
            <a:ext cx="18288" cy="914400"/>
          </a:xfrm>
          <a:prstGeom prst="rect">
            <a:avLst/>
          </a:prstGeom>
          <a:solidFill>
            <a:srgbClr val="4A4A4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pic>
        <p:nvPicPr>
          <p:cNvPr id="93" name="Picture 92" descr="image.png"/>
          <p:cNvPicPr>
            <a:picLocks noChangeAspect="1"/>
          </p:cNvPicPr>
          <p:nvPr/>
        </p:nvPicPr>
        <p:blipFill>
          <a:blip r:embed="rId3"/>
          <a:stretch>
            <a:fillRect/>
          </a:stretch>
        </p:blipFill>
        <p:spPr>
          <a:xfrm>
            <a:off x="6355080" y="6967728"/>
            <a:ext cx="2159633" cy="512064"/>
          </a:xfrm>
          <a:prstGeom prst="rect">
            <a:avLst/>
          </a:prstGeom>
        </p:spPr>
      </p:pic>
      <p:pic>
        <p:nvPicPr>
          <p:cNvPr id="94" name="Picture 93" descr="image.png"/>
          <p:cNvPicPr>
            <a:picLocks noChangeAspect="1"/>
          </p:cNvPicPr>
          <p:nvPr/>
        </p:nvPicPr>
        <p:blipFill>
          <a:blip r:embed="rId4"/>
          <a:stretch>
            <a:fillRect/>
          </a:stretch>
        </p:blipFill>
        <p:spPr>
          <a:xfrm>
            <a:off x="8823960" y="6903720"/>
            <a:ext cx="2483581" cy="621792"/>
          </a:xfrm>
          <a:prstGeom prst="rect">
            <a:avLst/>
          </a:prstGeom>
        </p:spPr>
      </p:pic>
      <p:sp>
        <p:nvSpPr>
          <p:cNvPr id="95" name="Google Shape;95;p13"/>
          <p:cNvSpPr/>
          <p:nvPr/>
        </p:nvSpPr>
        <p:spPr>
          <a:xfrm rot="5400000">
            <a:off x="14904720" y="6858000"/>
            <a:ext cx="731520" cy="731520"/>
          </a:xfrm>
          <a:prstGeom prst="triangle">
            <a:avLst>
              <a:gd fmla="val 50000" name="adj"/>
            </a:avLst>
          </a:prstGeom>
          <a:solidFill>
            <a:srgbClr val="C6F24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6" name="Google Shape;96;p13"/>
          <p:cNvSpPr/>
          <p:nvPr/>
        </p:nvSpPr>
        <p:spPr>
          <a:xfrm rot="5400000">
            <a:off x="15599664" y="6858000"/>
            <a:ext cx="731520" cy="731520"/>
          </a:xfrm>
          <a:prstGeom prst="triangle">
            <a:avLst>
              <a:gd fmla="val 50000" name="adj"/>
            </a:avLst>
          </a:prstGeom>
          <a:solidFill>
            <a:srgbClr val="C6F24E">
              <a:alpha val="60000"/>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7" name="Google Shape;97;p13"/>
          <p:cNvSpPr/>
          <p:nvPr/>
        </p:nvSpPr>
        <p:spPr>
          <a:xfrm rot="5400000">
            <a:off x="16294608" y="6858000"/>
            <a:ext cx="731520" cy="731520"/>
          </a:xfrm>
          <a:prstGeom prst="triangle">
            <a:avLst>
              <a:gd fmla="val 50000" name="adj"/>
            </a:avLst>
          </a:prstGeom>
          <a:solidFill>
            <a:srgbClr val="C6F24E">
              <a:alpha val="30196"/>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8" name="Google Shape;98;p13"/>
          <p:cNvSpPr/>
          <p:nvPr/>
        </p:nvSpPr>
        <p:spPr>
          <a:xfrm>
            <a:off x="914400" y="8641080"/>
            <a:ext cx="16459200" cy="13716"/>
          </a:xfrm>
          <a:prstGeom prst="rect">
            <a:avLst/>
          </a:prstGeom>
          <a:solidFill>
            <a:srgbClr val="3A3A3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99" name="Google Shape;99;p13"/>
          <p:cNvSpPr txBox="1"/>
          <p:nvPr/>
        </p:nvSpPr>
        <p:spPr>
          <a:xfrm>
            <a:off x="914400" y="8961120"/>
            <a:ext cx="4572000" cy="3657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600" u="none" cap="none" strike="noStrike">
                <a:solidFill>
                  <a:srgbClr val="FFFFFF"/>
                </a:solidFill>
                <a:latin typeface="JetBrains Mono"/>
                <a:ea typeface="JetBrains Mono"/>
                <a:cs typeface="JetBrains Mono"/>
                <a:sym typeface="JetBrains Mono"/>
              </a:rPr>
              <a:t>October 2026</a:t>
            </a:r>
            <a:endParaRPr/>
          </a:p>
        </p:txBody>
      </p:sp>
      <p:sp>
        <p:nvSpPr>
          <p:cNvPr id="100" name="Google Shape;100;p13"/>
          <p:cNvSpPr txBox="1"/>
          <p:nvPr/>
        </p:nvSpPr>
        <p:spPr>
          <a:xfrm>
            <a:off x="6400800" y="8961120"/>
            <a:ext cx="5486400" cy="36576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#HackMeridian26</a:t>
            </a:r>
            <a:endParaRPr/>
          </a:p>
        </p:txBody>
      </p:sp>
      <p:sp>
        <p:nvSpPr>
          <p:cNvPr id="101" name="Google Shape;101;p13"/>
          <p:cNvSpPr txBox="1"/>
          <p:nvPr/>
        </p:nvSpPr>
        <p:spPr>
          <a:xfrm>
            <a:off x="11887200" y="8961120"/>
            <a:ext cx="5486400" cy="36576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0" i="0" lang="en-US" sz="1400" u="none" cap="none" strike="noStrike">
                <a:solidFill>
                  <a:srgbClr val="A7A7A7"/>
                </a:solidFill>
                <a:latin typeface="JetBrains Mono"/>
                <a:ea typeface="JetBrains Mono"/>
                <a:cs typeface="JetBrains Mono"/>
                <a:sym typeface="JetBrains Mono"/>
              </a:rPr>
              <a:t>© 2026 HackMeridian · Lisbon</a:t>
            </a:r>
            <a:endParaRPr/>
          </a:p>
        </p:txBody>
      </p:sp>
      <p:sp>
        <p:nvSpPr>
          <p:cNvPr id="102" name="TextBox 101"/>
          <p:cNvSpPr txBox="1"/>
          <p:nvPr/>
        </p:nvSpPr>
        <p:spPr>
          <a:xfrm>
            <a:off x="914400" y="2331720"/>
            <a:ext cx="11430000" cy="1371600"/>
          </a:xfrm>
          <a:prstGeom prst="rect">
            <a:avLst/>
          </a:prstGeom>
          <a:noFill/>
        </p:spPr>
        <p:txBody>
          <a:bodyPr wrap="square" lIns="0" rIns="0" tIns="0" bIns="0" anchor="t">
            <a:spAutoFit/>
          </a:bodyPr>
          <a:lstStyle/>
          <a:p>
            <a:pPr algn="l">
              <a:lnSpc>
                <a:spcPct val="95000"/>
              </a:lnSpc>
              <a:spcAft>
                <a:spcPts val="600"/>
              </a:spcAft>
            </a:pPr>
            <a:r>
              <a:rPr sz="10000" b="1">
                <a:solidFill>
                  <a:srgbClr val="C6F24E"/>
                </a:solidFill>
                <a:latin typeface="Inter Tight"/>
              </a:rPr>
              <a:t>Radox Custody Rail</a:t>
            </a:r>
          </a:p>
        </p:txBody>
      </p:sp>
      <p:sp>
        <p:nvSpPr>
          <p:cNvPr id="103" name="TextBox 102"/>
          <p:cNvSpPr txBox="1"/>
          <p:nvPr/>
        </p:nvSpPr>
        <p:spPr>
          <a:xfrm>
            <a:off x="914400" y="3794760"/>
            <a:ext cx="11247120" cy="822960"/>
          </a:xfrm>
          <a:prstGeom prst="rect">
            <a:avLst/>
          </a:prstGeom>
          <a:noFill/>
        </p:spPr>
        <p:txBody>
          <a:bodyPr wrap="square" lIns="0" rIns="0" tIns="0" bIns="0" anchor="t">
            <a:spAutoFit/>
          </a:bodyPr>
          <a:lstStyle/>
          <a:p>
            <a:pPr algn="l">
              <a:lnSpc>
                <a:spcPct val="100000"/>
              </a:lnSpc>
              <a:spcAft>
                <a:spcPts val="600"/>
              </a:spcAft>
            </a:pPr>
            <a:r>
              <a:rPr sz="4400" b="1">
                <a:solidFill>
                  <a:srgbClr val="E7E8EA"/>
                </a:solidFill>
                <a:latin typeface="Inter Tight"/>
              </a:rPr>
              <a:t>SWIFT for goods in transit, on Stellar</a:t>
            </a:r>
          </a:p>
        </p:txBody>
      </p:sp>
      <p:sp>
        <p:nvSpPr>
          <p:cNvPr id="104" name="TextBox 103"/>
          <p:cNvSpPr txBox="1"/>
          <p:nvPr/>
        </p:nvSpPr>
        <p:spPr>
          <a:xfrm>
            <a:off x="914400" y="4800600"/>
            <a:ext cx="11247120" cy="1097280"/>
          </a:xfrm>
          <a:prstGeom prst="rect">
            <a:avLst/>
          </a:prstGeom>
          <a:noFill/>
        </p:spPr>
        <p:txBody>
          <a:bodyPr wrap="square" lIns="0" rIns="0" tIns="0" bIns="0" anchor="t">
            <a:spAutoFit/>
          </a:bodyPr>
          <a:lstStyle/>
          <a:p>
            <a:pPr algn="l">
              <a:lnSpc>
                <a:spcPct val="112000"/>
              </a:lnSpc>
              <a:spcAft>
                <a:spcPts val="600"/>
              </a:spcAft>
            </a:pPr>
            <a:r>
              <a:rPr sz="2600" b="0">
                <a:solidFill>
                  <a:srgbClr val="E7E8EA"/>
                </a:solidFill>
                <a:latin typeface="Instrument Sans"/>
              </a:rPr>
              <a:t>One shared custody record for goods in transit: every handover signed by both companies, checkable by anyone.</a:t>
            </a:r>
          </a:p>
        </p:txBody>
      </p:sp>
      <p:sp>
        <p:nvSpPr>
          <p:cNvPr id="105" name="TextBox 104"/>
          <p:cNvSpPr txBox="1"/>
          <p:nvPr/>
        </p:nvSpPr>
        <p:spPr>
          <a:xfrm>
            <a:off x="914400" y="6080760"/>
            <a:ext cx="114300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First corridor: Rio–Miami</a:t>
            </a:r>
          </a:p>
        </p:txBody>
      </p:sp>
      <p:pic>
        <p:nvPicPr>
          <p:cNvPr id="106" name="Picture 105" descr="qr-page-dark.png"/>
          <p:cNvPicPr>
            <a:picLocks noChangeAspect="1"/>
          </p:cNvPicPr>
          <p:nvPr/>
        </p:nvPicPr>
        <p:blipFill>
          <a:blip r:embed="rId5"/>
          <a:stretch>
            <a:fillRect/>
          </a:stretch>
        </p:blipFill>
        <p:spPr>
          <a:xfrm>
            <a:off x="14401800" y="1600200"/>
            <a:ext cx="2377440" cy="2377440"/>
          </a:xfrm>
          <a:prstGeom prst="rect">
            <a:avLst/>
          </a:prstGeom>
        </p:spPr>
      </p:pic>
      <p:sp>
        <p:nvSpPr>
          <p:cNvPr id="107" name="TextBox 106"/>
          <p:cNvSpPr txBox="1"/>
          <p:nvPr/>
        </p:nvSpPr>
        <p:spPr>
          <a:xfrm>
            <a:off x="13075920" y="4114800"/>
            <a:ext cx="5029200" cy="822960"/>
          </a:xfrm>
          <a:prstGeom prst="rect">
            <a:avLst/>
          </a:prstGeom>
          <a:noFill/>
        </p:spPr>
        <p:txBody>
          <a:bodyPr wrap="square" lIns="0" rIns="0" tIns="0" bIns="0" anchor="t">
            <a:spAutoFit/>
          </a:bodyPr>
          <a:lstStyle/>
          <a:p>
            <a:pPr algn="ctr">
              <a:lnSpc>
                <a:spcPct val="112000"/>
              </a:lnSpc>
              <a:spcAft>
                <a:spcPts val="200"/>
              </a:spcAft>
            </a:pPr>
            <a:r>
              <a:rPr sz="2000" b="0">
                <a:solidFill>
                  <a:srgbClr val="E7E8EA"/>
                </a:solidFill>
                <a:latin typeface="Instrument Sans"/>
              </a:rPr>
              <a:t>Scan: the live shipment</a:t>
            </a:r>
          </a:p>
          <a:p>
            <a:pPr algn="ctr">
              <a:lnSpc>
                <a:spcPct val="112000"/>
              </a:lnSpc>
              <a:spcAft>
                <a:spcPts val="200"/>
              </a:spcAft>
            </a:pPr>
            <a:r>
              <a:rPr sz="1800" b="0">
                <a:solidFill>
                  <a:srgbClr val="C6F24E"/>
                </a:solidFill>
                <a:latin typeface="JetBrains Mono"/>
              </a:rPr>
              <a:t>rio-miami-rail.vercel.app</a:t>
            </a:r>
          </a:p>
        </p:txBody>
      </p:sp>
      <p:sp>
        <p:nvSpPr>
          <p:cNvPr id="108" name="Rectangle 107"/>
          <p:cNvSpPr/>
          <p:nvPr/>
        </p:nvSpPr>
        <p:spPr>
          <a:xfrm>
            <a:off x="12801600" y="5609844"/>
            <a:ext cx="457200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2682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36428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45572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54716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6386048" y="5550408"/>
            <a:ext cx="146304" cy="14630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7254728" y="5504688"/>
            <a:ext cx="237744" cy="237744"/>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TextBox 114"/>
          <p:cNvSpPr txBox="1"/>
          <p:nvPr/>
        </p:nvSpPr>
        <p:spPr>
          <a:xfrm>
            <a:off x="12682728" y="5870448"/>
            <a:ext cx="1828800" cy="365760"/>
          </a:xfrm>
          <a:prstGeom prst="rect">
            <a:avLst/>
          </a:prstGeom>
          <a:noFill/>
        </p:spPr>
        <p:txBody>
          <a:bodyPr wrap="square" lIns="0" rIns="0" tIns="0" bIns="0" anchor="t">
            <a:spAutoFit/>
          </a:bodyPr>
          <a:lstStyle/>
          <a:p>
            <a:pPr algn="l">
              <a:lnSpc>
                <a:spcPct val="112000"/>
              </a:lnSpc>
              <a:spcAft>
                <a:spcPts val="600"/>
              </a:spcAft>
            </a:pPr>
            <a:r>
              <a:rPr sz="1800" b="1">
                <a:solidFill>
                  <a:srgbClr val="A3A8B0"/>
                </a:solidFill>
                <a:latin typeface="JetBrains Mono"/>
              </a:rPr>
              <a:t>RIO</a:t>
            </a:r>
          </a:p>
        </p:txBody>
      </p:sp>
      <p:sp>
        <p:nvSpPr>
          <p:cNvPr id="116" name="TextBox 115"/>
          <p:cNvSpPr txBox="1"/>
          <p:nvPr/>
        </p:nvSpPr>
        <p:spPr>
          <a:xfrm>
            <a:off x="15663672" y="5870448"/>
            <a:ext cx="1828800" cy="365760"/>
          </a:xfrm>
          <a:prstGeom prst="rect">
            <a:avLst/>
          </a:prstGeom>
          <a:noFill/>
        </p:spPr>
        <p:txBody>
          <a:bodyPr wrap="square" lIns="0" rIns="0" tIns="0" bIns="0" anchor="t">
            <a:spAutoFit/>
          </a:bodyPr>
          <a:lstStyle/>
          <a:p>
            <a:pPr algn="r">
              <a:lnSpc>
                <a:spcPct val="112000"/>
              </a:lnSpc>
              <a:spcAft>
                <a:spcPts val="600"/>
              </a:spcAft>
            </a:pPr>
            <a:r>
              <a:rPr sz="1800" b="1">
                <a:solidFill>
                  <a:srgbClr val="A3A8B0"/>
                </a:solidFill>
                <a:latin typeface="JetBrains Mono"/>
              </a:rPr>
              <a:t>MIAMI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02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PROBLEM</a:t>
            </a:r>
            <a:endParaRPr/>
          </a:p>
        </p:txBody>
      </p:sp>
      <p:sp>
        <p:nvSpPr>
          <p:cNvPr id="110" name="Google Shape;110;p14"/>
          <p:cNvSpPr/>
          <p:nvPr/>
        </p:nvSpPr>
        <p:spPr>
          <a:xfrm>
            <a:off x="914400" y="1417320"/>
            <a:ext cx="425196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PLATFORM · FULL STACK</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Radox: the full tokenization stack on Stellar</a:t>
            </a:r>
          </a:p>
        </p:txBody>
      </p:sp>
      <p:sp>
        <p:nvSpPr>
          <p:cNvPr id="125" name="TextBox 124"/>
          <p:cNvSpPr txBox="1"/>
          <p:nvPr/>
        </p:nvSpPr>
        <p:spPr>
          <a:xfrm>
            <a:off x="914400" y="2916936"/>
            <a:ext cx="16459200" cy="457200"/>
          </a:xfrm>
          <a:prstGeom prst="rect">
            <a:avLst/>
          </a:prstGeom>
          <a:noFill/>
        </p:spPr>
        <p:txBody>
          <a:bodyPr wrap="square" lIns="0" rIns="0" tIns="0" bIns="0" anchor="t">
            <a:spAutoFit/>
          </a:bodyPr>
          <a:lstStyle/>
          <a:p>
            <a:pPr algn="l">
              <a:lnSpc>
                <a:spcPct val="112000"/>
              </a:lnSpc>
              <a:spcAft>
                <a:spcPts val="600"/>
              </a:spcAft>
            </a:pPr>
            <a:r>
              <a:rPr sz="2400" b="0">
                <a:solidFill>
                  <a:srgbClr val="A3A8B0"/>
                </a:solidFill>
                <a:latin typeface="Instrument Sans"/>
              </a:rPr>
              <a:t>A financial institution issues under its own brand. Radox is the rail for every stage.</a:t>
            </a:r>
          </a:p>
        </p:txBody>
      </p:sp>
      <p:sp>
        <p:nvSpPr>
          <p:cNvPr id="126" name="Rectangle 125"/>
          <p:cNvSpPr/>
          <p:nvPr/>
        </p:nvSpPr>
        <p:spPr>
          <a:xfrm>
            <a:off x="1028700" y="4539996"/>
            <a:ext cx="1161288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Onboard</a:t>
            </a:r>
          </a:p>
        </p:txBody>
      </p:sp>
      <p:sp>
        <p:nvSpPr>
          <p:cNvPr id="128" name="Oval 127"/>
          <p:cNvSpPr/>
          <p:nvPr/>
        </p:nvSpPr>
        <p:spPr>
          <a:xfrm>
            <a:off x="914400"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TextBox 128"/>
          <p:cNvSpPr txBox="1"/>
          <p:nvPr/>
        </p:nvSpPr>
        <p:spPr>
          <a:xfrm>
            <a:off x="914400"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Passkey wallets</a:t>
            </a:r>
          </a:p>
        </p:txBody>
      </p:sp>
      <p:sp>
        <p:nvSpPr>
          <p:cNvPr id="130" name="TextBox 129"/>
          <p:cNvSpPr txBox="1"/>
          <p:nvPr/>
        </p:nvSpPr>
        <p:spPr>
          <a:xfrm>
            <a:off x="914400" y="53309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KYC levels 1–4</a:t>
            </a:r>
          </a:p>
        </p:txBody>
      </p:sp>
      <p:sp>
        <p:nvSpPr>
          <p:cNvPr id="131" name="TextBox 130"/>
          <p:cNvSpPr txBox="1"/>
          <p:nvPr/>
        </p:nvSpPr>
        <p:spPr>
          <a:xfrm>
            <a:off x="914400" y="57881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Sanctions screening</a:t>
            </a:r>
          </a:p>
        </p:txBody>
      </p:sp>
      <p:sp>
        <p:nvSpPr>
          <p:cNvPr id="132" name="TextBox 131"/>
          <p:cNvSpPr txBox="1"/>
          <p:nvPr/>
        </p:nvSpPr>
        <p:spPr>
          <a:xfrm>
            <a:off x="3236976"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Issue</a:t>
            </a:r>
          </a:p>
        </p:txBody>
      </p:sp>
      <p:sp>
        <p:nvSpPr>
          <p:cNvPr id="133" name="Oval 132"/>
          <p:cNvSpPr/>
          <p:nvPr/>
        </p:nvSpPr>
        <p:spPr>
          <a:xfrm>
            <a:off x="3236976"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3236976"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9 asset categories</a:t>
            </a:r>
          </a:p>
        </p:txBody>
      </p:sp>
      <p:sp>
        <p:nvSpPr>
          <p:cNvPr id="135" name="TextBox 134"/>
          <p:cNvSpPr txBox="1"/>
          <p:nvPr/>
        </p:nvSpPr>
        <p:spPr>
          <a:xfrm>
            <a:off x="3236976"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Credit, real estate, art</a:t>
            </a:r>
          </a:p>
        </p:txBody>
      </p:sp>
      <p:sp>
        <p:nvSpPr>
          <p:cNvPr id="136" name="TextBox 135"/>
          <p:cNvSpPr txBox="1"/>
          <p:nvPr/>
        </p:nvSpPr>
        <p:spPr>
          <a:xfrm>
            <a:off x="3236976"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Contract per offer</a:t>
            </a:r>
          </a:p>
        </p:txBody>
      </p:sp>
      <p:sp>
        <p:nvSpPr>
          <p:cNvPr id="137" name="TextBox 136"/>
          <p:cNvSpPr txBox="1"/>
          <p:nvPr/>
        </p:nvSpPr>
        <p:spPr>
          <a:xfrm>
            <a:off x="5559552"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Sell</a:t>
            </a:r>
          </a:p>
        </p:txBody>
      </p:sp>
      <p:sp>
        <p:nvSpPr>
          <p:cNvPr id="138" name="Oval 137"/>
          <p:cNvSpPr/>
          <p:nvPr/>
        </p:nvSpPr>
        <p:spPr>
          <a:xfrm>
            <a:off x="5559552"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5559552"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Atomic USDC sale</a:t>
            </a:r>
          </a:p>
        </p:txBody>
      </p:sp>
      <p:sp>
        <p:nvSpPr>
          <p:cNvPr id="140" name="TextBox 139"/>
          <p:cNvSpPr txBox="1"/>
          <p:nvPr/>
        </p:nvSpPr>
        <p:spPr>
          <a:xfrm>
            <a:off x="5559552"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Eligibility per offer</a:t>
            </a:r>
          </a:p>
        </p:txBody>
      </p:sp>
      <p:sp>
        <p:nvSpPr>
          <p:cNvPr id="141" name="TextBox 140"/>
          <p:cNvSpPr txBox="1"/>
          <p:nvPr/>
        </p:nvSpPr>
        <p:spPr>
          <a:xfrm>
            <a:off x="5559552"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BRL ramp adapters</a:t>
            </a:r>
          </a:p>
        </p:txBody>
      </p:sp>
      <p:sp>
        <p:nvSpPr>
          <p:cNvPr id="142" name="TextBox 141"/>
          <p:cNvSpPr txBox="1"/>
          <p:nvPr/>
        </p:nvSpPr>
        <p:spPr>
          <a:xfrm>
            <a:off x="7882128"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Pay</a:t>
            </a:r>
          </a:p>
        </p:txBody>
      </p:sp>
      <p:sp>
        <p:nvSpPr>
          <p:cNvPr id="143" name="Oval 142"/>
          <p:cNvSpPr/>
          <p:nvPr/>
        </p:nvSpPr>
        <p:spPr>
          <a:xfrm>
            <a:off x="7882128"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4" name="TextBox 143"/>
          <p:cNvSpPr txBox="1"/>
          <p:nvPr/>
        </p:nvSpPr>
        <p:spPr>
          <a:xfrm>
            <a:off x="7882128"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Batched yield</a:t>
            </a:r>
          </a:p>
        </p:txBody>
      </p:sp>
      <p:sp>
        <p:nvSpPr>
          <p:cNvPr id="145" name="TextBox 144"/>
          <p:cNvSpPr txBox="1"/>
          <p:nvPr/>
        </p:nvSpPr>
        <p:spPr>
          <a:xfrm>
            <a:off x="7882128" y="53309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Maturity settlement</a:t>
            </a:r>
          </a:p>
        </p:txBody>
      </p:sp>
      <p:sp>
        <p:nvSpPr>
          <p:cNvPr id="146" name="TextBox 145"/>
          <p:cNvSpPr txBox="1"/>
          <p:nvPr/>
        </p:nvSpPr>
        <p:spPr>
          <a:xfrm>
            <a:off x="7882128" y="61081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Withholding tax</a:t>
            </a:r>
          </a:p>
        </p:txBody>
      </p:sp>
      <p:sp>
        <p:nvSpPr>
          <p:cNvPr id="147" name="TextBox 146"/>
          <p:cNvSpPr txBox="1"/>
          <p:nvPr/>
        </p:nvSpPr>
        <p:spPr>
          <a:xfrm>
            <a:off x="10204704"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Comply</a:t>
            </a:r>
          </a:p>
        </p:txBody>
      </p:sp>
      <p:sp>
        <p:nvSpPr>
          <p:cNvPr id="148" name="Oval 147"/>
          <p:cNvSpPr/>
          <p:nvPr/>
        </p:nvSpPr>
        <p:spPr>
          <a:xfrm>
            <a:off x="10204704"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0204704"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Freeze and clawback</a:t>
            </a:r>
          </a:p>
        </p:txBody>
      </p:sp>
      <p:sp>
        <p:nvSpPr>
          <p:cNvPr id="150" name="TextBox 149"/>
          <p:cNvSpPr txBox="1"/>
          <p:nvPr/>
        </p:nvSpPr>
        <p:spPr>
          <a:xfrm>
            <a:off x="10204704"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Append‑only audit log</a:t>
            </a:r>
          </a:p>
        </p:txBody>
      </p:sp>
      <p:sp>
        <p:nvSpPr>
          <p:cNvPr id="151" name="TextBox 150"/>
          <p:cNvSpPr txBox="1"/>
          <p:nvPr/>
        </p:nvSpPr>
        <p:spPr>
          <a:xfrm>
            <a:off x="10204704"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CVM 88 rules</a:t>
            </a:r>
          </a:p>
        </p:txBody>
      </p:sp>
      <p:sp>
        <p:nvSpPr>
          <p:cNvPr id="152" name="TextBox 151"/>
          <p:cNvSpPr txBox="1"/>
          <p:nvPr/>
        </p:nvSpPr>
        <p:spPr>
          <a:xfrm>
            <a:off x="12527280" y="3749040"/>
            <a:ext cx="2194560" cy="502920"/>
          </a:xfrm>
          <a:prstGeom prst="rect">
            <a:avLst/>
          </a:prstGeom>
          <a:noFill/>
        </p:spPr>
        <p:txBody>
          <a:bodyPr wrap="square" lIns="0" rIns="0" tIns="0" bIns="0" anchor="t">
            <a:spAutoFit/>
          </a:bodyPr>
          <a:lstStyle/>
          <a:p>
            <a:pPr algn="l">
              <a:lnSpc>
                <a:spcPct val="112000"/>
              </a:lnSpc>
              <a:spcAft>
                <a:spcPts val="600"/>
              </a:spcAft>
            </a:pPr>
            <a:r>
              <a:rPr sz="3100" b="1">
                <a:solidFill>
                  <a:srgbClr val="E7E8EA"/>
                </a:solidFill>
                <a:latin typeface="Inter Tight"/>
              </a:rPr>
              <a:t>Hold</a:t>
            </a:r>
          </a:p>
        </p:txBody>
      </p:sp>
      <p:sp>
        <p:nvSpPr>
          <p:cNvPr id="153" name="Oval 152"/>
          <p:cNvSpPr/>
          <p:nvPr/>
        </p:nvSpPr>
        <p:spPr>
          <a:xfrm>
            <a:off x="12527280" y="4439412"/>
            <a:ext cx="228600" cy="228600"/>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4" name="TextBox 153"/>
          <p:cNvSpPr txBox="1"/>
          <p:nvPr/>
        </p:nvSpPr>
        <p:spPr>
          <a:xfrm>
            <a:off x="12527280" y="487375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Annual custody fee</a:t>
            </a:r>
          </a:p>
        </p:txBody>
      </p:sp>
      <p:sp>
        <p:nvSpPr>
          <p:cNvPr id="155" name="TextBox 154"/>
          <p:cNvSpPr txBox="1"/>
          <p:nvPr/>
        </p:nvSpPr>
        <p:spPr>
          <a:xfrm>
            <a:off x="12527280" y="5650992"/>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Resale between holders</a:t>
            </a:r>
          </a:p>
        </p:txBody>
      </p:sp>
      <p:sp>
        <p:nvSpPr>
          <p:cNvPr id="156" name="TextBox 155"/>
          <p:cNvSpPr txBox="1"/>
          <p:nvPr/>
        </p:nvSpPr>
        <p:spPr>
          <a:xfrm>
            <a:off x="12527280" y="6428231"/>
            <a:ext cx="2139696" cy="685800"/>
          </a:xfrm>
          <a:prstGeom prst="rect">
            <a:avLst/>
          </a:prstGeom>
          <a:noFill/>
        </p:spPr>
        <p:txBody>
          <a:bodyPr wrap="square" lIns="0" rIns="0" tIns="0" bIns="0" anchor="t">
            <a:spAutoFit/>
          </a:bodyPr>
          <a:lstStyle/>
          <a:p>
            <a:pPr algn="l">
              <a:lnSpc>
                <a:spcPct val="100000"/>
              </a:lnSpc>
              <a:spcAft>
                <a:spcPts val="0"/>
              </a:spcAft>
            </a:pPr>
            <a:r>
              <a:rPr sz="2200" b="0">
                <a:solidFill>
                  <a:srgbClr val="A3A8B0"/>
                </a:solidFill>
                <a:latin typeface="Instrument Sans"/>
              </a:rPr>
              <a:t>Withdrawal burns token</a:t>
            </a:r>
          </a:p>
        </p:txBody>
      </p:sp>
      <p:cxnSp>
        <p:nvCxnSpPr>
          <p:cNvPr id="157" name="Connector 156"/>
          <p:cNvCxnSpPr/>
          <p:nvPr/>
        </p:nvCxnSpPr>
        <p:spPr>
          <a:xfrm>
            <a:off x="12641580" y="4553712"/>
            <a:ext cx="2788920" cy="0"/>
          </a:xfrm>
          <a:prstGeom prst="line">
            <a:avLst/>
          </a:prstGeom>
          <a:ln w="28575">
            <a:solidFill>
              <a:srgbClr val="C6F24E"/>
            </a:solidFill>
            <a:prstDash val="dash"/>
          </a:ln>
        </p:spPr>
        <p:style>
          <a:lnRef idx="2">
            <a:schemeClr val="accent1"/>
          </a:lnRef>
          <a:fillRef idx="0">
            <a:schemeClr val="accent1"/>
          </a:fillRef>
          <a:effectRef idx="1">
            <a:schemeClr val="accent1"/>
          </a:effectRef>
          <a:fontRef idx="minor">
            <a:schemeClr val="tx1"/>
          </a:fontRef>
        </p:style>
      </p:cxnSp>
      <p:sp>
        <p:nvSpPr>
          <p:cNvPr id="158" name="Oval 157"/>
          <p:cNvSpPr/>
          <p:nvPr/>
        </p:nvSpPr>
        <p:spPr>
          <a:xfrm>
            <a:off x="15430500" y="4439412"/>
            <a:ext cx="228600" cy="228600"/>
          </a:xfrm>
          <a:prstGeom prst="ellipse">
            <a:avLst/>
          </a:prstGeom>
          <a:solidFill>
            <a:srgbClr val="0E0F11"/>
          </a:solidFill>
          <a:ln w="28575">
            <a:solidFill>
              <a:srgbClr val="C6F24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9" name="TextBox 158"/>
          <p:cNvSpPr txBox="1"/>
          <p:nvPr/>
        </p:nvSpPr>
        <p:spPr>
          <a:xfrm>
            <a:off x="15430500" y="3959352"/>
            <a:ext cx="2651760" cy="365760"/>
          </a:xfrm>
          <a:prstGeom prst="rect">
            <a:avLst/>
          </a:prstGeom>
          <a:noFill/>
        </p:spPr>
        <p:txBody>
          <a:bodyPr wrap="square" lIns="0" rIns="0" tIns="0" bIns="0" anchor="t">
            <a:spAutoFit/>
          </a:bodyPr>
          <a:lstStyle/>
          <a:p>
            <a:pPr algn="l">
              <a:lnSpc>
                <a:spcPct val="112000"/>
              </a:lnSpc>
              <a:spcAft>
                <a:spcPts val="600"/>
              </a:spcAft>
            </a:pPr>
            <a:r>
              <a:rPr sz="1800" b="1">
                <a:solidFill>
                  <a:srgbClr val="C6F24E"/>
                </a:solidFill>
                <a:latin typeface="JetBrains Mono"/>
              </a:rPr>
              <a:t>THIS WEEKEND</a:t>
            </a:r>
          </a:p>
        </p:txBody>
      </p:sp>
      <p:sp>
        <p:nvSpPr>
          <p:cNvPr id="160" name="TextBox 159"/>
          <p:cNvSpPr txBox="1"/>
          <p:nvPr/>
        </p:nvSpPr>
        <p:spPr>
          <a:xfrm>
            <a:off x="15430500" y="4873752"/>
            <a:ext cx="2651760" cy="457200"/>
          </a:xfrm>
          <a:prstGeom prst="rect">
            <a:avLst/>
          </a:prstGeom>
          <a:noFill/>
        </p:spPr>
        <p:txBody>
          <a:bodyPr wrap="square" lIns="0" rIns="0" tIns="0" bIns="0" anchor="t">
            <a:spAutoFit/>
          </a:bodyPr>
          <a:lstStyle/>
          <a:p>
            <a:pPr algn="l">
              <a:lnSpc>
                <a:spcPct val="112000"/>
              </a:lnSpc>
              <a:spcAft>
                <a:spcPts val="600"/>
              </a:spcAft>
            </a:pPr>
            <a:r>
              <a:rPr sz="2600" b="1">
                <a:solidFill>
                  <a:srgbClr val="E7E8EA"/>
                </a:solidFill>
                <a:latin typeface="Inter Tight"/>
              </a:rPr>
              <a:t>Custody Rail</a:t>
            </a:r>
          </a:p>
        </p:txBody>
      </p:sp>
      <p:sp>
        <p:nvSpPr>
          <p:cNvPr id="161" name="TextBox 160"/>
          <p:cNvSpPr txBox="1"/>
          <p:nvPr/>
        </p:nvSpPr>
        <p:spPr>
          <a:xfrm>
            <a:off x="15430500" y="5358384"/>
            <a:ext cx="2651760" cy="457200"/>
          </a:xfrm>
          <a:prstGeom prst="rect">
            <a:avLst/>
          </a:prstGeom>
          <a:noFill/>
        </p:spPr>
        <p:txBody>
          <a:bodyPr wrap="square" lIns="0" rIns="0" tIns="0" bIns="0" anchor="t">
            <a:spAutoFit/>
          </a:bodyPr>
          <a:lstStyle/>
          <a:p>
            <a:pPr algn="l">
              <a:lnSpc>
                <a:spcPct val="112000"/>
              </a:lnSpc>
              <a:spcAft>
                <a:spcPts val="600"/>
              </a:spcAft>
            </a:pPr>
            <a:r>
              <a:rPr sz="2000" b="0">
                <a:solidFill>
                  <a:srgbClr val="A3A8B0"/>
                </a:solidFill>
                <a:latin typeface="Instrument Sans"/>
              </a:rPr>
              <a:t>goods in transit</a:t>
            </a:r>
          </a:p>
        </p:txBody>
      </p:sp>
      <p:sp>
        <p:nvSpPr>
          <p:cNvPr id="162" name="Rounded Rectangle 161"/>
          <p:cNvSpPr/>
          <p:nvPr/>
        </p:nvSpPr>
        <p:spPr>
          <a:xfrm>
            <a:off x="914400" y="8174736"/>
            <a:ext cx="10360152" cy="512064"/>
          </a:xfrm>
          <a:prstGeom prst="roundRect">
            <a:avLst>
              <a:gd name="adj" fmla="val 50000"/>
            </a:avLst>
          </a:prstGeom>
          <a:noFill/>
          <a:ln w="19050">
            <a:solidFill>
              <a:srgbClr val="C6F24E"/>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TextBox 162"/>
          <p:cNvSpPr txBox="1"/>
          <p:nvPr/>
        </p:nvSpPr>
        <p:spPr>
          <a:xfrm>
            <a:off x="914400" y="8174736"/>
            <a:ext cx="10360152" cy="512064"/>
          </a:xfrm>
          <a:prstGeom prst="rect">
            <a:avLst/>
          </a:prstGeom>
          <a:noFill/>
        </p:spPr>
        <p:txBody>
          <a:bodyPr wrap="square" lIns="0" rIns="0" tIns="0" bIns="0" anchor="ctr">
            <a:spAutoFit/>
          </a:bodyPr>
          <a:lstStyle/>
          <a:p>
            <a:pPr algn="ctr">
              <a:lnSpc>
                <a:spcPct val="112000"/>
              </a:lnSpc>
              <a:spcAft>
                <a:spcPts val="0"/>
              </a:spcAft>
            </a:pPr>
            <a:r>
              <a:rPr sz="1800" b="1">
                <a:solidFill>
                  <a:srgbClr val="C6F24E"/>
                </a:solidFill>
                <a:latin typeface="JetBrains Mono"/>
              </a:rPr>
              <a:t>3 Soroban contracts</a:t>
            </a:r>
            <a:r>
              <a:rPr sz="1800" b="0">
                <a:solidFill>
                  <a:srgbClr val="E7E8EA"/>
                </a:solidFill>
                <a:latin typeface="JetBrains Mono"/>
              </a:rPr>
              <a:t> on Stellar mainnet · every stage built, on testnet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03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WHAT IT COSTS</a:t>
            </a:r>
            <a:endParaRPr/>
          </a:p>
        </p:txBody>
      </p:sp>
      <p:sp>
        <p:nvSpPr>
          <p:cNvPr id="110" name="Google Shape;110;p14"/>
          <p:cNvSpPr/>
          <p:nvPr/>
        </p:nvSpPr>
        <p:spPr>
          <a:xfrm>
            <a:off x="914400" y="1417320"/>
            <a:ext cx="315467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THE PROBLEM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Who holds the whole chain?</a:t>
            </a:r>
          </a:p>
        </p:txBody>
      </p:sp>
      <p:sp>
        <p:nvSpPr>
          <p:cNvPr id="125" name="Rectangle 124"/>
          <p:cNvSpPr/>
          <p:nvPr/>
        </p:nvSpPr>
        <p:spPr>
          <a:xfrm>
            <a:off x="1783080"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Oval 125"/>
          <p:cNvSpPr/>
          <p:nvPr/>
        </p:nvSpPr>
        <p:spPr>
          <a:xfrm>
            <a:off x="132588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274320"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Warehouse</a:t>
            </a:r>
          </a:p>
        </p:txBody>
      </p:sp>
      <p:sp>
        <p:nvSpPr>
          <p:cNvPr id="128" name="Rectangle 127"/>
          <p:cNvSpPr/>
          <p:nvPr/>
        </p:nvSpPr>
        <p:spPr>
          <a:xfrm>
            <a:off x="562355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Oval 128"/>
          <p:cNvSpPr/>
          <p:nvPr/>
        </p:nvSpPr>
        <p:spPr>
          <a:xfrm>
            <a:off x="516635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411479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Port</a:t>
            </a:r>
          </a:p>
        </p:txBody>
      </p:sp>
      <p:sp>
        <p:nvSpPr>
          <p:cNvPr id="131" name="Rectangle 130"/>
          <p:cNvSpPr/>
          <p:nvPr/>
        </p:nvSpPr>
        <p:spPr>
          <a:xfrm>
            <a:off x="946403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Oval 131"/>
          <p:cNvSpPr/>
          <p:nvPr/>
        </p:nvSpPr>
        <p:spPr>
          <a:xfrm>
            <a:off x="900683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795527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Carrier</a:t>
            </a:r>
          </a:p>
        </p:txBody>
      </p:sp>
      <p:sp>
        <p:nvSpPr>
          <p:cNvPr id="134" name="Rectangle 133"/>
          <p:cNvSpPr/>
          <p:nvPr/>
        </p:nvSpPr>
        <p:spPr>
          <a:xfrm>
            <a:off x="13304519" y="3278124"/>
            <a:ext cx="3200399" cy="27432"/>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Oval 134"/>
          <p:cNvSpPr/>
          <p:nvPr/>
        </p:nvSpPr>
        <p:spPr>
          <a:xfrm>
            <a:off x="12847319"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TextBox 135"/>
          <p:cNvSpPr txBox="1"/>
          <p:nvPr/>
        </p:nvSpPr>
        <p:spPr>
          <a:xfrm>
            <a:off x="1179575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Customs</a:t>
            </a:r>
          </a:p>
        </p:txBody>
      </p:sp>
      <p:sp>
        <p:nvSpPr>
          <p:cNvPr id="137" name="Oval 136"/>
          <p:cNvSpPr/>
          <p:nvPr/>
        </p:nvSpPr>
        <p:spPr>
          <a:xfrm>
            <a:off x="16687800" y="3154680"/>
            <a:ext cx="274320" cy="274320"/>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15636239" y="3493008"/>
            <a:ext cx="2377440" cy="457200"/>
          </a:xfrm>
          <a:prstGeom prst="rect">
            <a:avLst/>
          </a:prstGeom>
          <a:noFill/>
        </p:spPr>
        <p:txBody>
          <a:bodyPr wrap="square" lIns="0" rIns="0" tIns="0" bIns="0" anchor="t">
            <a:spAutoFit/>
          </a:bodyPr>
          <a:lstStyle/>
          <a:p>
            <a:pPr algn="ctr">
              <a:lnSpc>
                <a:spcPct val="112000"/>
              </a:lnSpc>
              <a:spcAft>
                <a:spcPts val="600"/>
              </a:spcAft>
            </a:pPr>
            <a:r>
              <a:rPr sz="2200" b="1">
                <a:solidFill>
                  <a:srgbClr val="0E0F11"/>
                </a:solidFill>
                <a:latin typeface="Instrument Sans"/>
              </a:rPr>
              <a:t>Recipient</a:t>
            </a:r>
          </a:p>
        </p:txBody>
      </p:sp>
      <p:sp>
        <p:nvSpPr>
          <p:cNvPr id="139" name="TextBox 138"/>
          <p:cNvSpPr txBox="1"/>
          <p:nvPr/>
        </p:nvSpPr>
        <p:spPr>
          <a:xfrm>
            <a:off x="914400" y="4069080"/>
            <a:ext cx="16459200" cy="457200"/>
          </a:xfrm>
          <a:prstGeom prst="rect">
            <a:avLst/>
          </a:prstGeom>
          <a:noFill/>
        </p:spPr>
        <p:txBody>
          <a:bodyPr wrap="square" lIns="0" rIns="0" tIns="0" bIns="0" anchor="t">
            <a:spAutoFit/>
          </a:bodyPr>
          <a:lstStyle/>
          <a:p>
            <a:pPr algn="l">
              <a:lnSpc>
                <a:spcPct val="112000"/>
              </a:lnSpc>
              <a:spcAft>
                <a:spcPts val="600"/>
              </a:spcAft>
            </a:pPr>
            <a:r>
              <a:rPr sz="2200" b="1">
                <a:solidFill>
                  <a:srgbClr val="556F00"/>
                </a:solidFill>
                <a:latin typeface="Instrument Sans"/>
              </a:rPr>
              <a:t>The gap: </a:t>
            </a:r>
            <a:r>
              <a:rPr sz="2200" b="0">
                <a:solidFill>
                  <a:srgbClr val="0E0F11"/>
                </a:solidFill>
                <a:latin typeface="Instrument Sans"/>
              </a:rPr>
              <a:t>each company records only its own leg, and no shared record follows the goods.</a:t>
            </a:r>
          </a:p>
        </p:txBody>
      </p:sp>
      <p:sp>
        <p:nvSpPr>
          <p:cNvPr id="140" name="Rectangle 139"/>
          <p:cNvSpPr/>
          <p:nvPr/>
        </p:nvSpPr>
        <p:spPr>
          <a:xfrm>
            <a:off x="91440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40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45M</a:t>
            </a:r>
          </a:p>
        </p:txBody>
      </p:sp>
      <p:sp>
        <p:nvSpPr>
          <p:cNvPr id="142" name="TextBox 141"/>
          <p:cNvSpPr txBox="1"/>
          <p:nvPr/>
        </p:nvSpPr>
        <p:spPr>
          <a:xfrm>
            <a:off x="91440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ocean bills of lading issued a year</a:t>
            </a:r>
          </a:p>
        </p:txBody>
      </p:sp>
      <p:sp>
        <p:nvSpPr>
          <p:cNvPr id="143" name="TextBox 142"/>
          <p:cNvSpPr txBox="1"/>
          <p:nvPr/>
        </p:nvSpPr>
        <p:spPr>
          <a:xfrm>
            <a:off x="91440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Feb 2023</a:t>
            </a:r>
          </a:p>
        </p:txBody>
      </p:sp>
      <p:sp>
        <p:nvSpPr>
          <p:cNvPr id="144" name="Rectangle 143"/>
          <p:cNvSpPr/>
          <p:nvPr/>
        </p:nvSpPr>
        <p:spPr>
          <a:xfrm>
            <a:off x="649224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TextBox 144"/>
          <p:cNvSpPr txBox="1"/>
          <p:nvPr/>
        </p:nvSpPr>
        <p:spPr>
          <a:xfrm>
            <a:off x="649224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~11%</a:t>
            </a:r>
          </a:p>
        </p:txBody>
      </p:sp>
      <p:sp>
        <p:nvSpPr>
          <p:cNvPr id="146" name="TextBox 145"/>
          <p:cNvSpPr txBox="1"/>
          <p:nvPr/>
        </p:nvSpPr>
        <p:spPr>
          <a:xfrm>
            <a:off x="649224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bills of lading issued electronically, 2025</a:t>
            </a:r>
          </a:p>
        </p:txBody>
      </p:sp>
      <p:sp>
        <p:nvSpPr>
          <p:cNvPr id="147" name="TextBox 146"/>
          <p:cNvSpPr txBox="1"/>
          <p:nvPr/>
        </p:nvSpPr>
        <p:spPr>
          <a:xfrm>
            <a:off x="649224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DCSA, as of 2025</a:t>
            </a:r>
          </a:p>
        </p:txBody>
      </p:sp>
      <p:sp>
        <p:nvSpPr>
          <p:cNvPr id="148" name="Rectangle 147"/>
          <p:cNvSpPr/>
          <p:nvPr/>
        </p:nvSpPr>
        <p:spPr>
          <a:xfrm>
            <a:off x="12070080" y="469544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2070080" y="489204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22%</a:t>
            </a:r>
          </a:p>
        </p:txBody>
      </p:sp>
      <p:sp>
        <p:nvSpPr>
          <p:cNvPr id="150" name="TextBox 149"/>
          <p:cNvSpPr txBox="1"/>
          <p:nvPr/>
        </p:nvSpPr>
        <p:spPr>
          <a:xfrm>
            <a:off x="12070080" y="603504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recorded cargo thefts in 2025 involved insiders</a:t>
            </a:r>
          </a:p>
        </p:txBody>
      </p:sp>
      <p:sp>
        <p:nvSpPr>
          <p:cNvPr id="151" name="TextBox 150"/>
          <p:cNvSpPr txBox="1"/>
          <p:nvPr/>
        </p:nvSpPr>
        <p:spPr>
          <a:xfrm>
            <a:off x="12070080" y="694944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TT Club &amp; BSI Cargo Theft Report, Apr 2026</a:t>
            </a:r>
          </a:p>
        </p:txBody>
      </p:sp>
      <p:sp>
        <p:nvSpPr>
          <p:cNvPr id="152" name="TextBox 151"/>
          <p:cNvSpPr txBox="1"/>
          <p:nvPr/>
        </p:nvSpPr>
        <p:spPr>
          <a:xfrm>
            <a:off x="914400" y="7772400"/>
            <a:ext cx="16459200" cy="1097280"/>
          </a:xfrm>
          <a:prstGeom prst="rect">
            <a:avLst/>
          </a:prstGeom>
          <a:noFill/>
        </p:spPr>
        <p:txBody>
          <a:bodyPr wrap="square" lIns="0" rIns="0" tIns="0" bIns="0" anchor="t">
            <a:spAutoFit/>
          </a:bodyPr>
          <a:lstStyle/>
          <a:p>
            <a:pPr algn="l">
              <a:lnSpc>
                <a:spcPct val="112000"/>
              </a:lnSpc>
              <a:spcAft>
                <a:spcPts val="400"/>
              </a:spcAft>
            </a:pPr>
            <a:r>
              <a:rPr sz="1800" b="1">
                <a:solidFill>
                  <a:srgbClr val="0E0F11"/>
                </a:solidFill>
                <a:latin typeface="Instrument Sans"/>
              </a:rPr>
              <a:t>Ports run legacy systems: </a:t>
            </a:r>
            <a:r>
              <a:rPr sz="1800" b="0">
                <a:solidFill>
                  <a:srgbClr val="4D5560"/>
                </a:solidFill>
                <a:latin typeface="Instrument Sans"/>
              </a:rPr>
              <a:t>over 90% of ports in low- and middle-income countries have no port community system (World Bank remark relayed by IAPH, Nov 2023); IMO guidance plans for legacy systems with proprietary formats (FAL.5/Circ.54, 2024).</a:t>
            </a:r>
          </a:p>
          <a:p>
            <a:pPr algn="l">
              <a:lnSpc>
                <a:spcPct val="112000"/>
              </a:lnSpc>
              <a:spcAft>
                <a:spcPts val="400"/>
              </a:spcAft>
            </a:pPr>
            <a:r>
              <a:rPr sz="1800" b="0">
                <a:solidFill>
                  <a:srgbClr val="4D5560"/>
                </a:solidFill>
                <a:latin typeface="Instrument Sans"/>
              </a:rPr>
              <a:t>Context: our explainer video on a Rio–Miami trade-corridor initiative; this project is its custody layer.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04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STANDARD</a:t>
            </a:r>
            <a:endParaRPr/>
          </a:p>
        </p:txBody>
      </p:sp>
      <p:sp>
        <p:nvSpPr>
          <p:cNvPr id="110" name="Google Shape;110;p14"/>
          <p:cNvSpPr/>
          <p:nvPr/>
        </p:nvSpPr>
        <p:spPr>
          <a:xfrm>
            <a:off x="914400" y="1417320"/>
            <a:ext cx="34290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PMF · WHAT IT COSTS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Cargo goes missing. No shared record.</a:t>
            </a:r>
          </a:p>
        </p:txBody>
      </p:sp>
      <p:sp>
        <p:nvSpPr>
          <p:cNvPr id="125" name="TextBox 124"/>
          <p:cNvSpPr txBox="1"/>
          <p:nvPr/>
        </p:nvSpPr>
        <p:spPr>
          <a:xfrm>
            <a:off x="914400" y="3108960"/>
            <a:ext cx="16459200" cy="82296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Instrument Sans"/>
              </a:rPr>
              <a:t>The gap: </a:t>
            </a:r>
            <a:r>
              <a:rPr sz="2400" b="0">
                <a:solidFill>
                  <a:srgbClr val="0E0F11"/>
                </a:solidFill>
                <a:latin typeface="Instrument Sans"/>
              </a:rPr>
              <a:t>a financier cannot see who holds the goods before paying.</a:t>
            </a:r>
          </a:p>
        </p:txBody>
      </p:sp>
      <p:sp>
        <p:nvSpPr>
          <p:cNvPr id="126" name="Rectangle 125"/>
          <p:cNvSpPr/>
          <p:nvPr/>
        </p:nvSpPr>
        <p:spPr>
          <a:xfrm>
            <a:off x="91440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R$900M</a:t>
            </a:r>
          </a:p>
        </p:txBody>
      </p:sp>
      <p:sp>
        <p:nvSpPr>
          <p:cNvPr id="128" name="TextBox 127"/>
          <p:cNvSpPr txBox="1"/>
          <p:nvPr/>
        </p:nvSpPr>
        <p:spPr>
          <a:xfrm>
            <a:off x="91440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est. direct loss, 8,570 cargo robberies in Brazil, 2025</a:t>
            </a:r>
          </a:p>
        </p:txBody>
      </p:sp>
      <p:sp>
        <p:nvSpPr>
          <p:cNvPr id="129" name="TextBox 128"/>
          <p:cNvSpPr txBox="1"/>
          <p:nvPr/>
        </p:nvSpPr>
        <p:spPr>
          <a:xfrm>
            <a:off x="91440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NTC&amp;Logística survey, 28 Mar 2026</a:t>
            </a:r>
          </a:p>
        </p:txBody>
      </p:sp>
      <p:sp>
        <p:nvSpPr>
          <p:cNvPr id="130" name="Rectangle 129"/>
          <p:cNvSpPr/>
          <p:nvPr/>
        </p:nvSpPr>
        <p:spPr>
          <a:xfrm>
            <a:off x="649224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649224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80–90%</a:t>
            </a:r>
          </a:p>
        </p:txBody>
      </p:sp>
      <p:sp>
        <p:nvSpPr>
          <p:cNvPr id="132" name="TextBox 131"/>
          <p:cNvSpPr txBox="1"/>
          <p:nvPr/>
        </p:nvSpPr>
        <p:spPr>
          <a:xfrm>
            <a:off x="649224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of world trade relies on trade finance</a:t>
            </a:r>
          </a:p>
        </p:txBody>
      </p:sp>
      <p:sp>
        <p:nvSpPr>
          <p:cNvPr id="133" name="TextBox 132"/>
          <p:cNvSpPr txBox="1"/>
          <p:nvPr/>
        </p:nvSpPr>
        <p:spPr>
          <a:xfrm>
            <a:off x="649224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WTO (undated page)</a:t>
            </a:r>
          </a:p>
        </p:txBody>
      </p:sp>
      <p:sp>
        <p:nvSpPr>
          <p:cNvPr id="134" name="Rectangle 133"/>
          <p:cNvSpPr/>
          <p:nvPr/>
        </p:nvSpPr>
        <p:spPr>
          <a:xfrm>
            <a:off x="12070080" y="4192524"/>
            <a:ext cx="5120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5" name="TextBox 134"/>
          <p:cNvSpPr txBox="1"/>
          <p:nvPr/>
        </p:nvSpPr>
        <p:spPr>
          <a:xfrm>
            <a:off x="12070080" y="4389120"/>
            <a:ext cx="5120640" cy="1097280"/>
          </a:xfrm>
          <a:prstGeom prst="rect">
            <a:avLst/>
          </a:prstGeom>
          <a:noFill/>
        </p:spPr>
        <p:txBody>
          <a:bodyPr wrap="square" lIns="0" rIns="0" tIns="0" bIns="0" anchor="t">
            <a:spAutoFit/>
          </a:bodyPr>
          <a:lstStyle/>
          <a:p>
            <a:pPr algn="l">
              <a:lnSpc>
                <a:spcPct val="95000"/>
              </a:lnSpc>
              <a:spcAft>
                <a:spcPts val="600"/>
              </a:spcAft>
            </a:pPr>
            <a:r>
              <a:rPr sz="6400" b="1">
                <a:solidFill>
                  <a:srgbClr val="0E0F11"/>
                </a:solidFill>
                <a:latin typeface="Inter Tight"/>
              </a:rPr>
              <a:t>US$2.5T</a:t>
            </a:r>
          </a:p>
        </p:txBody>
      </p:sp>
      <p:sp>
        <p:nvSpPr>
          <p:cNvPr id="136" name="TextBox 135"/>
          <p:cNvSpPr txBox="1"/>
          <p:nvPr/>
        </p:nvSpPr>
        <p:spPr>
          <a:xfrm>
            <a:off x="12070080" y="5532120"/>
            <a:ext cx="5120640" cy="91440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global trade finance gap, unchanged from 2023</a:t>
            </a:r>
          </a:p>
        </p:txBody>
      </p:sp>
      <p:sp>
        <p:nvSpPr>
          <p:cNvPr id="137" name="TextBox 136"/>
          <p:cNvSpPr txBox="1"/>
          <p:nvPr/>
        </p:nvSpPr>
        <p:spPr>
          <a:xfrm>
            <a:off x="12070080" y="6446520"/>
            <a:ext cx="5120640" cy="822960"/>
          </a:xfrm>
          <a:prstGeom prst="rect">
            <a:avLst/>
          </a:prstGeom>
          <a:noFill/>
        </p:spPr>
        <p:txBody>
          <a:bodyPr wrap="square" lIns="0" rIns="0" tIns="0" bIns="0" anchor="t">
            <a:spAutoFit/>
          </a:bodyPr>
          <a:lstStyle/>
          <a:p>
            <a:pPr algn="l">
              <a:lnSpc>
                <a:spcPct val="112000"/>
              </a:lnSpc>
              <a:spcAft>
                <a:spcPts val="600"/>
              </a:spcAft>
            </a:pPr>
            <a:r>
              <a:rPr sz="1800" b="0">
                <a:solidFill>
                  <a:srgbClr val="4D5560"/>
                </a:solidFill>
                <a:latin typeface="Instrument Sans"/>
              </a:rPr>
              <a:t>ADB Global Trade Finance Gap Survey, Dec 2025</a:t>
            </a:r>
          </a:p>
        </p:txBody>
      </p:sp>
      <p:sp>
        <p:nvSpPr>
          <p:cNvPr id="138" name="TextBox 137"/>
          <p:cNvSpPr txBox="1"/>
          <p:nvPr/>
        </p:nvSpPr>
        <p:spPr>
          <a:xfrm>
            <a:off x="914400" y="7498079"/>
            <a:ext cx="16459200" cy="8229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These figures size the market problem the rail addresses. Sources under each number.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05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RAIL</a:t>
            </a:r>
            <a:endParaRPr/>
          </a:p>
        </p:txBody>
      </p:sp>
      <p:sp>
        <p:nvSpPr>
          <p:cNvPr id="110" name="Google Shape;110;p14"/>
          <p:cNvSpPr/>
          <p:nvPr/>
        </p:nvSpPr>
        <p:spPr>
          <a:xfrm>
            <a:off x="914400" y="1417320"/>
            <a:ext cx="52120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PROPOSAL · A PUBLIC STANDARD</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A SWIFT-like standard: integrate once</a:t>
            </a:r>
          </a:p>
        </p:txBody>
      </p:sp>
      <p:sp>
        <p:nvSpPr>
          <p:cNvPr id="125" name="TextBox 124"/>
          <p:cNvSpPr txBox="1"/>
          <p:nvPr/>
        </p:nvSpPr>
        <p:spPr>
          <a:xfrm>
            <a:off x="914400" y="3063240"/>
            <a:ext cx="16459200" cy="1097280"/>
          </a:xfrm>
          <a:prstGeom prst="rect">
            <a:avLst/>
          </a:prstGeom>
          <a:noFill/>
        </p:spPr>
        <p:txBody>
          <a:bodyPr wrap="square" lIns="0" rIns="0" tIns="0" bIns="0" anchor="t">
            <a:spAutoFit/>
          </a:bodyPr>
          <a:lstStyle/>
          <a:p>
            <a:pPr algn="l">
              <a:lnSpc>
                <a:spcPct val="112000"/>
              </a:lnSpc>
              <a:spcAft>
                <a:spcPts val="600"/>
              </a:spcAft>
            </a:pPr>
            <a:r>
              <a:rPr sz="2400" b="1">
                <a:solidFill>
                  <a:srgbClr val="0E0F11"/>
                </a:solidFill>
                <a:latin typeface="Instrument Sans"/>
              </a:rPr>
              <a:t>The goal is </a:t>
            </a:r>
            <a:r>
              <a:rPr sz="2400" b="0">
                <a:solidFill>
                  <a:srgbClr val="0E0F11"/>
                </a:solidFill>
                <a:latin typeface="Instrument Sans"/>
              </a:rPr>
              <a:t>a shared, SWIFT-like custody standard that companies along a supply chain, from origin to destination, will use. </a:t>
            </a:r>
            <a:r>
              <a:rPr sz="2400" b="1">
                <a:solidFill>
                  <a:srgbClr val="0E0F11"/>
                </a:solidFill>
                <a:latin typeface="Instrument Sans"/>
              </a:rPr>
              <a:t>We are building it on Stellar, starting with the custody rail.</a:t>
            </a:r>
          </a:p>
        </p:txBody>
      </p:sp>
      <p:cxnSp>
        <p:nvCxnSpPr>
          <p:cNvPr id="126" name="Connector 125"/>
          <p:cNvCxnSpPr/>
          <p:nvPr/>
        </p:nvCxnSpPr>
        <p:spPr>
          <a:xfrm>
            <a:off x="2560320" y="4572000"/>
            <a:ext cx="826163"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2560320" y="4572000"/>
            <a:ext cx="510597"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H="1">
            <a:off x="2049722" y="4572000"/>
            <a:ext cx="510598" cy="1571456"/>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H="1">
            <a:off x="1734156" y="4572000"/>
            <a:ext cx="826164" cy="60024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3070917"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2049722"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1734156" y="5172243"/>
            <a:ext cx="1652327"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2049722" y="6143456"/>
            <a:ext cx="1021195" cy="0"/>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flipV="1">
            <a:off x="1734156" y="5172243"/>
            <a:ext cx="1336761"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flipV="1">
            <a:off x="1734156" y="5172243"/>
            <a:ext cx="315566" cy="971213"/>
          </a:xfrm>
          <a:prstGeom prst="line">
            <a:avLst/>
          </a:prstGeom>
          <a:ln w="15875">
            <a:solidFill>
              <a:srgbClr val="4D5560"/>
            </a:solidFill>
          </a:ln>
        </p:spPr>
        <p:style>
          <a:lnRef idx="2">
            <a:schemeClr val="accent1"/>
          </a:lnRef>
          <a:fillRef idx="0">
            <a:schemeClr val="accent1"/>
          </a:fillRef>
          <a:effectRef idx="1">
            <a:schemeClr val="accent1"/>
          </a:effectRef>
          <a:fontRef idx="minor">
            <a:schemeClr val="tx1"/>
          </a:fontRef>
        </p:style>
      </p:cxnSp>
      <p:sp>
        <p:nvSpPr>
          <p:cNvPr id="136" name="Oval 135"/>
          <p:cNvSpPr/>
          <p:nvPr/>
        </p:nvSpPr>
        <p:spPr>
          <a:xfrm>
            <a:off x="244144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Oval 136"/>
          <p:cNvSpPr/>
          <p:nvPr/>
        </p:nvSpPr>
        <p:spPr>
          <a:xfrm>
            <a:off x="326761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Oval 137"/>
          <p:cNvSpPr/>
          <p:nvPr/>
        </p:nvSpPr>
        <p:spPr>
          <a:xfrm>
            <a:off x="295204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Oval 138"/>
          <p:cNvSpPr/>
          <p:nvPr/>
        </p:nvSpPr>
        <p:spPr>
          <a:xfrm>
            <a:off x="193085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Oval 139"/>
          <p:cNvSpPr/>
          <p:nvPr/>
        </p:nvSpPr>
        <p:spPr>
          <a:xfrm>
            <a:off x="161528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1" name="TextBox 140"/>
          <p:cNvSpPr txBox="1"/>
          <p:nvPr/>
        </p:nvSpPr>
        <p:spPr>
          <a:xfrm>
            <a:off x="914399"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4D5560"/>
                </a:solidFill>
                <a:latin typeface="JetBrains Mono"/>
              </a:rPr>
              <a:t>PAIR BY PAIR · 10 LINKS</a:t>
            </a:r>
          </a:p>
        </p:txBody>
      </p:sp>
      <p:cxnSp>
        <p:nvCxnSpPr>
          <p:cNvPr id="142" name="Connector 141"/>
          <p:cNvCxnSpPr/>
          <p:nvPr/>
        </p:nvCxnSpPr>
        <p:spPr>
          <a:xfrm flipV="1">
            <a:off x="6080760" y="4572000"/>
            <a:ext cx="0" cy="868680"/>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6080760" y="5172243"/>
            <a:ext cx="826163"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6080760" y="5440680"/>
            <a:ext cx="510597"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5570162" y="5440680"/>
            <a:ext cx="510598" cy="702776"/>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flipV="1">
            <a:off x="5254596" y="5172243"/>
            <a:ext cx="826164" cy="268437"/>
          </a:xfrm>
          <a:prstGeom prst="line">
            <a:avLst/>
          </a:prstGeom>
          <a:ln w="25400">
            <a:solidFill>
              <a:srgbClr val="556F00"/>
            </a:solidFill>
          </a:ln>
        </p:spPr>
        <p:style>
          <a:lnRef idx="2">
            <a:schemeClr val="accent1"/>
          </a:lnRef>
          <a:fillRef idx="0">
            <a:schemeClr val="accent1"/>
          </a:fillRef>
          <a:effectRef idx="1">
            <a:schemeClr val="accent1"/>
          </a:effectRef>
          <a:fontRef idx="minor">
            <a:schemeClr val="tx1"/>
          </a:fontRef>
        </p:style>
      </p:cxnSp>
      <p:sp>
        <p:nvSpPr>
          <p:cNvPr id="147" name="Oval 146"/>
          <p:cNvSpPr/>
          <p:nvPr/>
        </p:nvSpPr>
        <p:spPr>
          <a:xfrm>
            <a:off x="5888736" y="5248656"/>
            <a:ext cx="384048" cy="384048"/>
          </a:xfrm>
          <a:prstGeom prst="ellipse">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8" name="Oval 147"/>
          <p:cNvSpPr/>
          <p:nvPr/>
        </p:nvSpPr>
        <p:spPr>
          <a:xfrm>
            <a:off x="5961888" y="4453128"/>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Oval 148"/>
          <p:cNvSpPr/>
          <p:nvPr/>
        </p:nvSpPr>
        <p:spPr>
          <a:xfrm>
            <a:off x="6788051"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0" name="Oval 149"/>
          <p:cNvSpPr/>
          <p:nvPr/>
        </p:nvSpPr>
        <p:spPr>
          <a:xfrm>
            <a:off x="6472485"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Oval 150"/>
          <p:cNvSpPr/>
          <p:nvPr/>
        </p:nvSpPr>
        <p:spPr>
          <a:xfrm>
            <a:off x="5451290" y="6024584"/>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Oval 151"/>
          <p:cNvSpPr/>
          <p:nvPr/>
        </p:nvSpPr>
        <p:spPr>
          <a:xfrm>
            <a:off x="5135724" y="5053371"/>
            <a:ext cx="237744" cy="237744"/>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TextBox 152"/>
          <p:cNvSpPr txBox="1"/>
          <p:nvPr/>
        </p:nvSpPr>
        <p:spPr>
          <a:xfrm>
            <a:off x="4434840" y="4069080"/>
            <a:ext cx="3291840" cy="411480"/>
          </a:xfrm>
          <a:prstGeom prst="rect">
            <a:avLst/>
          </a:prstGeom>
          <a:noFill/>
        </p:spPr>
        <p:txBody>
          <a:bodyPr wrap="square" lIns="0" rIns="0" tIns="0" bIns="0" anchor="t">
            <a:spAutoFit/>
          </a:bodyPr>
          <a:lstStyle/>
          <a:p>
            <a:pPr algn="ctr">
              <a:lnSpc>
                <a:spcPct val="112000"/>
              </a:lnSpc>
              <a:spcAft>
                <a:spcPts val="600"/>
              </a:spcAft>
            </a:pPr>
            <a:r>
              <a:rPr sz="1800" b="1">
                <a:solidFill>
                  <a:srgbClr val="556F00"/>
                </a:solidFill>
                <a:latin typeface="JetBrains Mono"/>
              </a:rPr>
              <a:t>ONE STANDARD · 5 LINKS</a:t>
            </a:r>
          </a:p>
        </p:txBody>
      </p:sp>
      <p:sp>
        <p:nvSpPr>
          <p:cNvPr id="154" name="TextBox 153"/>
          <p:cNvSpPr txBox="1"/>
          <p:nvPr/>
        </p:nvSpPr>
        <p:spPr>
          <a:xfrm>
            <a:off x="914400" y="6583680"/>
            <a:ext cx="7132320" cy="822960"/>
          </a:xfrm>
          <a:prstGeom prst="rect">
            <a:avLst/>
          </a:prstGeom>
          <a:noFill/>
        </p:spPr>
        <p:txBody>
          <a:bodyPr wrap="square" lIns="0" rIns="0" tIns="0" bIns="0" anchor="t">
            <a:spAutoFit/>
          </a:bodyPr>
          <a:lstStyle/>
          <a:p>
            <a:pPr algn="ctr">
              <a:lnSpc>
                <a:spcPct val="112000"/>
              </a:lnSpc>
              <a:spcAft>
                <a:spcPts val="600"/>
              </a:spcAft>
            </a:pPr>
            <a:r>
              <a:rPr sz="2000" b="0">
                <a:solidFill>
                  <a:srgbClr val="4D5560"/>
                </a:solidFill>
                <a:latin typeface="Instrument Sans"/>
              </a:rPr>
              <a:t>Example, 5 companies: 10 custom links, or 5 links to one standard.</a:t>
            </a:r>
          </a:p>
        </p:txBody>
      </p:sp>
      <p:sp>
        <p:nvSpPr>
          <p:cNvPr id="155" name="TextBox 154"/>
          <p:cNvSpPr txBox="1"/>
          <p:nvPr/>
        </p:nvSpPr>
        <p:spPr>
          <a:xfrm>
            <a:off x="850392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OPEN · ANYONE</a:t>
            </a:r>
          </a:p>
        </p:txBody>
      </p:sp>
      <p:sp>
        <p:nvSpPr>
          <p:cNvPr id="156" name="Rectangle 155"/>
          <p:cNvSpPr/>
          <p:nvPr/>
        </p:nvSpPr>
        <p:spPr>
          <a:xfrm>
            <a:off x="8503920" y="4539996"/>
            <a:ext cx="425196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TextBox 156"/>
          <p:cNvSpPr txBox="1"/>
          <p:nvPr/>
        </p:nvSpPr>
        <p:spPr>
          <a:xfrm>
            <a:off x="850392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Record format, roles and events: the custody_registry contract (Apache-2.0)</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 any shipment, no login (slide 7)</a:t>
            </a:r>
          </a:p>
        </p:txBody>
      </p:sp>
      <p:sp>
        <p:nvSpPr>
          <p:cNvPr id="158" name="TextBox 157"/>
          <p:cNvSpPr txBox="1"/>
          <p:nvPr/>
        </p:nvSpPr>
        <p:spPr>
          <a:xfrm>
            <a:off x="13121640" y="4069080"/>
            <a:ext cx="4389120" cy="41148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RADOX WILL OPERATE · CLIENT PAYS</a:t>
            </a:r>
          </a:p>
        </p:txBody>
      </p:sp>
      <p:sp>
        <p:nvSpPr>
          <p:cNvPr id="159" name="Rectangle 158"/>
          <p:cNvSpPr/>
          <p:nvPr/>
        </p:nvSpPr>
        <p:spPr>
          <a:xfrm>
            <a:off x="13121640" y="4539996"/>
            <a:ext cx="425196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TextBox 159"/>
          <p:cNvSpPr txBox="1"/>
          <p:nvPr/>
        </p:nvSpPr>
        <p:spPr>
          <a:xfrm>
            <a:off x="13121640" y="4709160"/>
            <a:ext cx="4343400" cy="2743200"/>
          </a:xfrm>
          <a:prstGeom prst="rect">
            <a:avLst/>
          </a:prstGeom>
          <a:noFill/>
        </p:spPr>
        <p:txBody>
          <a:bodyPr wrap="square" lIns="0" rIns="0" tIns="0" bIns="0" anchor="t">
            <a:spAutoFit/>
          </a:bodyPr>
          <a:lstStyle/>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Onboarding, issuance controls, operation of the rail</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The API and backend: closed, not self-hostable</a:t>
            </a:r>
          </a:p>
          <a:p>
            <a:pPr algn="l">
              <a:lnSpc>
                <a:spcPct val="112000"/>
              </a:lnSpc>
              <a:spcAft>
                <a:spcPts val="800"/>
              </a:spcAft>
            </a:pPr>
            <a:r>
              <a:rPr sz="2100" b="0">
                <a:solidFill>
                  <a:srgbClr val="0E0F11"/>
                </a:solidFill>
                <a:latin typeface="Instrument Sans"/>
              </a:rPr>
              <a:t>— </a:t>
            </a:r>
            <a:r>
              <a:rPr sz="2100" b="0">
                <a:solidFill>
                  <a:srgbClr val="0E0F11"/>
                </a:solidFill>
                <a:latin typeface="Instrument Sans"/>
              </a:rPr>
              <a:t>Per-institution subscription + fee per shipment (slide 10)</a:t>
            </a:r>
          </a:p>
        </p:txBody>
      </p:sp>
      <p:sp>
        <p:nvSpPr>
          <p:cNvPr id="161" name="Rectangle 160"/>
          <p:cNvSpPr/>
          <p:nvPr/>
        </p:nvSpPr>
        <p:spPr>
          <a:xfrm>
            <a:off x="914400" y="758037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TextBox 161"/>
          <p:cNvSpPr txBox="1"/>
          <p:nvPr/>
        </p:nvSpPr>
        <p:spPr>
          <a:xfrm>
            <a:off x="914400" y="7699248"/>
            <a:ext cx="16459200" cy="822960"/>
          </a:xfrm>
          <a:prstGeom prst="rect">
            <a:avLst/>
          </a:prstGeom>
          <a:noFill/>
        </p:spPr>
        <p:txBody>
          <a:bodyPr wrap="square" lIns="0" rIns="0" tIns="0" bIns="0" anchor="t">
            <a:spAutoFit/>
          </a:bodyPr>
          <a:lstStyle/>
          <a:p>
            <a:pPr algn="l">
              <a:lnSpc>
                <a:spcPct val="112000"/>
              </a:lnSpc>
              <a:spcAft>
                <a:spcPts val="200"/>
              </a:spcAft>
            </a:pPr>
            <a:r>
              <a:rPr sz="1800" b="0">
                <a:solidFill>
                  <a:srgbClr val="0E0F11"/>
                </a:solidFill>
                <a:latin typeface="Instrument Sans"/>
              </a:rPr>
              <a:t>Each company integrates once instead of pair by pair. Radox is part of the Rio–Miami trade-corridor initiative and its technology rail: every port, airport and chamber that joins it will join the rail, through one adapter to the Radox API. Radox is in conversations with chambers of commerce in Brazil and Miami.</a:t>
            </a:r>
          </a:p>
          <a:p>
            <a:pPr algn="l">
              <a:lnSpc>
                <a:spcPct val="112000"/>
              </a:lnSpc>
              <a:spcAft>
                <a:spcPts val="200"/>
              </a:spcAft>
            </a:pPr>
            <a:r>
              <a:rPr sz="1800" b="0">
                <a:solidFill>
                  <a:srgbClr val="4D5560"/>
                </a:solidFill>
                <a:latin typeface="Instrument Sans"/>
              </a:rPr>
              <a:t>Radox is the rail, never the issuer. Regulation and licences stay with the client and its local counsel.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06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LIVE ON TESTNET</a:t>
            </a:r>
            <a:endParaRPr/>
          </a:p>
        </p:txBody>
      </p:sp>
      <p:sp>
        <p:nvSpPr>
          <p:cNvPr id="110" name="Google Shape;110;p14"/>
          <p:cNvSpPr/>
          <p:nvPr/>
        </p:nvSpPr>
        <p:spPr>
          <a:xfrm>
            <a:off x="914400" y="1417320"/>
            <a:ext cx="438912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RAIL · LIFECYCLE BUILT</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origin to delivery</a:t>
            </a:r>
          </a:p>
        </p:txBody>
      </p:sp>
      <p:sp>
        <p:nvSpPr>
          <p:cNvPr id="125" name="TextBox 124"/>
          <p:cNvSpPr txBox="1"/>
          <p:nvPr/>
        </p:nvSpPr>
        <p:spPr>
          <a:xfrm>
            <a:off x="914400" y="3063240"/>
            <a:ext cx="16459200" cy="548640"/>
          </a:xfrm>
          <a:prstGeom prst="rect">
            <a:avLst/>
          </a:prstGeom>
          <a:noFill/>
        </p:spPr>
        <p:txBody>
          <a:bodyPr wrap="square" lIns="0" rIns="0" tIns="0" bIns="0" anchor="t">
            <a:spAutoFit/>
          </a:bodyPr>
          <a:lstStyle/>
          <a:p>
            <a:pPr algn="l">
              <a:lnSpc>
                <a:spcPct val="112000"/>
              </a:lnSpc>
              <a:spcAft>
                <a:spcPts val="600"/>
              </a:spcAft>
            </a:pPr>
            <a:r>
              <a:rPr sz="2400" b="0">
                <a:solidFill>
                  <a:srgbClr val="0E0F11"/>
                </a:solidFill>
                <a:latin typeface="Instrument Sans"/>
              </a:rPr>
              <a:t>One record will follow the goods across company boundaries; port and airport systems will connect by API, not a rewrite.</a:t>
            </a:r>
          </a:p>
        </p:txBody>
      </p:sp>
      <p:sp>
        <p:nvSpPr>
          <p:cNvPr id="126" name="Rectangle 125"/>
          <p:cNvSpPr/>
          <p:nvPr/>
        </p:nvSpPr>
        <p:spPr>
          <a:xfrm>
            <a:off x="1188720" y="4553712"/>
            <a:ext cx="15910559" cy="36576"/>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Oval 126"/>
          <p:cNvSpPr/>
          <p:nvPr/>
        </p:nvSpPr>
        <p:spPr>
          <a:xfrm>
            <a:off x="1033272"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8" name="TextBox 127"/>
          <p:cNvSpPr txBox="1"/>
          <p:nvPr/>
        </p:nvSpPr>
        <p:spPr>
          <a:xfrm>
            <a:off x="4572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Open</a:t>
            </a:r>
          </a:p>
        </p:txBody>
      </p:sp>
      <p:sp>
        <p:nvSpPr>
          <p:cNvPr id="129" name="TextBox 128"/>
          <p:cNvSpPr txBox="1"/>
          <p:nvPr/>
        </p:nvSpPr>
        <p:spPr>
          <a:xfrm>
            <a:off x="4572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operator</a:t>
            </a:r>
          </a:p>
        </p:txBody>
      </p:sp>
      <p:sp>
        <p:nvSpPr>
          <p:cNvPr id="130" name="Oval 129"/>
          <p:cNvSpPr/>
          <p:nvPr/>
        </p:nvSpPr>
        <p:spPr>
          <a:xfrm>
            <a:off x="3306209"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TextBox 130"/>
          <p:cNvSpPr txBox="1"/>
          <p:nvPr/>
        </p:nvSpPr>
        <p:spPr>
          <a:xfrm>
            <a:off x="2318657"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Warehouse</a:t>
            </a:r>
          </a:p>
        </p:txBody>
      </p:sp>
      <p:sp>
        <p:nvSpPr>
          <p:cNvPr id="132" name="TextBox 131"/>
          <p:cNvSpPr txBox="1"/>
          <p:nvPr/>
        </p:nvSpPr>
        <p:spPr>
          <a:xfrm>
            <a:off x="3598817"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3" name="Oval 132"/>
          <p:cNvSpPr/>
          <p:nvPr/>
        </p:nvSpPr>
        <p:spPr>
          <a:xfrm>
            <a:off x="5579146"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4591594"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Port</a:t>
            </a:r>
          </a:p>
        </p:txBody>
      </p:sp>
      <p:sp>
        <p:nvSpPr>
          <p:cNvPr id="135" name="TextBox 134"/>
          <p:cNvSpPr txBox="1"/>
          <p:nvPr/>
        </p:nvSpPr>
        <p:spPr>
          <a:xfrm>
            <a:off x="5871754"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6" name="Oval 135"/>
          <p:cNvSpPr/>
          <p:nvPr/>
        </p:nvSpPr>
        <p:spPr>
          <a:xfrm>
            <a:off x="7852083"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TextBox 136"/>
          <p:cNvSpPr txBox="1"/>
          <p:nvPr/>
        </p:nvSpPr>
        <p:spPr>
          <a:xfrm>
            <a:off x="6864531"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Carrier</a:t>
            </a:r>
          </a:p>
        </p:txBody>
      </p:sp>
      <p:sp>
        <p:nvSpPr>
          <p:cNvPr id="138" name="TextBox 137"/>
          <p:cNvSpPr txBox="1"/>
          <p:nvPr/>
        </p:nvSpPr>
        <p:spPr>
          <a:xfrm>
            <a:off x="8144691"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39" name="Oval 138"/>
          <p:cNvSpPr/>
          <p:nvPr/>
        </p:nvSpPr>
        <p:spPr>
          <a:xfrm>
            <a:off x="10125020"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TextBox 139"/>
          <p:cNvSpPr txBox="1"/>
          <p:nvPr/>
        </p:nvSpPr>
        <p:spPr>
          <a:xfrm>
            <a:off x="9137468"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Customs</a:t>
            </a:r>
          </a:p>
        </p:txBody>
      </p:sp>
      <p:sp>
        <p:nvSpPr>
          <p:cNvPr id="141" name="TextBox 140"/>
          <p:cNvSpPr txBox="1"/>
          <p:nvPr/>
        </p:nvSpPr>
        <p:spPr>
          <a:xfrm>
            <a:off x="10417628"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2" name="Oval 141"/>
          <p:cNvSpPr/>
          <p:nvPr/>
        </p:nvSpPr>
        <p:spPr>
          <a:xfrm>
            <a:off x="12397957" y="4416552"/>
            <a:ext cx="310896" cy="310896"/>
          </a:xfrm>
          <a:prstGeom prst="ellipse">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TextBox 142"/>
          <p:cNvSpPr txBox="1"/>
          <p:nvPr/>
        </p:nvSpPr>
        <p:spPr>
          <a:xfrm>
            <a:off x="11410405"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Recipient</a:t>
            </a:r>
          </a:p>
        </p:txBody>
      </p:sp>
      <p:sp>
        <p:nvSpPr>
          <p:cNvPr id="144" name="TextBox 143"/>
          <p:cNvSpPr txBox="1"/>
          <p:nvPr/>
        </p:nvSpPr>
        <p:spPr>
          <a:xfrm>
            <a:off x="12690565" y="4005072"/>
            <a:ext cx="1998617" cy="411480"/>
          </a:xfrm>
          <a:prstGeom prst="rect">
            <a:avLst/>
          </a:prstGeom>
          <a:noFill/>
        </p:spPr>
        <p:txBody>
          <a:bodyPr wrap="square" lIns="0" rIns="0" tIns="0" bIns="0" anchor="t">
            <a:spAutoFit/>
          </a:bodyPr>
          <a:lstStyle/>
          <a:p>
            <a:pPr algn="ctr">
              <a:lnSpc>
                <a:spcPct val="112000"/>
              </a:lnSpc>
              <a:spcAft>
                <a:spcPts val="600"/>
              </a:spcAft>
            </a:pPr>
            <a:r>
              <a:rPr sz="1800" b="0">
                <a:solidFill>
                  <a:srgbClr val="556F00"/>
                </a:solidFill>
                <a:latin typeface="JetBrains Mono"/>
              </a:rPr>
              <a:t>2 signatures</a:t>
            </a:r>
          </a:p>
        </p:txBody>
      </p:sp>
      <p:sp>
        <p:nvSpPr>
          <p:cNvPr id="145" name="Oval 144"/>
          <p:cNvSpPr/>
          <p:nvPr/>
        </p:nvSpPr>
        <p:spPr>
          <a:xfrm>
            <a:off x="14670894"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TextBox 145"/>
          <p:cNvSpPr txBox="1"/>
          <p:nvPr/>
        </p:nvSpPr>
        <p:spPr>
          <a:xfrm>
            <a:off x="13683342"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Delivered</a:t>
            </a:r>
          </a:p>
        </p:txBody>
      </p:sp>
      <p:sp>
        <p:nvSpPr>
          <p:cNvPr id="147" name="TextBox 146"/>
          <p:cNvSpPr txBox="1"/>
          <p:nvPr/>
        </p:nvSpPr>
        <p:spPr>
          <a:xfrm>
            <a:off x="13683342"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to the holder</a:t>
            </a:r>
          </a:p>
        </p:txBody>
      </p:sp>
      <p:sp>
        <p:nvSpPr>
          <p:cNvPr id="148" name="Oval 147"/>
          <p:cNvSpPr/>
          <p:nvPr/>
        </p:nvSpPr>
        <p:spPr>
          <a:xfrm>
            <a:off x="16943831" y="4416552"/>
            <a:ext cx="310896" cy="310896"/>
          </a:xfrm>
          <a:prstGeom prst="ellipse">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TextBox 148"/>
          <p:cNvSpPr txBox="1"/>
          <p:nvPr/>
        </p:nvSpPr>
        <p:spPr>
          <a:xfrm>
            <a:off x="15956280" y="4828032"/>
            <a:ext cx="2286000" cy="457200"/>
          </a:xfrm>
          <a:prstGeom prst="rect">
            <a:avLst/>
          </a:prstGeom>
          <a:noFill/>
        </p:spPr>
        <p:txBody>
          <a:bodyPr wrap="square" lIns="0" rIns="0" tIns="0" bIns="0" anchor="t">
            <a:spAutoFit/>
          </a:bodyPr>
          <a:lstStyle/>
          <a:p>
            <a:pPr algn="ctr">
              <a:lnSpc>
                <a:spcPct val="112000"/>
              </a:lnSpc>
              <a:spcAft>
                <a:spcPts val="600"/>
              </a:spcAft>
            </a:pPr>
            <a:r>
              <a:rPr sz="2100" b="1">
                <a:solidFill>
                  <a:srgbClr val="0E0F11"/>
                </a:solidFill>
                <a:latin typeface="Instrument Sans"/>
              </a:rPr>
              <a:t>Burned</a:t>
            </a:r>
          </a:p>
        </p:txBody>
      </p:sp>
      <p:sp>
        <p:nvSpPr>
          <p:cNvPr id="150" name="TextBox 149"/>
          <p:cNvSpPr txBox="1"/>
          <p:nvPr/>
        </p:nvSpPr>
        <p:spPr>
          <a:xfrm>
            <a:off x="15956280" y="5230368"/>
            <a:ext cx="2286000" cy="457200"/>
          </a:xfrm>
          <a:prstGeom prst="rect">
            <a:avLst/>
          </a:prstGeom>
          <a:noFill/>
        </p:spPr>
        <p:txBody>
          <a:bodyPr wrap="square" lIns="0" rIns="0" tIns="0" bIns="0" anchor="t">
            <a:spAutoFit/>
          </a:bodyPr>
          <a:lstStyle/>
          <a:p>
            <a:pPr algn="ctr">
              <a:lnSpc>
                <a:spcPct val="112000"/>
              </a:lnSpc>
              <a:spcAft>
                <a:spcPts val="600"/>
              </a:spcAft>
            </a:pPr>
            <a:r>
              <a:rPr sz="1800" b="0">
                <a:solidFill>
                  <a:srgbClr val="4D5560"/>
                </a:solidFill>
                <a:latin typeface="Instrument Sans"/>
              </a:rPr>
              <a:t>existing redeem¹</a:t>
            </a:r>
          </a:p>
        </p:txBody>
      </p:sp>
      <p:sp>
        <p:nvSpPr>
          <p:cNvPr id="151" name="TextBox 150"/>
          <p:cNvSpPr txBox="1"/>
          <p:nvPr/>
        </p:nvSpPr>
        <p:spPr>
          <a:xfrm>
            <a:off x="914400" y="5897880"/>
            <a:ext cx="16459200" cy="1554480"/>
          </a:xfrm>
          <a:prstGeom prst="rect">
            <a:avLst/>
          </a:prstGeom>
          <a:noFill/>
        </p:spPr>
        <p:txBody>
          <a:bodyPr wrap="square" lIns="0" rIns="0" tIns="0" bIns="0" anchor="t">
            <a:spAutoFit/>
          </a:bodyPr>
          <a:lstStyle/>
          <a:p>
            <a:pPr algn="l">
              <a:lnSpc>
                <a:spcPct val="112000"/>
              </a:lnSpc>
              <a:spcAft>
                <a:spcPts val="600"/>
              </a:spcAft>
            </a:pPr>
            <a:r>
              <a:rPr sz="2300" b="0">
                <a:solidFill>
                  <a:srgbClr val="556F00"/>
                </a:solidFill>
                <a:latin typeface="Instrument Sans"/>
              </a:rPr>
              <a:t>— </a:t>
            </a:r>
            <a:r>
              <a:rPr sz="2300" b="1">
                <a:solidFill>
                  <a:srgbClr val="0E0F11"/>
                </a:solidFill>
                <a:latin typeface="Instrument Sans"/>
              </a:rPr>
              <a:t>Rule of every link: </a:t>
            </a:r>
            <a:r>
              <a:rPr sz="2300" b="0">
                <a:solidFill>
                  <a:srgbClr val="0E0F11"/>
                </a:solidFill>
                <a:latin typeface="Instrument Sans"/>
              </a:rPr>
              <a:t>both sides sign one Stellar transaction (delivery: recipient and holder), or the call fails.</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Each step extends the on-chain </a:t>
            </a:r>
            <a:r>
              <a:rPr sz="2300" b="0">
                <a:solidFill>
                  <a:srgbClr val="0E0F11"/>
                </a:solidFill>
                <a:latin typeface="JetBrains Mono"/>
              </a:rPr>
              <a:t>head</a:t>
            </a:r>
            <a:r>
              <a:rPr sz="2300" b="0">
                <a:solidFill>
                  <a:srgbClr val="0E0F11"/>
                </a:solidFill>
                <a:latin typeface="Instrument Sans"/>
              </a:rPr>
              <a:t>: anyone can replay the history from Horizon and check it against the head.</a:t>
            </a:r>
          </a:p>
          <a:p>
            <a:pPr algn="l">
              <a:lnSpc>
                <a:spcPct val="112000"/>
              </a:lnSpc>
              <a:spcAft>
                <a:spcPts val="600"/>
              </a:spcAft>
            </a:pPr>
            <a:r>
              <a:rPr sz="2300" b="0">
                <a:solidFill>
                  <a:srgbClr val="556F00"/>
                </a:solidFill>
                <a:latin typeface="Instrument Sans"/>
              </a:rPr>
              <a:t>— </a:t>
            </a:r>
            <a:r>
              <a:rPr sz="2300" b="0">
                <a:solidFill>
                  <a:srgbClr val="0E0F11"/>
                </a:solidFill>
                <a:latin typeface="Instrument Sans"/>
              </a:rPr>
              <a:t>The token stays with its holder in transit; only custody moves.</a:t>
            </a:r>
          </a:p>
        </p:txBody>
      </p:sp>
      <p:sp>
        <p:nvSpPr>
          <p:cNvPr id="152" name="TextBox 151"/>
          <p:cNvSpPr txBox="1"/>
          <p:nvPr/>
        </p:nvSpPr>
        <p:spPr>
          <a:xfrm>
            <a:off x="914400" y="7818120"/>
            <a:ext cx="16459200" cy="1005840"/>
          </a:xfrm>
          <a:prstGeom prst="rect">
            <a:avLst/>
          </a:prstGeom>
          <a:noFill/>
        </p:spPr>
        <p:txBody>
          <a:bodyPr wrap="square" lIns="0" rIns="0" tIns="0" bIns="0" anchor="t">
            <a:spAutoFit/>
          </a:bodyPr>
          <a:lstStyle/>
          <a:p>
            <a:pPr algn="l">
              <a:lnSpc>
                <a:spcPct val="112000"/>
              </a:lnSpc>
              <a:spcAft>
                <a:spcPts val="200"/>
              </a:spcAft>
            </a:pPr>
            <a:r>
              <a:rPr sz="1800" b="1">
                <a:solidFill>
                  <a:srgbClr val="0E0F11"/>
                </a:solidFill>
                <a:latin typeface="Instrument Sans"/>
              </a:rPr>
              <a:t>Built: this lifecycle on testnet, test keys. Next: real companies on the rail, the standard, integrations.</a:t>
            </a:r>
          </a:p>
          <a:p>
            <a:pPr algn="l">
              <a:lnSpc>
                <a:spcPct val="112000"/>
              </a:lnSpc>
              <a:spcAft>
                <a:spcPts val="200"/>
              </a:spcAft>
            </a:pPr>
            <a:r>
              <a:rPr sz="1800" b="0">
                <a:solidFill>
                  <a:srgbClr val="4D5560"/>
                </a:solidFill>
                <a:latin typeface="Instrument Sans"/>
              </a:rPr>
              <a:t>Keyed by sha256(container | origin); sits beside the carrier's bill of lading. ¹ Radox policy, not enforced on-chain; redeem needs the holder's signature.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0F11"/>
        </a:solidFill>
      </p:bgPr>
    </p:bg>
    <p:spTree>
      <p:nvGrpSpPr>
        <p:cNvPr id="1" name=""/>
        <p:cNvGrpSpPr/>
        <p:nvPr/>
      </p:nvGrpSpPr>
      <p:grpSpPr/>
      <p:sp>
        <p:nvSpPr>
          <p:cNvPr id="106" name="Google Shape;106;p14"/>
          <p:cNvSpPr/>
          <p:nvPr/>
        </p:nvSpPr>
        <p:spPr>
          <a:xfrm>
            <a:off x="0" y="0"/>
            <a:ext cx="18288000" cy="731520"/>
          </a:xfrm>
          <a:prstGeom prst="rect">
            <a:avLst/>
          </a:prstGeom>
          <a:solidFill>
            <a:srgbClr val="13151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07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WHY STELLAR</a:t>
            </a:r>
            <a:endParaRPr/>
          </a:p>
        </p:txBody>
      </p:sp>
      <p:sp>
        <p:nvSpPr>
          <p:cNvPr id="110" name="Google Shape;110;p14"/>
          <p:cNvSpPr/>
          <p:nvPr/>
        </p:nvSpPr>
        <p:spPr>
          <a:xfrm>
            <a:off x="914400" y="1417320"/>
            <a:ext cx="452628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PROOF · LIVE ON TESTNET</a:t>
            </a:r>
            <a:endParaRPr/>
          </a:p>
        </p:txBody>
      </p:sp>
      <p:sp>
        <p:nvSpPr>
          <p:cNvPr id="121" name="Google Shape;121;p14"/>
          <p:cNvSpPr/>
          <p:nvPr/>
        </p:nvSpPr>
        <p:spPr>
          <a:xfrm>
            <a:off x="914400" y="8915400"/>
            <a:ext cx="16459200" cy="13716"/>
          </a:xfrm>
          <a:prstGeom prst="rect">
            <a:avLst/>
          </a:prstGeom>
          <a:solidFill>
            <a:srgbClr val="2A2F3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A3A8B0"/>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E7E8EA"/>
                </a:solidFill>
                <a:latin typeface="Inter Tight"/>
              </a:rPr>
              <a:t>The lifecycle ran on testnet</a:t>
            </a:r>
          </a:p>
        </p:txBody>
      </p:sp>
      <p:pic>
        <p:nvPicPr>
          <p:cNvPr id="125" name="Picture 124" descr="page-handovers-rows.png"/>
          <p:cNvPicPr>
            <a:picLocks noChangeAspect="1"/>
          </p:cNvPicPr>
          <p:nvPr/>
        </p:nvPicPr>
        <p:blipFill>
          <a:blip r:embed="rId3"/>
          <a:stretch>
            <a:fillRect/>
          </a:stretch>
        </p:blipFill>
        <p:spPr>
          <a:xfrm>
            <a:off x="914400" y="3108960"/>
            <a:ext cx="6766560" cy="4591594"/>
          </a:xfrm>
          <a:prstGeom prst="rect">
            <a:avLst/>
          </a:prstGeom>
        </p:spPr>
      </p:pic>
      <p:sp>
        <p:nvSpPr>
          <p:cNvPr id="126" name="Rectangle 125"/>
          <p:cNvSpPr/>
          <p:nvPr/>
        </p:nvSpPr>
        <p:spPr>
          <a:xfrm>
            <a:off x="914400" y="3108960"/>
            <a:ext cx="6766560" cy="4591594"/>
          </a:xfrm>
          <a:prstGeom prst="rect">
            <a:avLst/>
          </a:prstGeom>
          <a:noFill/>
          <a:ln w="12700">
            <a:solidFill>
              <a:srgbClr val="2A2F3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8229600" y="301752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2b3d51f0</a:t>
            </a:r>
            <a:r>
              <a:rPr sz="1800" b="0">
                <a:solidFill>
                  <a:srgbClr val="E7E8EA"/>
                </a:solidFill>
                <a:latin typeface="Instrument Sans"/>
              </a:rPr>
              <a:t>   open · operator</a:t>
            </a:r>
          </a:p>
        </p:txBody>
      </p:sp>
      <p:sp>
        <p:nvSpPr>
          <p:cNvPr id="128" name="TextBox 127"/>
          <p:cNvSpPr txBox="1"/>
          <p:nvPr/>
        </p:nvSpPr>
        <p:spPr>
          <a:xfrm>
            <a:off x="8229600" y="335584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635c99ac</a:t>
            </a:r>
            <a:r>
              <a:rPr sz="1800" b="0">
                <a:solidFill>
                  <a:srgbClr val="E7E8EA"/>
                </a:solidFill>
                <a:latin typeface="Instrument Sans"/>
              </a:rPr>
              <a:t>   handover 1 · Warehouse → Port</a:t>
            </a:r>
          </a:p>
        </p:txBody>
      </p:sp>
      <p:sp>
        <p:nvSpPr>
          <p:cNvPr id="129" name="TextBox 128"/>
          <p:cNvSpPr txBox="1"/>
          <p:nvPr/>
        </p:nvSpPr>
        <p:spPr>
          <a:xfrm>
            <a:off x="8229600" y="3694176"/>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56a0f006</a:t>
            </a:r>
            <a:r>
              <a:rPr sz="1800" b="0">
                <a:solidFill>
                  <a:srgbClr val="E7E8EA"/>
                </a:solidFill>
                <a:latin typeface="Instrument Sans"/>
              </a:rPr>
              <a:t>   handover 2 · Port → Carrier</a:t>
            </a:r>
          </a:p>
        </p:txBody>
      </p:sp>
      <p:sp>
        <p:nvSpPr>
          <p:cNvPr id="130" name="TextBox 129"/>
          <p:cNvSpPr txBox="1"/>
          <p:nvPr/>
        </p:nvSpPr>
        <p:spPr>
          <a:xfrm>
            <a:off x="8229600" y="4032504"/>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ac268a49</a:t>
            </a:r>
            <a:r>
              <a:rPr sz="1800" b="0">
                <a:solidFill>
                  <a:srgbClr val="E7E8EA"/>
                </a:solidFill>
                <a:latin typeface="Instrument Sans"/>
              </a:rPr>
              <a:t>   handover 3 · Carrier → Customs</a:t>
            </a:r>
          </a:p>
        </p:txBody>
      </p:sp>
      <p:sp>
        <p:nvSpPr>
          <p:cNvPr id="131" name="TextBox 130"/>
          <p:cNvSpPr txBox="1"/>
          <p:nvPr/>
        </p:nvSpPr>
        <p:spPr>
          <a:xfrm>
            <a:off x="8229600" y="4370831"/>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5199d4fb</a:t>
            </a:r>
            <a:r>
              <a:rPr sz="1800" b="0">
                <a:solidFill>
                  <a:srgbClr val="E7E8EA"/>
                </a:solidFill>
                <a:latin typeface="Instrument Sans"/>
              </a:rPr>
              <a:t>   handover 4 · Customs → Recipient</a:t>
            </a:r>
          </a:p>
        </p:txBody>
      </p:sp>
      <p:sp>
        <p:nvSpPr>
          <p:cNvPr id="132" name="TextBox 131"/>
          <p:cNvSpPr txBox="1"/>
          <p:nvPr/>
        </p:nvSpPr>
        <p:spPr>
          <a:xfrm>
            <a:off x="8229600" y="4709160"/>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919def8c</a:t>
            </a:r>
            <a:r>
              <a:rPr sz="1800" b="0">
                <a:solidFill>
                  <a:srgbClr val="E7E8EA"/>
                </a:solidFill>
                <a:latin typeface="Instrument Sans"/>
              </a:rPr>
              <a:t>   deliver · Recipient → Holder</a:t>
            </a:r>
          </a:p>
        </p:txBody>
      </p:sp>
      <p:sp>
        <p:nvSpPr>
          <p:cNvPr id="133" name="TextBox 132"/>
          <p:cNvSpPr txBox="1"/>
          <p:nvPr/>
        </p:nvSpPr>
        <p:spPr>
          <a:xfrm>
            <a:off x="8229600" y="5047488"/>
            <a:ext cx="9144000" cy="365760"/>
          </a:xfrm>
          <a:prstGeom prst="rect">
            <a:avLst/>
          </a:prstGeom>
          <a:noFill/>
        </p:spPr>
        <p:txBody>
          <a:bodyPr wrap="square" lIns="0" rIns="0" tIns="0" bIns="0" anchor="t">
            <a:spAutoFit/>
          </a:bodyPr>
          <a:lstStyle/>
          <a:p>
            <a:pPr algn="l">
              <a:lnSpc>
                <a:spcPct val="112000"/>
              </a:lnSpc>
              <a:spcAft>
                <a:spcPts val="600"/>
              </a:spcAft>
            </a:pPr>
            <a:r>
              <a:rPr sz="1800" b="0">
                <a:solidFill>
                  <a:srgbClr val="C6F24E"/>
                </a:solidFill>
                <a:latin typeface="JetBrains Mono"/>
              </a:rPr>
              <a:t>864fd164</a:t>
            </a:r>
            <a:r>
              <a:rPr sz="1800" b="0">
                <a:solidFill>
                  <a:srgbClr val="E7E8EA"/>
                </a:solidFill>
                <a:latin typeface="Instrument Sans"/>
              </a:rPr>
              <a:t>   burn · existing redeem</a:t>
            </a:r>
          </a:p>
        </p:txBody>
      </p:sp>
      <p:sp>
        <p:nvSpPr>
          <p:cNvPr id="134" name="TextBox 133"/>
          <p:cNvSpPr txBox="1"/>
          <p:nvPr/>
        </p:nvSpPr>
        <p:spPr>
          <a:xfrm>
            <a:off x="822960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7</a:t>
            </a:r>
          </a:p>
        </p:txBody>
      </p:sp>
      <p:sp>
        <p:nvSpPr>
          <p:cNvPr id="135" name="TextBox 134"/>
          <p:cNvSpPr txBox="1"/>
          <p:nvPr/>
        </p:nvSpPr>
        <p:spPr>
          <a:xfrm>
            <a:off x="822960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successful</a:t>
            </a:r>
          </a:p>
        </p:txBody>
      </p:sp>
      <p:sp>
        <p:nvSpPr>
          <p:cNvPr id="136" name="TextBox 135"/>
          <p:cNvSpPr txBox="1"/>
          <p:nvPr/>
        </p:nvSpPr>
        <p:spPr>
          <a:xfrm>
            <a:off x="1056132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9</a:t>
            </a:r>
          </a:p>
        </p:txBody>
      </p:sp>
      <p:sp>
        <p:nvSpPr>
          <p:cNvPr id="137" name="TextBox 136"/>
          <p:cNvSpPr txBox="1"/>
          <p:nvPr/>
        </p:nvSpPr>
        <p:spPr>
          <a:xfrm>
            <a:off x="1056132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refused, e.g. wrong signer (simulated)</a:t>
            </a:r>
          </a:p>
        </p:txBody>
      </p:sp>
      <p:sp>
        <p:nvSpPr>
          <p:cNvPr id="138" name="TextBox 137"/>
          <p:cNvSpPr txBox="1"/>
          <p:nvPr/>
        </p:nvSpPr>
        <p:spPr>
          <a:xfrm>
            <a:off x="12893040"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24</a:t>
            </a:r>
          </a:p>
        </p:txBody>
      </p:sp>
      <p:sp>
        <p:nvSpPr>
          <p:cNvPr id="139" name="TextBox 138"/>
          <p:cNvSpPr txBox="1"/>
          <p:nvPr/>
        </p:nvSpPr>
        <p:spPr>
          <a:xfrm>
            <a:off x="12893040"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unit tests</a:t>
            </a:r>
          </a:p>
        </p:txBody>
      </p:sp>
      <p:sp>
        <p:nvSpPr>
          <p:cNvPr id="140" name="TextBox 139"/>
          <p:cNvSpPr txBox="1"/>
          <p:nvPr/>
        </p:nvSpPr>
        <p:spPr>
          <a:xfrm>
            <a:off x="15224759" y="5440680"/>
            <a:ext cx="2286000" cy="731520"/>
          </a:xfrm>
          <a:prstGeom prst="rect">
            <a:avLst/>
          </a:prstGeom>
          <a:noFill/>
        </p:spPr>
        <p:txBody>
          <a:bodyPr wrap="square" lIns="0" rIns="0" tIns="0" bIns="0" anchor="t">
            <a:spAutoFit/>
          </a:bodyPr>
          <a:lstStyle/>
          <a:p>
            <a:pPr algn="l">
              <a:lnSpc>
                <a:spcPct val="90000"/>
              </a:lnSpc>
              <a:spcAft>
                <a:spcPts val="600"/>
              </a:spcAft>
            </a:pPr>
            <a:r>
              <a:rPr sz="4400" b="1">
                <a:solidFill>
                  <a:srgbClr val="C6F24E"/>
                </a:solidFill>
                <a:latin typeface="Inter Tight"/>
              </a:rPr>
              <a:t>MATCH</a:t>
            </a:r>
          </a:p>
        </p:txBody>
      </p:sp>
      <p:sp>
        <p:nvSpPr>
          <p:cNvPr id="141" name="TextBox 140"/>
          <p:cNvSpPr txBox="1"/>
          <p:nvPr/>
        </p:nvSpPr>
        <p:spPr>
          <a:xfrm>
            <a:off x="15224759" y="6144768"/>
            <a:ext cx="2240280" cy="640080"/>
          </a:xfrm>
          <a:prstGeom prst="rect">
            <a:avLst/>
          </a:prstGeom>
          <a:noFill/>
        </p:spPr>
        <p:txBody>
          <a:bodyPr wrap="square" lIns="0" rIns="0" tIns="0" bIns="0" anchor="t">
            <a:spAutoFit/>
          </a:bodyPr>
          <a:lstStyle/>
          <a:p>
            <a:pPr algn="l">
              <a:lnSpc>
                <a:spcPct val="100000"/>
              </a:lnSpc>
              <a:spcAft>
                <a:spcPts val="0"/>
              </a:spcAft>
            </a:pPr>
            <a:r>
              <a:rPr sz="1800" b="0">
                <a:solidFill>
                  <a:srgbClr val="E7E8EA"/>
                </a:solidFill>
                <a:latin typeface="Instrument Sans"/>
              </a:rPr>
              <a:t>head check, 25 Oct</a:t>
            </a:r>
          </a:p>
        </p:txBody>
      </p:sp>
      <p:sp>
        <p:nvSpPr>
          <p:cNvPr id="142" name="TextBox 141"/>
          <p:cNvSpPr txBox="1"/>
          <p:nvPr/>
        </p:nvSpPr>
        <p:spPr>
          <a:xfrm>
            <a:off x="8229600" y="6858000"/>
            <a:ext cx="9144000" cy="1828800"/>
          </a:xfrm>
          <a:prstGeom prst="rect">
            <a:avLst/>
          </a:prstGeom>
          <a:noFill/>
        </p:spPr>
        <p:txBody>
          <a:bodyPr wrap="square" lIns="0" rIns="0" tIns="0" bIns="0" anchor="t">
            <a:spAutoFit/>
          </a:bodyPr>
          <a:lstStyle/>
          <a:p>
            <a:pPr algn="l">
              <a:lnSpc>
                <a:spcPct val="112000"/>
              </a:lnSpc>
              <a:spcAft>
                <a:spcPts val="400"/>
              </a:spcAft>
            </a:pPr>
            <a:r>
              <a:rPr sz="1800" b="0">
                <a:solidFill>
                  <a:srgbClr val="A3A8B0"/>
                </a:solidFill>
                <a:latin typeface="JetBrains Mono"/>
              </a:rPr>
              <a:t>custody_registry </a:t>
            </a:r>
            <a:r>
              <a:rPr sz="1800" b="0">
                <a:solidFill>
                  <a:srgbClr val="E7E8EA"/>
                </a:solidFill>
                <a:latin typeface="JetBrains Mono"/>
              </a:rPr>
              <a:t>CCBJVXMJYWPHTDJHDFPRGKPGXGEP24JOPJAMUS5C3BMZJTRTWR2H4LII</a:t>
            </a:r>
          </a:p>
          <a:p>
            <a:pPr algn="l">
              <a:lnSpc>
                <a:spcPct val="112000"/>
              </a:lnSpc>
              <a:spcAft>
                <a:spcPts val="400"/>
              </a:spcAft>
            </a:pPr>
            <a:r>
              <a:rPr sz="1800" b="0">
                <a:solidFill>
                  <a:srgbClr val="A3A8B0"/>
                </a:solidFill>
                <a:latin typeface="Instrument Sans"/>
              </a:rPr>
              <a:t>Also on testnet: handovers signed from separate computers (proofs/three-machine.json); two test companies' chains on one registry, sharing stops, each dual-signed (proofs/multi-chain.json).</a:t>
            </a:r>
          </a:p>
          <a:p>
            <a:pPr algn="l">
              <a:lnSpc>
                <a:spcPct val="112000"/>
              </a:lnSpc>
              <a:spcAft>
                <a:spcPts val="400"/>
              </a:spcAft>
            </a:pPr>
            <a:r>
              <a:rPr sz="1800" b="1">
                <a:solidFill>
                  <a:srgbClr val="E7E8EA"/>
                </a:solidFill>
                <a:latin typeface="Instrument Sans"/>
              </a:rPr>
              <a:t>Testnet, test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08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BUILT THIS WEEKEND</a:t>
            </a:r>
            <a:endParaRPr/>
          </a:p>
        </p:txBody>
      </p:sp>
      <p:sp>
        <p:nvSpPr>
          <p:cNvPr id="110" name="Google Shape;110;p14"/>
          <p:cNvSpPr/>
          <p:nvPr/>
        </p:nvSpPr>
        <p:spPr>
          <a:xfrm>
            <a:off x="914400" y="1417320"/>
            <a:ext cx="39776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ECOSYSTEM · WHY STELLAR</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Stellar: all signers, one call</a:t>
            </a:r>
          </a:p>
        </p:txBody>
      </p:sp>
      <p:sp>
        <p:nvSpPr>
          <p:cNvPr id="125" name="Rectangle 124"/>
          <p:cNvSpPr/>
          <p:nvPr/>
        </p:nvSpPr>
        <p:spPr>
          <a:xfrm>
            <a:off x="914400" y="31272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TextBox 125"/>
          <p:cNvSpPr txBox="1"/>
          <p:nvPr/>
        </p:nvSpPr>
        <p:spPr>
          <a:xfrm>
            <a:off x="914400" y="33192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01</a:t>
            </a:r>
          </a:p>
        </p:txBody>
      </p:sp>
      <p:sp>
        <p:nvSpPr>
          <p:cNvPr id="127" name="TextBox 126"/>
          <p:cNvSpPr txBox="1"/>
          <p:nvPr/>
        </p:nvSpPr>
        <p:spPr>
          <a:xfrm>
            <a:off x="1828800" y="32461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Multi-party auth in one call</a:t>
            </a:r>
          </a:p>
        </p:txBody>
      </p:sp>
      <p:sp>
        <p:nvSpPr>
          <p:cNvPr id="128" name="TextBox 127"/>
          <p:cNvSpPr txBox="1"/>
          <p:nvPr/>
        </p:nvSpPr>
        <p:spPr>
          <a:xfrm>
            <a:off x="7863840" y="3264408"/>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Soroban authorises both companies of a link inside one contract invocation: the handover is atomic.</a:t>
            </a:r>
          </a:p>
        </p:txBody>
      </p:sp>
      <p:sp>
        <p:nvSpPr>
          <p:cNvPr id="129" name="Rectangle 128"/>
          <p:cNvSpPr/>
          <p:nvPr/>
        </p:nvSpPr>
        <p:spPr>
          <a:xfrm>
            <a:off x="914400" y="44988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14400" y="46908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02</a:t>
            </a:r>
          </a:p>
        </p:txBody>
      </p:sp>
      <p:sp>
        <p:nvSpPr>
          <p:cNvPr id="131" name="TextBox 130"/>
          <p:cNvSpPr txBox="1"/>
          <p:nvPr/>
        </p:nvSpPr>
        <p:spPr>
          <a:xfrm>
            <a:off x="1828800" y="46177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History from Horizon, checked by an on-chain head</a:t>
            </a:r>
          </a:p>
        </p:txBody>
      </p:sp>
      <p:sp>
        <p:nvSpPr>
          <p:cNvPr id="132" name="TextBox 131"/>
          <p:cNvSpPr txBox="1"/>
          <p:nvPr/>
        </p:nvSpPr>
        <p:spPr>
          <a:xfrm>
            <a:off x="7863840" y="46360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RPC keeps contract events about 7 days, so we replay each shipment's transactions from Horizon and check them against the head stored in the contract.</a:t>
            </a:r>
          </a:p>
        </p:txBody>
      </p:sp>
      <p:sp>
        <p:nvSpPr>
          <p:cNvPr id="133" name="Rectangle 132"/>
          <p:cNvSpPr/>
          <p:nvPr/>
        </p:nvSpPr>
        <p:spPr>
          <a:xfrm>
            <a:off x="914400" y="58704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914400" y="6062472"/>
            <a:ext cx="914400" cy="548640"/>
          </a:xfrm>
          <a:prstGeom prst="rect">
            <a:avLst/>
          </a:prstGeom>
          <a:noFill/>
        </p:spPr>
        <p:txBody>
          <a:bodyPr wrap="square" lIns="0" rIns="0" tIns="0" bIns="0" anchor="t">
            <a:spAutoFit/>
          </a:bodyPr>
          <a:lstStyle/>
          <a:p>
            <a:pPr algn="l">
              <a:lnSpc>
                <a:spcPct val="112000"/>
              </a:lnSpc>
              <a:spcAft>
                <a:spcPts val="600"/>
              </a:spcAft>
            </a:pPr>
            <a:r>
              <a:rPr sz="2400" b="1">
                <a:solidFill>
                  <a:srgbClr val="556F00"/>
                </a:solidFill>
                <a:latin typeface="JetBrains Mono"/>
              </a:rPr>
              <a:t>03</a:t>
            </a:r>
          </a:p>
        </p:txBody>
      </p:sp>
      <p:sp>
        <p:nvSpPr>
          <p:cNvPr id="135" name="TextBox 134"/>
          <p:cNvSpPr txBox="1"/>
          <p:nvPr/>
        </p:nvSpPr>
        <p:spPr>
          <a:xfrm>
            <a:off x="1828800" y="5989320"/>
            <a:ext cx="5852160" cy="1097280"/>
          </a:xfrm>
          <a:prstGeom prst="rect">
            <a:avLst/>
          </a:prstGeom>
          <a:noFill/>
        </p:spPr>
        <p:txBody>
          <a:bodyPr wrap="square" lIns="0" rIns="0" tIns="0" bIns="0" anchor="t">
            <a:spAutoFit/>
          </a:bodyPr>
          <a:lstStyle/>
          <a:p>
            <a:pPr algn="l">
              <a:lnSpc>
                <a:spcPct val="112000"/>
              </a:lnSpc>
              <a:spcAft>
                <a:spcPts val="600"/>
              </a:spcAft>
            </a:pPr>
            <a:r>
              <a:rPr sz="3000" b="1">
                <a:solidFill>
                  <a:srgbClr val="0E0F11"/>
                </a:solidFill>
                <a:latin typeface="Inter Tight"/>
              </a:rPr>
              <a:t>Any Stellar asset</a:t>
            </a:r>
          </a:p>
        </p:txBody>
      </p:sp>
      <p:sp>
        <p:nvSpPr>
          <p:cNvPr id="136" name="TextBox 135"/>
          <p:cNvSpPr txBox="1"/>
          <p:nvPr/>
        </p:nvSpPr>
        <p:spPr>
          <a:xfrm>
            <a:off x="7863840" y="6007607"/>
            <a:ext cx="9509760" cy="1188720"/>
          </a:xfrm>
          <a:prstGeom prst="rect">
            <a:avLst/>
          </a:prstGeom>
          <a:noFill/>
        </p:spPr>
        <p:txBody>
          <a:bodyPr wrap="square" lIns="0" rIns="0" tIns="0" bIns="0" anchor="t">
            <a:spAutoFit/>
          </a:bodyPr>
          <a:lstStyle/>
          <a:p>
            <a:pPr algn="l">
              <a:lnSpc>
                <a:spcPct val="112000"/>
              </a:lnSpc>
              <a:spcAft>
                <a:spcPts val="600"/>
              </a:spcAft>
            </a:pPr>
            <a:r>
              <a:rPr sz="2200" b="0">
                <a:solidFill>
                  <a:srgbClr val="0E0F11"/>
                </a:solidFill>
                <a:latin typeface="Instrument Sans"/>
              </a:rPr>
              <a:t>The record stores a token address and never calls the token, so any tokenized Stellar asset can carry a custody record.</a:t>
            </a:r>
          </a:p>
        </p:txBody>
      </p:sp>
      <p:sp>
        <p:nvSpPr>
          <p:cNvPr id="137" name="Rectangle 136"/>
          <p:cNvSpPr/>
          <p:nvPr/>
        </p:nvSpPr>
        <p:spPr>
          <a:xfrm>
            <a:off x="914400" y="7242048"/>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8" name="TextBox 137"/>
          <p:cNvSpPr txBox="1"/>
          <p:nvPr/>
        </p:nvSpPr>
        <p:spPr>
          <a:xfrm>
            <a:off x="914400" y="7360920"/>
            <a:ext cx="16459200" cy="1463040"/>
          </a:xfrm>
          <a:prstGeom prst="rect">
            <a:avLst/>
          </a:prstGeom>
          <a:noFill/>
        </p:spPr>
        <p:txBody>
          <a:bodyPr wrap="square" lIns="0" rIns="0" tIns="0" bIns="0" anchor="t">
            <a:spAutoFit/>
          </a:bodyPr>
          <a:lstStyle/>
          <a:p>
            <a:pPr algn="l">
              <a:lnSpc>
                <a:spcPct val="105000"/>
              </a:lnSpc>
              <a:spcAft>
                <a:spcPts val="400"/>
              </a:spcAft>
            </a:pPr>
            <a:r>
              <a:rPr sz="1900" b="1">
                <a:solidFill>
                  <a:srgbClr val="0E0F11"/>
                </a:solidFill>
                <a:latin typeface="Instrument Sans"/>
              </a:rPr>
              <a:t>Stellar holds about US$4B in tokenized assets </a:t>
            </a:r>
            <a:r>
              <a:rPr sz="1900" b="0">
                <a:solidFill>
                  <a:srgbClr val="4D5560"/>
                </a:solidFill>
                <a:latin typeface="Instrument Sans"/>
              </a:rPr>
              <a:t>(SDF, as of 1 Sep 2026). </a:t>
            </a:r>
            <a:r>
              <a:rPr sz="1900" b="1">
                <a:solidFill>
                  <a:srgbClr val="0E0F11"/>
                </a:solidFill>
                <a:latin typeface="Instrument Sans"/>
              </a:rPr>
              <a:t>Nearest neighbours </a:t>
            </a:r>
            <a:r>
              <a:rPr sz="1900" b="0">
                <a:solidFill>
                  <a:srgbClr val="4D5560"/>
                </a:solidFill>
                <a:latin typeface="Instrument Sans"/>
              </a:rPr>
              <a:t>(LumenLoop, SCF, Scout, 24–25 Oct): </a:t>
            </a:r>
            <a:r>
              <a:rPr sz="1900" b="0">
                <a:solidFill>
                  <a:srgbClr val="0E0F11"/>
                </a:solidFill>
                <a:latin typeface="Instrument Sans"/>
              </a:rPr>
              <a:t>Kutana and Trustless Work release escrow on trade milestones; Pipeline finances commodity trade. None records a handover signed by two custodians; no SEP.</a:t>
            </a:r>
          </a:p>
          <a:p>
            <a:pPr algn="l">
              <a:lnSpc>
                <a:spcPct val="105000"/>
              </a:lnSpc>
              <a:spcAft>
                <a:spcPts val="400"/>
              </a:spcAft>
            </a:pPr>
            <a:r>
              <a:rPr sz="1900" b="1">
                <a:solidFill>
                  <a:srgbClr val="556F00"/>
                </a:solidFill>
                <a:latin typeface="Instrument Sans"/>
              </a:rPr>
              <a:t>Open source, Apache-2.0: </a:t>
            </a:r>
            <a:r>
              <a:rPr sz="1900" b="0">
                <a:solidFill>
                  <a:srgbClr val="0E0F11"/>
                </a:solidFill>
                <a:latin typeface="Instrument Sans"/>
              </a:rPr>
              <a:t>a custody primitive any Stellar tokenized-asset issuer can reuse. Radox will open API access to them, end to 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09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MARKET AND ASK</a:t>
            </a:r>
            <a:endParaRPr/>
          </a:p>
        </p:txBody>
      </p:sp>
      <p:sp>
        <p:nvSpPr>
          <p:cNvPr id="110" name="Google Shape;110;p14"/>
          <p:cNvSpPr/>
          <p:nvPr/>
        </p:nvSpPr>
        <p:spPr>
          <a:xfrm>
            <a:off x="914400" y="1417320"/>
            <a:ext cx="3291839"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HACKATHON PROGRESS</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Built this weekend, on disclosed prior work</a:t>
            </a:r>
          </a:p>
        </p:txBody>
      </p:sp>
      <p:sp>
        <p:nvSpPr>
          <p:cNvPr id="125" name="TextBox 124"/>
          <p:cNvSpPr txBox="1"/>
          <p:nvPr/>
        </p:nvSpPr>
        <p:spPr>
          <a:xfrm>
            <a:off x="91440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4D5560"/>
                </a:solidFill>
                <a:latin typeface="JetBrains Mono"/>
              </a:rPr>
              <a:t>PRIOR WORK · BEFORE SUN 25 OCT 09:00</a:t>
            </a:r>
          </a:p>
        </p:txBody>
      </p:sp>
      <p:sp>
        <p:nvSpPr>
          <p:cNvPr id="126" name="Rectangle 125"/>
          <p:cNvSpPr/>
          <p:nvPr/>
        </p:nvSpPr>
        <p:spPr>
          <a:xfrm>
            <a:off x="914400" y="3717036"/>
            <a:ext cx="7955279" cy="27432"/>
          </a:xfrm>
          <a:prstGeom prst="rect">
            <a:avLst/>
          </a:prstGeom>
          <a:solidFill>
            <a:srgbClr val="4D556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Radox platform (closed backend); its 3 Soroban contracts are on Stellar mainnet, public since 2026-08-19</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transfer_agent and its redeem (new testnet instance from the existing wasm)</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Architecture notes (20 Oct), planning files (24–25 Oct), the explainer video, our agent tooling (from 22 Oct)</a:t>
            </a:r>
          </a:p>
          <a:p>
            <a:pPr algn="l">
              <a:lnSpc>
                <a:spcPct val="112000"/>
              </a:lnSpc>
              <a:spcAft>
                <a:spcPts val="800"/>
              </a:spcAft>
            </a:pPr>
            <a:r>
              <a:rPr sz="2100" b="0">
                <a:solidFill>
                  <a:srgbClr val="4D5560"/>
                </a:solidFill>
                <a:latin typeface="Instrument Sans"/>
              </a:rPr>
              <a:t>— </a:t>
            </a:r>
            <a:r>
              <a:rPr sz="2100" b="0">
                <a:solidFill>
                  <a:srgbClr val="0E0F11"/>
                </a:solidFill>
                <a:latin typeface="Instrument Sans"/>
              </a:rPr>
              <a:t>No contract code before then: first repo commit 25 Oct 09:00 UTC</a:t>
            </a:r>
          </a:p>
        </p:txBody>
      </p:sp>
      <p:sp>
        <p:nvSpPr>
          <p:cNvPr id="128" name="TextBox 127"/>
          <p:cNvSpPr txBox="1"/>
          <p:nvPr/>
        </p:nvSpPr>
        <p:spPr>
          <a:xfrm>
            <a:off x="9418320" y="3200400"/>
            <a:ext cx="7955279" cy="45720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BUILT AT HACKMERIDIAN</a:t>
            </a:r>
          </a:p>
        </p:txBody>
      </p:sp>
      <p:sp>
        <p:nvSpPr>
          <p:cNvPr id="129" name="Rectangle 128"/>
          <p:cNvSpPr/>
          <p:nvPr/>
        </p:nvSpPr>
        <p:spPr>
          <a:xfrm>
            <a:off x="9418320" y="3717036"/>
            <a:ext cx="7955279"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9418320" y="3886200"/>
            <a:ext cx="7955279" cy="3383280"/>
          </a:xfrm>
          <a:prstGeom prst="rect">
            <a:avLst/>
          </a:prstGeom>
          <a:noFill/>
        </p:spPr>
        <p:txBody>
          <a:bodyPr wrap="square" lIns="0" rIns="0" tIns="0" bIns="0" anchor="t">
            <a:spAutoFit/>
          </a:bodyPr>
          <a:lstStyle/>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custody_registry contract, 24 unit tests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Lifecycle harness: 7 testnet transactions, 9 refused calls</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verify-head script, the public shipment page, this deck</a:t>
            </a:r>
          </a:p>
          <a:p>
            <a:pPr algn="l">
              <a:lnSpc>
                <a:spcPct val="112000"/>
              </a:lnSpc>
              <a:spcAft>
                <a:spcPts val="800"/>
              </a:spcAft>
            </a:pPr>
            <a:r>
              <a:rPr sz="2100" b="0">
                <a:solidFill>
                  <a:srgbClr val="556F00"/>
                </a:solidFill>
                <a:latin typeface="Instrument Sans"/>
              </a:rPr>
              <a:t>— </a:t>
            </a:r>
            <a:r>
              <a:rPr sz="2100" b="0">
                <a:solidFill>
                  <a:srgbClr val="0E0F11"/>
                </a:solidFill>
                <a:latin typeface="Instrument Sans"/>
              </a:rPr>
              <a:t>Radox API custody route reads the registry, read-only: same head (testnet)</a:t>
            </a:r>
          </a:p>
        </p:txBody>
      </p:sp>
      <p:sp>
        <p:nvSpPr>
          <p:cNvPr id="131" name="Rounded Rectangle 130"/>
          <p:cNvSpPr/>
          <p:nvPr/>
        </p:nvSpPr>
        <p:spPr>
          <a:xfrm>
            <a:off x="914400" y="7315200"/>
            <a:ext cx="16459200" cy="1325880"/>
          </a:xfrm>
          <a:prstGeom prst="roundRect">
            <a:avLst>
              <a:gd name="adj" fmla="val 11034"/>
            </a:avLst>
          </a:prstGeom>
          <a:solidFill>
            <a:srgbClr val="FFFFFF"/>
          </a:solidFill>
          <a:ln w="12700">
            <a:solidFill>
              <a:srgbClr val="DFDDD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TextBox 131"/>
          <p:cNvSpPr txBox="1"/>
          <p:nvPr/>
        </p:nvSpPr>
        <p:spPr>
          <a:xfrm>
            <a:off x="1234440" y="7424927"/>
            <a:ext cx="15819120" cy="1097280"/>
          </a:xfrm>
          <a:prstGeom prst="rect">
            <a:avLst/>
          </a:prstGeom>
          <a:noFill/>
        </p:spPr>
        <p:txBody>
          <a:bodyPr wrap="square" lIns="0" rIns="0" tIns="0" bIns="0" anchor="ctr">
            <a:spAutoFit/>
          </a:bodyPr>
          <a:lstStyle/>
          <a:p>
            <a:pPr algn="l">
              <a:lnSpc>
                <a:spcPct val="112000"/>
              </a:lnSpc>
              <a:spcAft>
                <a:spcPts val="600"/>
              </a:spcAft>
            </a:pPr>
            <a:r>
              <a:rPr sz="1800" b="1">
                <a:solidFill>
                  <a:srgbClr val="556F00"/>
                </a:solidFill>
                <a:latin typeface="JetBrains Mono"/>
              </a:rPr>
              <a:t>AI attribution  </a:t>
            </a:r>
            <a:r>
              <a:rPr sz="2000" b="0">
                <a:solidFill>
                  <a:srgbClr val="0E0F11"/>
                </a:solidFill>
                <a:latin typeface="Instrument Sans"/>
              </a:rPr>
              <a:t>Code, tests, scripts, the shipment page, docs and this deck were made with AI coding agents (Claude Code); the team decided scope and what ships. Per-file record in AI_USAGE.md. The video narration is an AI voice generated from Pedro's voice.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10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NEXT ▸ THE TEAM</a:t>
            </a:r>
            <a:endParaRPr/>
          </a:p>
        </p:txBody>
      </p:sp>
      <p:sp>
        <p:nvSpPr>
          <p:cNvPr id="110" name="Google Shape;110;p14"/>
          <p:cNvSpPr/>
          <p:nvPr/>
        </p:nvSpPr>
        <p:spPr>
          <a:xfrm>
            <a:off x="914400" y="1417320"/>
            <a:ext cx="411480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MARKET · MODEL · THE ASK</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One rail, every corridor</a:t>
            </a:r>
          </a:p>
        </p:txBody>
      </p:sp>
      <p:sp>
        <p:nvSpPr>
          <p:cNvPr id="125" name="TextBox 124"/>
          <p:cNvSpPr txBox="1"/>
          <p:nvPr/>
        </p:nvSpPr>
        <p:spPr>
          <a:xfrm>
            <a:off x="914400" y="3017520"/>
            <a:ext cx="9692640" cy="36576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MARKET · SOURCED FIGURES</a:t>
            </a:r>
          </a:p>
        </p:txBody>
      </p:sp>
      <p:sp>
        <p:nvSpPr>
          <p:cNvPr id="126" name="Rectangle 125"/>
          <p:cNvSpPr/>
          <p:nvPr/>
        </p:nvSpPr>
        <p:spPr>
          <a:xfrm>
            <a:off x="914400" y="3442715"/>
            <a:ext cx="9692640" cy="27432"/>
          </a:xfrm>
          <a:prstGeom prst="rect">
            <a:avLst/>
          </a:prstGeom>
          <a:solidFill>
            <a:srgbClr val="556F0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TextBox 126"/>
          <p:cNvSpPr txBox="1"/>
          <p:nvPr/>
        </p:nvSpPr>
        <p:spPr>
          <a:xfrm>
            <a:off x="91440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US$94.2B</a:t>
            </a:r>
          </a:p>
        </p:txBody>
      </p:sp>
      <p:sp>
        <p:nvSpPr>
          <p:cNvPr id="128" name="TextBox 127"/>
          <p:cNvSpPr txBox="1"/>
          <p:nvPr/>
        </p:nvSpPr>
        <p:spPr>
          <a:xfrm>
            <a:off x="91440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US–Brazil goods trade, 2025¹</a:t>
            </a:r>
          </a:p>
        </p:txBody>
      </p:sp>
      <p:sp>
        <p:nvSpPr>
          <p:cNvPr id="129" name="TextBox 128"/>
          <p:cNvSpPr txBox="1"/>
          <p:nvPr/>
        </p:nvSpPr>
        <p:spPr>
          <a:xfrm>
            <a:off x="5852160" y="3611880"/>
            <a:ext cx="4663440" cy="777240"/>
          </a:xfrm>
          <a:prstGeom prst="rect">
            <a:avLst/>
          </a:prstGeom>
          <a:noFill/>
        </p:spPr>
        <p:txBody>
          <a:bodyPr wrap="square" lIns="0" rIns="0" tIns="0" bIns="0" anchor="t">
            <a:spAutoFit/>
          </a:bodyPr>
          <a:lstStyle/>
          <a:p>
            <a:pPr algn="l">
              <a:lnSpc>
                <a:spcPct val="95000"/>
              </a:lnSpc>
              <a:spcAft>
                <a:spcPts val="600"/>
              </a:spcAft>
            </a:pPr>
            <a:r>
              <a:rPr sz="4800" b="1">
                <a:solidFill>
                  <a:srgbClr val="0E0F11"/>
                </a:solidFill>
                <a:latin typeface="Inter Tight"/>
              </a:rPr>
              <a:t>US$6.1B</a:t>
            </a:r>
          </a:p>
        </p:txBody>
      </p:sp>
      <p:sp>
        <p:nvSpPr>
          <p:cNvPr id="130" name="TextBox 129"/>
          <p:cNvSpPr txBox="1"/>
          <p:nvPr/>
        </p:nvSpPr>
        <p:spPr>
          <a:xfrm>
            <a:off x="5852160" y="4389120"/>
            <a:ext cx="46634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Florida's goods exports to Brazil, its #1 market, 2025²</a:t>
            </a:r>
          </a:p>
        </p:txBody>
      </p:sp>
      <p:sp>
        <p:nvSpPr>
          <p:cNvPr id="131" name="TextBox 130"/>
          <p:cNvSpPr txBox="1"/>
          <p:nvPr/>
        </p:nvSpPr>
        <p:spPr>
          <a:xfrm>
            <a:off x="914400" y="5230368"/>
            <a:ext cx="9692640" cy="731520"/>
          </a:xfrm>
          <a:prstGeom prst="rect">
            <a:avLst/>
          </a:prstGeom>
          <a:noFill/>
        </p:spPr>
        <p:txBody>
          <a:bodyPr wrap="square" lIns="0" rIns="0" tIns="0" bIns="0" anchor="t">
            <a:spAutoFit/>
          </a:bodyPr>
          <a:lstStyle/>
          <a:p>
            <a:pPr algn="l">
              <a:lnSpc>
                <a:spcPct val="112000"/>
              </a:lnSpc>
              <a:spcAft>
                <a:spcPts val="600"/>
              </a:spcAft>
            </a:pPr>
            <a:r>
              <a:rPr sz="2000" b="1">
                <a:solidFill>
                  <a:srgbClr val="0E0F11"/>
                </a:solidFill>
                <a:latin typeface="Instrument Sans"/>
              </a:rPr>
              <a:t>Global: </a:t>
            </a:r>
            <a:r>
              <a:rPr sz="2000" b="0">
                <a:solidFill>
                  <a:srgbClr val="0E0F11"/>
                </a:solidFill>
                <a:latin typeface="Instrument Sans"/>
              </a:rPr>
              <a:t>US$26.26T world merchandise exports, 2025³; ~80% of goods trade by volume goes by sea⁴; ~45M ocean bills of lading a year⁵.</a:t>
            </a:r>
          </a:p>
        </p:txBody>
      </p:sp>
      <p:sp>
        <p:nvSpPr>
          <p:cNvPr id="132" name="TextBox 131"/>
          <p:cNvSpPr txBox="1"/>
          <p:nvPr/>
        </p:nvSpPr>
        <p:spPr>
          <a:xfrm>
            <a:off x="11338560" y="3017520"/>
            <a:ext cx="6035040" cy="365760"/>
          </a:xfrm>
          <a:prstGeom prst="rect">
            <a:avLst/>
          </a:prstGeom>
          <a:noFill/>
        </p:spPr>
        <p:txBody>
          <a:bodyPr wrap="square" lIns="0" rIns="0" tIns="0" bIns="0" anchor="t">
            <a:spAutoFit/>
          </a:bodyPr>
          <a:lstStyle/>
          <a:p>
            <a:pPr algn="l">
              <a:lnSpc>
                <a:spcPct val="112000"/>
              </a:lnSpc>
              <a:spcAft>
                <a:spcPts val="600"/>
              </a:spcAft>
            </a:pPr>
            <a:r>
              <a:rPr sz="1800" b="1">
                <a:solidFill>
                  <a:srgbClr val="0E0F11"/>
                </a:solidFill>
                <a:latin typeface="JetBrains Mono"/>
              </a:rPr>
              <a:t>MODEL</a:t>
            </a:r>
          </a:p>
        </p:txBody>
      </p:sp>
      <p:sp>
        <p:nvSpPr>
          <p:cNvPr id="133" name="Rectangle 132"/>
          <p:cNvSpPr/>
          <p:nvPr/>
        </p:nvSpPr>
        <p:spPr>
          <a:xfrm>
            <a:off x="11338560" y="3442715"/>
            <a:ext cx="6035040" cy="27432"/>
          </a:xfrm>
          <a:prstGeom prst="rect">
            <a:avLst/>
          </a:prstGeom>
          <a:solidFill>
            <a:srgbClr val="0E0F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4" name="TextBox 133"/>
          <p:cNvSpPr txBox="1"/>
          <p:nvPr/>
        </p:nvSpPr>
        <p:spPr>
          <a:xfrm>
            <a:off x="11338560" y="3611880"/>
            <a:ext cx="6035040" cy="1280160"/>
          </a:xfrm>
          <a:prstGeom prst="rect">
            <a:avLst/>
          </a:prstGeom>
          <a:noFill/>
        </p:spPr>
        <p:txBody>
          <a:bodyPr wrap="square" lIns="0" rIns="0" tIns="0" bIns="0" anchor="t">
            <a:spAutoFit/>
          </a:bodyPr>
          <a:lstStyle/>
          <a:p>
            <a:pPr algn="l">
              <a:lnSpc>
                <a:spcPct val="100000"/>
              </a:lnSpc>
              <a:spcAft>
                <a:spcPts val="600"/>
              </a:spcAft>
            </a:pPr>
            <a:r>
              <a:rPr sz="2600" b="1">
                <a:solidFill>
                  <a:srgbClr val="0E0F11"/>
                </a:solidFill>
                <a:latin typeface="Inter Tight"/>
              </a:rPr>
              <a:t>Subscription per connected institution + a fee per shipment.</a:t>
            </a:r>
          </a:p>
        </p:txBody>
      </p:sp>
      <p:sp>
        <p:nvSpPr>
          <p:cNvPr id="135" name="TextBox 134"/>
          <p:cNvSpPr txBox="1"/>
          <p:nvPr/>
        </p:nvSpPr>
        <p:spPr>
          <a:xfrm>
            <a:off x="11338560" y="4800600"/>
            <a:ext cx="6035040" cy="128016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Borrows the shape of Swift's billing rules: entry, annual, per-message usage⁶. Not affiliated with Swift.</a:t>
            </a:r>
          </a:p>
        </p:txBody>
      </p:sp>
      <p:sp>
        <p:nvSpPr>
          <p:cNvPr id="136" name="TextBox 135"/>
          <p:cNvSpPr txBox="1"/>
          <p:nvPr/>
        </p:nvSpPr>
        <p:spPr>
          <a:xfrm>
            <a:off x="914400" y="6035040"/>
            <a:ext cx="16459200" cy="411480"/>
          </a:xfrm>
          <a:prstGeom prst="rect">
            <a:avLst/>
          </a:prstGeom>
          <a:noFill/>
        </p:spPr>
        <p:txBody>
          <a:bodyPr wrap="square" lIns="0" rIns="0" tIns="0" bIns="0" anchor="t">
            <a:spAutoFit/>
          </a:bodyPr>
          <a:lstStyle/>
          <a:p>
            <a:pPr algn="l">
              <a:lnSpc>
                <a:spcPct val="112000"/>
              </a:lnSpc>
              <a:spcAft>
                <a:spcPts val="600"/>
              </a:spcAft>
            </a:pPr>
            <a:r>
              <a:rPr sz="2000" b="1">
                <a:solidFill>
                  <a:srgbClr val="556F00"/>
                </a:solidFill>
                <a:latin typeface="JetBrains Mono"/>
              </a:rPr>
              <a:t>Now </a:t>
            </a:r>
            <a:r>
              <a:rPr sz="2000" b="0">
                <a:solidFill>
                  <a:srgbClr val="0E0F11"/>
                </a:solidFill>
                <a:latin typeface="Instrument Sans"/>
              </a:rPr>
              <a:t>running on testnet, test keys.  </a:t>
            </a:r>
            <a:r>
              <a:rPr sz="2000" b="1">
                <a:solidFill>
                  <a:srgbClr val="556F00"/>
                </a:solidFill>
                <a:latin typeface="JetBrains Mono"/>
              </a:rPr>
              <a:t>Next </a:t>
            </a:r>
            <a:r>
              <a:rPr sz="2000" b="0">
                <a:solidFill>
                  <a:srgbClr val="0E0F11"/>
                </a:solidFill>
                <a:latin typeface="Instrument Sans"/>
              </a:rPr>
              <a:t>the Rio–Miami pilot shipment, SCF Build, audit, mainnet, API for other Stellar assets.</a:t>
            </a:r>
          </a:p>
        </p:txBody>
      </p:sp>
      <p:sp>
        <p:nvSpPr>
          <p:cNvPr id="137" name="TextBox 136"/>
          <p:cNvSpPr txBox="1"/>
          <p:nvPr/>
        </p:nvSpPr>
        <p:spPr>
          <a:xfrm>
            <a:off x="914400" y="6510528"/>
            <a:ext cx="16459200" cy="640080"/>
          </a:xfrm>
          <a:prstGeom prst="rect">
            <a:avLst/>
          </a:prstGeom>
          <a:noFill/>
        </p:spPr>
        <p:txBody>
          <a:bodyPr wrap="square" lIns="0" rIns="0" tIns="0" bIns="0" anchor="t">
            <a:spAutoFit/>
          </a:bodyPr>
          <a:lstStyle/>
          <a:p>
            <a:pPr algn="l">
              <a:lnSpc>
                <a:spcPct val="100000"/>
              </a:lnSpc>
              <a:spcAft>
                <a:spcPts val="0"/>
              </a:spcAft>
            </a:pPr>
            <a:r>
              <a:rPr sz="1800" b="0">
                <a:solidFill>
                  <a:srgbClr val="4D5560"/>
                </a:solidFill>
                <a:latin typeface="Instrument Sans"/>
              </a:rPr>
              <a:t>¹ US Census Bureau, Trade in Goods with Brazil, 2025 (exports + imports, sum ours)  ² USTR, Florida trade data, 2025  ³ WTO, Mar 2026  ⁴ UNCTAD, Review of Maritime Transport (undated page, opened 25 Oct 2026)  ⁵ DCSA, Feb 2023  ⁶ swift.com billing rules, accessed 25 Oct 2026</a:t>
            </a:r>
          </a:p>
        </p:txBody>
      </p:sp>
      <p:sp>
        <p:nvSpPr>
          <p:cNvPr id="138" name="Rounded Rectangle 137"/>
          <p:cNvSpPr/>
          <p:nvPr/>
        </p:nvSpPr>
        <p:spPr>
          <a:xfrm>
            <a:off x="914400" y="7223760"/>
            <a:ext cx="16459200" cy="1234440"/>
          </a:xfrm>
          <a:prstGeom prst="roundRect">
            <a:avLst>
              <a:gd name="adj" fmla="val 11851"/>
            </a:avLst>
          </a:prstGeom>
          <a:solidFill>
            <a:srgbClr val="C6F24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TextBox 138"/>
          <p:cNvSpPr txBox="1"/>
          <p:nvPr/>
        </p:nvSpPr>
        <p:spPr>
          <a:xfrm>
            <a:off x="1325880" y="7223760"/>
            <a:ext cx="15636240" cy="1234440"/>
          </a:xfrm>
          <a:prstGeom prst="rect">
            <a:avLst/>
          </a:prstGeom>
          <a:noFill/>
        </p:spPr>
        <p:txBody>
          <a:bodyPr wrap="square" lIns="0" rIns="0" tIns="0" bIns="0" anchor="ctr">
            <a:spAutoFit/>
          </a:bodyPr>
          <a:lstStyle/>
          <a:p>
            <a:pPr algn="l">
              <a:lnSpc>
                <a:spcPct val="112000"/>
              </a:lnSpc>
              <a:spcAft>
                <a:spcPts val="600"/>
              </a:spcAft>
            </a:pPr>
            <a:r>
              <a:rPr sz="2000" b="1">
                <a:solidFill>
                  <a:srgbClr val="0E0F11"/>
                </a:solidFill>
                <a:latin typeface="JetBrains Mono"/>
              </a:rPr>
              <a:t>Our ask  </a:t>
            </a:r>
            <a:r>
              <a:rPr sz="2400" b="1">
                <a:solidFill>
                  <a:srgbClr val="0E0F11"/>
                </a:solidFill>
                <a:latin typeface="Instrument Sans"/>
              </a:rPr>
              <a:t>Introductions to one financial institution and one port, airport or logistics operator for a first pilot shipment, and a Stellar engineer's review of the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p:bgPr>
    </p:bg>
    <p:spTree>
      <p:nvGrpSpPr>
        <p:cNvPr id="1" name=""/>
        <p:cNvGrpSpPr/>
        <p:nvPr/>
      </p:nvGrpSpPr>
      <p:grpSpPr/>
      <p:sp>
        <p:nvSpPr>
          <p:cNvPr id="106" name="Google Shape;106;p14"/>
          <p:cNvSpPr/>
          <p:nvPr/>
        </p:nvSpPr>
        <p:spPr>
          <a:xfrm>
            <a:off x="0" y="0"/>
            <a:ext cx="18288000" cy="731520"/>
          </a:xfrm>
          <a:prstGeom prst="rect">
            <a:avLst/>
          </a:prstGeom>
          <a:solidFill>
            <a:srgbClr val="0F0F0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07" name="Google Shape;107;p14"/>
          <p:cNvSpPr txBox="1"/>
          <p:nvPr/>
        </p:nvSpPr>
        <p:spPr>
          <a:xfrm>
            <a:off x="914400" y="201168"/>
            <a:ext cx="4572000" cy="329184"/>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1400" u="none" cap="none" strike="noStrike">
                <a:solidFill>
                  <a:srgbClr val="C6F24E"/>
                </a:solidFill>
                <a:latin typeface="JetBrains Mono"/>
                <a:ea typeface="JetBrains Mono"/>
                <a:cs typeface="JetBrains Mono"/>
                <a:sym typeface="JetBrains Mono"/>
              </a:rPr>
              <a:t>PLATFORM 11 / 11</a:t>
            </a:r>
            <a:endParaRPr/>
          </a:p>
        </p:txBody>
      </p:sp>
      <p:sp>
        <p:nvSpPr>
          <p:cNvPr id="108" name="Google Shape;108;p14"/>
          <p:cNvSpPr txBox="1"/>
          <p:nvPr/>
        </p:nvSpPr>
        <p:spPr>
          <a:xfrm>
            <a:off x="5486400" y="201168"/>
            <a:ext cx="7315200" cy="329184"/>
          </a:xfrm>
          <a:prstGeom prst="rect">
            <a:avLst/>
          </a:prstGeom>
          <a:noFill/>
          <a:ln>
            <a:noFill/>
          </a:ln>
        </p:spPr>
        <p:txBody>
          <a:bodyPr anchorCtr="0" anchor="ctr" bIns="0" lIns="0" spcFirstLastPara="1" rIns="0" wrap="square" tIns="0">
            <a:spAutoFit/>
          </a:bodyPr>
          <a:lstStyle/>
          <a:p>
            <a:pPr indent="0" lvl="0" marL="0" marR="0" rtl="0" algn="ct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HACKMERIDIAN 2026 · LISBON</a:t>
            </a:r>
            <a:endParaRPr/>
          </a:p>
        </p:txBody>
      </p:sp>
      <p:sp>
        <p:nvSpPr>
          <p:cNvPr id="109" name="Google Shape;109;p14"/>
          <p:cNvSpPr txBox="1"/>
          <p:nvPr/>
        </p:nvSpPr>
        <p:spPr>
          <a:xfrm>
            <a:off x="12801600" y="201168"/>
            <a:ext cx="4572000" cy="329184"/>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400" u="none" cap="none" strike="noStrike">
                <a:solidFill>
                  <a:srgbClr val="FFFFFF"/>
                </a:solidFill>
                <a:latin typeface="JetBrains Mono"/>
                <a:ea typeface="JetBrains Mono"/>
                <a:cs typeface="JetBrains Mono"/>
                <a:sym typeface="JetBrains Mono"/>
              </a:rPr>
              <a:t>FINAL STOP</a:t>
            </a:r>
            <a:endParaRPr/>
          </a:p>
        </p:txBody>
      </p:sp>
      <p:sp>
        <p:nvSpPr>
          <p:cNvPr id="110" name="Google Shape;110;p14"/>
          <p:cNvSpPr/>
          <p:nvPr/>
        </p:nvSpPr>
        <p:spPr>
          <a:xfrm>
            <a:off x="914400" y="1417320"/>
            <a:ext cx="1920240" cy="475488"/>
          </a:xfrm>
          <a:prstGeom prst="roundRect">
            <a:avLst>
              <a:gd fmla="val 50000" name="adj"/>
            </a:avLst>
          </a:prstGeom>
          <a:solidFill>
            <a:srgbClr val="C6F24E"/>
          </a:solid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US" sz="1800" u="none" cap="none" strike="noStrike">
                <a:solidFill>
                  <a:srgbClr val="0E0F11"/>
                </a:solidFill>
                <a:latin typeface="JetBrains Mono"/>
                <a:ea typeface="JetBrains Mono"/>
                <a:cs typeface="JetBrains Mono"/>
                <a:sym typeface="JetBrains Mono"/>
              </a:rPr>
              <a:t>THE TEAM</a:t>
            </a:r>
            <a:endParaRPr/>
          </a:p>
        </p:txBody>
      </p:sp>
      <p:sp>
        <p:nvSpPr>
          <p:cNvPr id="121" name="Google Shape;121;p14"/>
          <p:cNvSpPr/>
          <p:nvPr/>
        </p:nvSpPr>
        <p:spPr>
          <a:xfrm>
            <a:off x="914400" y="8915400"/>
            <a:ext cx="16459200" cy="13716"/>
          </a:xfrm>
          <a:prstGeom prst="rect">
            <a:avLst/>
          </a:prstGeom>
          <a:solidFill>
            <a:srgbClr val="DFDD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Instrument Sans"/>
              <a:ea typeface="Instrument Sans"/>
              <a:cs typeface="Instrument Sans"/>
              <a:sym typeface="Instrument Sans"/>
            </a:endParaRPr>
          </a:p>
        </p:txBody>
      </p:sp>
      <p:sp>
        <p:nvSpPr>
          <p:cNvPr id="122" name="Google Shape;122;p14"/>
          <p:cNvSpPr txBox="1"/>
          <p:nvPr/>
        </p:nvSpPr>
        <p:spPr>
          <a:xfrm>
            <a:off x="914400" y="9253728"/>
            <a:ext cx="9144000" cy="32004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C5C5C"/>
                </a:solidFill>
                <a:latin typeface="JetBrains Mono"/>
                <a:ea typeface="JetBrains Mono"/>
                <a:cs typeface="JetBrains Mono"/>
                <a:sym typeface="JetBrains Mono"/>
              </a:rPr>
              <a:t>© 2026 HackMeridian · Lisbon  ·  #HackMeridian26</a:t>
            </a:r>
            <a:endParaRPr/>
          </a:p>
        </p:txBody>
      </p:sp>
      <p:pic>
        <p:nvPicPr>
          <p:cNvPr id="123" name="Picture 122" descr="image.png"/>
          <p:cNvPicPr>
            <a:picLocks noChangeAspect="1"/>
          </p:cNvPicPr>
          <p:nvPr/>
        </p:nvPicPr>
        <p:blipFill>
          <a:blip r:embed="rId2"/>
          <a:stretch>
            <a:fillRect/>
          </a:stretch>
        </p:blipFill>
        <p:spPr>
          <a:xfrm>
            <a:off x="14859000" y="9171432"/>
            <a:ext cx="2517969" cy="438912"/>
          </a:xfrm>
          <a:prstGeom prst="rect">
            <a:avLst/>
          </a:prstGeom>
        </p:spPr>
      </p:pic>
      <p:sp>
        <p:nvSpPr>
          <p:cNvPr id="124" name="TextBox 123"/>
          <p:cNvSpPr txBox="1"/>
          <p:nvPr/>
        </p:nvSpPr>
        <p:spPr>
          <a:xfrm>
            <a:off x="914400" y="2011680"/>
            <a:ext cx="16459200" cy="1005840"/>
          </a:xfrm>
          <a:prstGeom prst="rect">
            <a:avLst/>
          </a:prstGeom>
          <a:noFill/>
        </p:spPr>
        <p:txBody>
          <a:bodyPr wrap="square" lIns="0" rIns="0" tIns="0" bIns="0" anchor="t">
            <a:spAutoFit/>
          </a:bodyPr>
          <a:lstStyle/>
          <a:p>
            <a:pPr algn="l">
              <a:lnSpc>
                <a:spcPct val="100000"/>
              </a:lnSpc>
              <a:spcAft>
                <a:spcPts val="600"/>
              </a:spcAft>
            </a:pPr>
            <a:r>
              <a:rPr sz="5800" b="1">
                <a:solidFill>
                  <a:srgbClr val="0E0F11"/>
                </a:solidFill>
                <a:latin typeface="Inter Tight"/>
              </a:rPr>
              <a:t>Why us: a founder already on Stellar mainnet</a:t>
            </a:r>
          </a:p>
        </p:txBody>
      </p:sp>
      <p:sp>
        <p:nvSpPr>
          <p:cNvPr id="125" name="TextBox 124"/>
          <p:cNvSpPr txBox="1"/>
          <p:nvPr/>
        </p:nvSpPr>
        <p:spPr>
          <a:xfrm>
            <a:off x="914400" y="3108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Pedro Wakigawa Saragossy</a:t>
            </a:r>
          </a:p>
          <a:p>
            <a:pPr algn="l">
              <a:lnSpc>
                <a:spcPct val="112000"/>
              </a:lnSpc>
              <a:spcAft>
                <a:spcPts val="400"/>
              </a:spcAft>
            </a:pPr>
            <a:r>
              <a:rPr sz="2100" b="0">
                <a:solidFill>
                  <a:srgbClr val="0E0F11"/>
                </a:solidFill>
                <a:latin typeface="Instrument Sans"/>
              </a:rPr>
              <a:t>Founder, captain. Built Radox: 3 Soroban contracts on Stellar mainnet.</a:t>
            </a:r>
          </a:p>
        </p:txBody>
      </p:sp>
      <p:sp>
        <p:nvSpPr>
          <p:cNvPr id="126" name="TextBox 125"/>
          <p:cNvSpPr txBox="1"/>
          <p:nvPr/>
        </p:nvSpPr>
        <p:spPr>
          <a:xfrm>
            <a:off x="914400" y="4251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Leo Schlanger</a:t>
            </a:r>
          </a:p>
          <a:p>
            <a:pPr algn="l">
              <a:lnSpc>
                <a:spcPct val="112000"/>
              </a:lnSpc>
              <a:spcAft>
                <a:spcPts val="400"/>
              </a:spcAft>
            </a:pPr>
            <a:r>
              <a:rPr sz="2100" b="0">
                <a:solidFill>
                  <a:srgbClr val="0E0F11"/>
                </a:solidFill>
                <a:latin typeface="Instrument Sans"/>
              </a:rPr>
              <a:t>Developer: custody_registry, the testnet harness and the proofs.</a:t>
            </a:r>
          </a:p>
        </p:txBody>
      </p:sp>
      <p:sp>
        <p:nvSpPr>
          <p:cNvPr id="127" name="TextBox 126"/>
          <p:cNvSpPr txBox="1"/>
          <p:nvPr/>
        </p:nvSpPr>
        <p:spPr>
          <a:xfrm>
            <a:off x="914400" y="5394960"/>
            <a:ext cx="9875520" cy="1188720"/>
          </a:xfrm>
          <a:prstGeom prst="rect">
            <a:avLst/>
          </a:prstGeom>
          <a:noFill/>
        </p:spPr>
        <p:txBody>
          <a:bodyPr wrap="square" lIns="0" rIns="0" tIns="0" bIns="0" anchor="t">
            <a:spAutoFit/>
          </a:bodyPr>
          <a:lstStyle/>
          <a:p>
            <a:pPr algn="l">
              <a:lnSpc>
                <a:spcPct val="112000"/>
              </a:lnSpc>
              <a:spcAft>
                <a:spcPts val="400"/>
              </a:spcAft>
            </a:pPr>
            <a:r>
              <a:rPr sz="3000" b="1">
                <a:solidFill>
                  <a:srgbClr val="0E0F11"/>
                </a:solidFill>
                <a:latin typeface="Inter Tight"/>
              </a:rPr>
              <a:t>Vhendala</a:t>
            </a:r>
          </a:p>
          <a:p>
            <a:pPr algn="l">
              <a:lnSpc>
                <a:spcPct val="112000"/>
              </a:lnSpc>
              <a:spcAft>
                <a:spcPts val="400"/>
              </a:spcAft>
            </a:pPr>
            <a:r>
              <a:rPr sz="2100" b="0">
                <a:solidFill>
                  <a:srgbClr val="0E0F11"/>
                </a:solidFill>
                <a:latin typeface="Instrument Sans"/>
              </a:rPr>
              <a:t>QA and product review: reads every deliverable as a judge would.</a:t>
            </a:r>
          </a:p>
        </p:txBody>
      </p:sp>
      <p:sp>
        <p:nvSpPr>
          <p:cNvPr id="128" name="TextBox 127"/>
          <p:cNvSpPr txBox="1"/>
          <p:nvPr/>
        </p:nvSpPr>
        <p:spPr>
          <a:xfrm>
            <a:off x="914400" y="6537960"/>
            <a:ext cx="9692640" cy="457200"/>
          </a:xfrm>
          <a:prstGeom prst="rect">
            <a:avLst/>
          </a:prstGeom>
          <a:noFill/>
        </p:spPr>
        <p:txBody>
          <a:bodyPr wrap="square" lIns="0" rIns="0" tIns="0" bIns="0" anchor="t">
            <a:spAutoFit/>
          </a:bodyPr>
          <a:lstStyle/>
          <a:p>
            <a:pPr algn="l">
              <a:lnSpc>
                <a:spcPct val="112000"/>
              </a:lnSpc>
              <a:spcAft>
                <a:spcPts val="600"/>
              </a:spcAft>
            </a:pPr>
            <a:r>
              <a:rPr sz="2000" b="0">
                <a:solidFill>
                  <a:srgbClr val="4D5560"/>
                </a:solidFill>
                <a:latin typeface="Instrument Sans"/>
              </a:rPr>
              <a:t>Leo and Vhendala joined for the hackathon.</a:t>
            </a:r>
          </a:p>
        </p:txBody>
      </p:sp>
      <p:sp>
        <p:nvSpPr>
          <p:cNvPr id="129" name="Rounded Rectangle 128"/>
          <p:cNvSpPr/>
          <p:nvPr/>
        </p:nvSpPr>
        <p:spPr>
          <a:xfrm>
            <a:off x="11338560" y="3108960"/>
            <a:ext cx="6035040" cy="3657600"/>
          </a:xfrm>
          <a:prstGeom prst="roundRect">
            <a:avLst>
              <a:gd name="adj" fmla="val 4000"/>
            </a:avLst>
          </a:prstGeom>
          <a:noFill/>
          <a:ln w="12700">
            <a:solidFill>
              <a:srgbClr val="4D5560"/>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0" name="TextBox 129"/>
          <p:cNvSpPr txBox="1"/>
          <p:nvPr/>
        </p:nvSpPr>
        <p:spPr>
          <a:xfrm>
            <a:off x="11338560" y="3108960"/>
            <a:ext cx="6035040" cy="3657600"/>
          </a:xfrm>
          <a:prstGeom prst="rect">
            <a:avLst/>
          </a:prstGeom>
          <a:noFill/>
        </p:spPr>
        <p:txBody>
          <a:bodyPr wrap="square" lIns="0" rIns="0" tIns="0" bIns="0" anchor="ctr">
            <a:spAutoFit/>
          </a:bodyPr>
          <a:lstStyle/>
          <a:p>
            <a:pPr algn="ctr">
              <a:lnSpc>
                <a:spcPct val="112000"/>
              </a:lnSpc>
              <a:spcAft>
                <a:spcPts val="600"/>
              </a:spcAft>
            </a:pPr>
            <a:r>
              <a:rPr sz="2200" b="0">
                <a:solidFill>
                  <a:srgbClr val="4D5560"/>
                </a:solidFill>
                <a:latin typeface="Instrument Sans"/>
              </a:rPr>
              <a:t>Team photo</a:t>
            </a:r>
          </a:p>
        </p:txBody>
      </p:sp>
      <p:sp>
        <p:nvSpPr>
          <p:cNvPr id="131" name="TextBox 130"/>
          <p:cNvSpPr txBox="1"/>
          <p:nvPr/>
        </p:nvSpPr>
        <p:spPr>
          <a:xfrm>
            <a:off x="914400" y="6995160"/>
            <a:ext cx="16459200" cy="548640"/>
          </a:xfrm>
          <a:prstGeom prst="rect">
            <a:avLst/>
          </a:prstGeom>
          <a:noFill/>
        </p:spPr>
        <p:txBody>
          <a:bodyPr wrap="square" lIns="0" rIns="0" tIns="0" bIns="0" anchor="t">
            <a:spAutoFit/>
          </a:bodyPr>
          <a:lstStyle/>
          <a:p>
            <a:pPr algn="l">
              <a:lnSpc>
                <a:spcPct val="112000"/>
              </a:lnSpc>
              <a:spcAft>
                <a:spcPts val="600"/>
              </a:spcAft>
            </a:pPr>
            <a:r>
              <a:rPr sz="2800" b="1">
                <a:solidFill>
                  <a:srgbClr val="556F00"/>
                </a:solidFill>
                <a:latin typeface="Inter Tight"/>
              </a:rPr>
              <a:t>Rio–Miami first. Our goal: one rail for goods, every corridor.</a:t>
            </a:r>
          </a:p>
        </p:txBody>
      </p:sp>
      <p:sp>
        <p:nvSpPr>
          <p:cNvPr id="132" name="Rectangle 131"/>
          <p:cNvSpPr/>
          <p:nvPr/>
        </p:nvSpPr>
        <p:spPr>
          <a:xfrm>
            <a:off x="914400" y="7626096"/>
            <a:ext cx="16459200" cy="18288"/>
          </a:xfrm>
          <a:prstGeom prst="rect">
            <a:avLst/>
          </a:prstGeom>
          <a:solidFill>
            <a:srgbClr val="DFDDD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3" name="TextBox 132"/>
          <p:cNvSpPr txBox="1"/>
          <p:nvPr/>
        </p:nvSpPr>
        <p:spPr>
          <a:xfrm>
            <a:off x="914400" y="7726679"/>
            <a:ext cx="16459200" cy="1097280"/>
          </a:xfrm>
          <a:prstGeom prst="rect">
            <a:avLst/>
          </a:prstGeom>
          <a:noFill/>
        </p:spPr>
        <p:txBody>
          <a:bodyPr wrap="square" lIns="0" rIns="0" tIns="0" bIns="0" anchor="t">
            <a:spAutoFit/>
          </a:bodyPr>
          <a:lstStyle/>
          <a:p>
            <a:pPr algn="l">
              <a:lnSpc>
                <a:spcPct val="112000"/>
              </a:lnSpc>
              <a:spcAft>
                <a:spcPts val="600"/>
              </a:spcAft>
            </a:pPr>
            <a:r>
              <a:rPr sz="1800" b="1">
                <a:solidFill>
                  <a:srgbClr val="556F00"/>
                </a:solidFill>
                <a:latin typeface="JetBrains Mono"/>
              </a:rPr>
              <a:t>Live page  </a:t>
            </a:r>
            <a:r>
              <a:rPr sz="1800" b="0">
                <a:solidFill>
                  <a:srgbClr val="0E0F11"/>
                </a:solidFill>
                <a:latin typeface="JetBrains Mono"/>
              </a:rPr>
              <a:t>rio-miami-rail.vercel.app</a:t>
            </a:r>
            <a:r>
              <a:rPr sz="1800" b="1">
                <a:solidFill>
                  <a:srgbClr val="556F00"/>
                </a:solidFill>
                <a:latin typeface="JetBrains Mono"/>
              </a:rPr>
              <a:t>     Code  </a:t>
            </a:r>
            <a:r>
              <a:rPr sz="1800" b="0">
                <a:solidFill>
                  <a:srgbClr val="0E0F11"/>
                </a:solidFill>
                <a:latin typeface="JetBrains Mono"/>
              </a:rPr>
              <a:t>github.com/pwsaragossy/rio-miami-rail (Apache-2.0)</a:t>
            </a:r>
          </a:p>
          <a:p>
            <a:pPr algn="l">
              <a:lnSpc>
                <a:spcPct val="112000"/>
              </a:lnSpc>
              <a:spcAft>
                <a:spcPts val="600"/>
              </a:spcAft>
            </a:pPr>
            <a:r>
              <a:rPr sz="1800" b="1">
                <a:solidFill>
                  <a:srgbClr val="556F00"/>
                </a:solidFill>
                <a:latin typeface="JetBrains Mono"/>
              </a:rPr>
              <a:t>AI  </a:t>
            </a:r>
            <a:r>
              <a:rPr sz="1800" b="0">
                <a:solidFill>
                  <a:srgbClr val="0E0F11"/>
                </a:solidFill>
                <a:latin typeface="Instrument Sans"/>
              </a:rPr>
              <a:t>Code, page, docs and deck made with AI coding agents (Claude Code). Narration: an AI voice from Pedro's voice. No AI-generated images in this deck.</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